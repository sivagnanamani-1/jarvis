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2" r:id="rId6"/>
    <p:sldId id="260" r:id="rId7"/>
    <p:sldId id="264" r:id="rId8"/>
    <p:sldId id="268" r:id="rId9"/>
    <p:sldId id="269" r:id="rId10"/>
    <p:sldId id="261" r:id="rId11"/>
    <p:sldId id="265" r:id="rId12"/>
    <p:sldId id="266" r:id="rId13"/>
    <p:sldId id="267"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3" r:id="rId37"/>
    <p:sldId id="292" r:id="rId38"/>
    <p:sldId id="294" r:id="rId39"/>
    <p:sldId id="295" r:id="rId40"/>
    <p:sldId id="296" r:id="rId41"/>
    <p:sldId id="297" r:id="rId42"/>
    <p:sldId id="298" r:id="rId43"/>
    <p:sldId id="299" r:id="rId44"/>
    <p:sldId id="300" r:id="rId45"/>
    <p:sldId id="301" r:id="rId46"/>
    <p:sldId id="302" r:id="rId47"/>
    <p:sldId id="322" r:id="rId48"/>
    <p:sldId id="323" r:id="rId49"/>
    <p:sldId id="324" r:id="rId50"/>
    <p:sldId id="325" r:id="rId51"/>
    <p:sldId id="346" r:id="rId52"/>
    <p:sldId id="347"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8" r:id="rId73"/>
    <p:sldId id="329" r:id="rId74"/>
    <p:sldId id="330" r:id="rId75"/>
    <p:sldId id="331" r:id="rId76"/>
    <p:sldId id="332" r:id="rId77"/>
    <p:sldId id="333" r:id="rId78"/>
    <p:sldId id="334" r:id="rId79"/>
    <p:sldId id="335" r:id="rId80"/>
    <p:sldId id="336" r:id="rId81"/>
    <p:sldId id="326" r:id="rId82"/>
    <p:sldId id="327" r:id="rId83"/>
    <p:sldId id="337" r:id="rId84"/>
    <p:sldId id="338" r:id="rId85"/>
    <p:sldId id="339" r:id="rId86"/>
    <p:sldId id="340" r:id="rId87"/>
    <p:sldId id="341" r:id="rId88"/>
    <p:sldId id="342" r:id="rId89"/>
    <p:sldId id="343" r:id="rId90"/>
    <p:sldId id="344" r:id="rId91"/>
    <p:sldId id="345" r:id="rId9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11-Jul-26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11-Jul-26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11-Jul-26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11-Jul-26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11-Jul-26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11-Jul-26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11-Jul-26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11-Jul-26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11-Jul-26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11-Jul-26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11-Jul-26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11-Jul-26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11-Jul-26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11-Jul-26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11-Jul-26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11-Jul-26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11-Jul-26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hyperlink" Target="https://www.geeksforgeeks.org/mongodb-an-introduction/" TargetMode="External"/><Relationship Id="rId2" Type="http://schemas.openxmlformats.org/officeDocument/2006/relationships/hyperlink" Target="https://www.geeksforgeeks.org/introduction-to-apache-cassandra/?ref=gcse" TargetMode="Externa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31065" y="1258314"/>
            <a:ext cx="10225825" cy="1646302"/>
          </a:xfrm>
        </p:spPr>
        <p:txBody>
          <a:bodyPr/>
          <a:lstStyle/>
          <a:p>
            <a:pPr algn="ctr"/>
            <a:r>
              <a:rPr lang="en-US" b="1" dirty="0" smtClean="0"/>
              <a:t>22CS702 DATA ANALYTICS</a:t>
            </a:r>
            <a:br>
              <a:rPr lang="en-US" b="1" dirty="0" smtClean="0"/>
            </a:br>
            <a:r>
              <a:rPr lang="en-US" b="1" dirty="0" smtClean="0"/>
              <a:t> (LAB INTEGRATED)</a:t>
            </a:r>
            <a:endParaRPr lang="en-US" b="1" dirty="0"/>
          </a:p>
        </p:txBody>
      </p:sp>
      <p:sp>
        <p:nvSpPr>
          <p:cNvPr id="3" name="Subtitle 2"/>
          <p:cNvSpPr>
            <a:spLocks noGrp="1"/>
          </p:cNvSpPr>
          <p:nvPr>
            <p:ph type="subTitle" idx="1"/>
          </p:nvPr>
        </p:nvSpPr>
        <p:spPr>
          <a:xfrm>
            <a:off x="1507067" y="4050833"/>
            <a:ext cx="8512696" cy="1096899"/>
          </a:xfrm>
        </p:spPr>
        <p:txBody>
          <a:bodyPr>
            <a:normAutofit fontScale="62500" lnSpcReduction="20000"/>
          </a:bodyPr>
          <a:lstStyle/>
          <a:p>
            <a:r>
              <a:rPr lang="en-US" b="1" dirty="0" smtClean="0"/>
              <a:t>D.M.KALAI SELVI</a:t>
            </a:r>
          </a:p>
          <a:p>
            <a:r>
              <a:rPr lang="en-US" b="1" dirty="0" smtClean="0"/>
              <a:t>ASSISTANT PROFESSOR </a:t>
            </a:r>
          </a:p>
          <a:p>
            <a:r>
              <a:rPr lang="en-US" b="1" dirty="0" smtClean="0"/>
              <a:t>CSE DEPARTMENT</a:t>
            </a:r>
          </a:p>
          <a:p>
            <a:r>
              <a:rPr lang="en-US" b="1" dirty="0" smtClean="0"/>
              <a:t>R.M.D ENGINEERNG COLLEGE</a:t>
            </a:r>
            <a:endParaRPr lang="en-US" b="1" dirty="0"/>
          </a:p>
        </p:txBody>
      </p:sp>
    </p:spTree>
    <p:extLst>
      <p:ext uri="{BB962C8B-B14F-4D97-AF65-F5344CB8AC3E}">
        <p14:creationId xmlns:p14="http://schemas.microsoft.com/office/powerpoint/2010/main" val="31888582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SYLLABUS</a:t>
            </a:r>
            <a:endParaRPr lang="en-US" dirty="0"/>
          </a:p>
        </p:txBody>
      </p:sp>
      <p:sp>
        <p:nvSpPr>
          <p:cNvPr id="3" name="Content Placeholder 2"/>
          <p:cNvSpPr>
            <a:spLocks noGrp="1"/>
          </p:cNvSpPr>
          <p:nvPr>
            <p:ph idx="1"/>
          </p:nvPr>
        </p:nvSpPr>
        <p:spPr>
          <a:xfrm>
            <a:off x="677334" y="1403797"/>
            <a:ext cx="9200762" cy="4637565"/>
          </a:xfrm>
        </p:spPr>
        <p:txBody>
          <a:bodyPr>
            <a:normAutofit/>
          </a:bodyPr>
          <a:lstStyle/>
          <a:p>
            <a:pPr marL="0" indent="0" algn="just">
              <a:lnSpc>
                <a:spcPct val="150000"/>
              </a:lnSpc>
              <a:buNone/>
            </a:pPr>
            <a:r>
              <a:rPr lang="en-US" b="1" dirty="0"/>
              <a:t>UNIT I INTRODUCTION </a:t>
            </a:r>
          </a:p>
          <a:p>
            <a:pPr marL="0" indent="0" algn="just">
              <a:lnSpc>
                <a:spcPct val="150000"/>
              </a:lnSpc>
              <a:buNone/>
            </a:pPr>
            <a:r>
              <a:rPr lang="en-US" dirty="0"/>
              <a:t>Evolution of Big Data-Definition of Big Data-Challenges with Big Data- </a:t>
            </a:r>
            <a:r>
              <a:rPr lang="en-US" dirty="0" smtClean="0"/>
              <a:t>Traditional Business </a:t>
            </a:r>
            <a:r>
              <a:rPr lang="en-US" dirty="0"/>
              <a:t>Intelligence (BI) versus Big Data-Introduction to </a:t>
            </a:r>
            <a:r>
              <a:rPr lang="en-US" dirty="0" smtClean="0"/>
              <a:t>Big </a:t>
            </a:r>
            <a:r>
              <a:rPr lang="en-US" dirty="0"/>
              <a:t>data </a:t>
            </a:r>
            <a:r>
              <a:rPr lang="en-US" dirty="0" smtClean="0"/>
              <a:t>analytics-Classification </a:t>
            </a:r>
            <a:r>
              <a:rPr lang="en-US" dirty="0"/>
              <a:t>of Analytics-Analytics </a:t>
            </a:r>
            <a:r>
              <a:rPr lang="en-US" dirty="0" smtClean="0"/>
              <a:t>Tools- </a:t>
            </a:r>
            <a:r>
              <a:rPr lang="en-US" dirty="0"/>
              <a:t>Importance of </a:t>
            </a:r>
            <a:r>
              <a:rPr lang="en-US" dirty="0" smtClean="0"/>
              <a:t>Big </a:t>
            </a:r>
            <a:r>
              <a:rPr lang="en-US" dirty="0"/>
              <a:t>data analytics</a:t>
            </a:r>
            <a:r>
              <a:rPr lang="en-US" dirty="0" smtClean="0"/>
              <a:t>.</a:t>
            </a:r>
          </a:p>
          <a:p>
            <a:pPr marL="0" indent="0" algn="just">
              <a:lnSpc>
                <a:spcPct val="150000"/>
              </a:lnSpc>
              <a:buNone/>
            </a:pPr>
            <a:r>
              <a:rPr lang="en-US" b="1" dirty="0"/>
              <a:t>UNIT II HADOOP FRAMEWORK </a:t>
            </a:r>
          </a:p>
          <a:p>
            <a:pPr marL="0" indent="0" algn="just">
              <a:lnSpc>
                <a:spcPct val="150000"/>
              </a:lnSpc>
              <a:buNone/>
            </a:pPr>
            <a:r>
              <a:rPr lang="en-US" dirty="0"/>
              <a:t>Introducing Hadoop- RDBMS versus Hadoop- Hadoop Overview-HDFS (</a:t>
            </a:r>
            <a:r>
              <a:rPr lang="en-US" dirty="0" smtClean="0"/>
              <a:t>Hadoop Distributed </a:t>
            </a:r>
            <a:r>
              <a:rPr lang="en-US" dirty="0"/>
              <a:t>File System)- Processing Data with Hadoop- Managing Resources </a:t>
            </a:r>
            <a:r>
              <a:rPr lang="en-US" dirty="0" smtClean="0"/>
              <a:t>and Applications </a:t>
            </a:r>
            <a:r>
              <a:rPr lang="en-US" dirty="0"/>
              <a:t>with Hadoop YARN - Interacting with Hadoop Ecosystem.</a:t>
            </a:r>
          </a:p>
        </p:txBody>
      </p:sp>
    </p:spTree>
    <p:extLst>
      <p:ext uri="{BB962C8B-B14F-4D97-AF65-F5344CB8AC3E}">
        <p14:creationId xmlns:p14="http://schemas.microsoft.com/office/powerpoint/2010/main" val="20796893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2482" y="138606"/>
            <a:ext cx="9213641" cy="6403862"/>
          </a:xfrm>
        </p:spPr>
        <p:txBody>
          <a:bodyPr>
            <a:normAutofit lnSpcReduction="10000"/>
          </a:bodyPr>
          <a:lstStyle/>
          <a:p>
            <a:pPr marL="0" indent="0" algn="just">
              <a:lnSpc>
                <a:spcPct val="150000"/>
              </a:lnSpc>
              <a:buNone/>
            </a:pPr>
            <a:r>
              <a:rPr lang="en-US" b="1" dirty="0"/>
              <a:t>UNIT </a:t>
            </a:r>
            <a:r>
              <a:rPr lang="en-US" b="1" dirty="0" smtClean="0"/>
              <a:t>III - EXPLORATORY </a:t>
            </a:r>
            <a:r>
              <a:rPr lang="en-US" b="1" dirty="0"/>
              <a:t>DATA ANALYSIS</a:t>
            </a:r>
          </a:p>
          <a:p>
            <a:pPr marL="0" indent="0" algn="just">
              <a:lnSpc>
                <a:spcPct val="150000"/>
              </a:lnSpc>
              <a:buNone/>
            </a:pPr>
            <a:r>
              <a:rPr lang="en-US" dirty="0" smtClean="0"/>
              <a:t>EDA </a:t>
            </a:r>
            <a:r>
              <a:rPr lang="en-US" dirty="0"/>
              <a:t>fundamentals - Understanding data science - Significance of EDA - Making sense of data - Comparing EDA with classical and Bayesian analysis - Software tools for EDA -Data transformation techniques - Introduction to NoSQL - MongoDB: RDBMS Vs MongoDB - Data Types - Query Language - Hive - Hive Architecture - Data Types - File Formats - Hive Query Language (HQL) - RC File Implementation - User Defined Functions</a:t>
            </a:r>
            <a:r>
              <a:rPr lang="en-US" dirty="0" smtClean="0"/>
              <a:t>.</a:t>
            </a:r>
          </a:p>
          <a:p>
            <a:pPr marL="0" indent="0" algn="just">
              <a:lnSpc>
                <a:spcPct val="150000"/>
              </a:lnSpc>
              <a:buNone/>
            </a:pPr>
            <a:r>
              <a:rPr lang="en-US" b="1" dirty="0"/>
              <a:t>UNIT </a:t>
            </a:r>
            <a:r>
              <a:rPr lang="en-US" b="1" dirty="0" smtClean="0"/>
              <a:t>IV MINING </a:t>
            </a:r>
            <a:r>
              <a:rPr lang="en-US" b="1" dirty="0"/>
              <a:t>DATA STREAMS</a:t>
            </a:r>
          </a:p>
          <a:p>
            <a:pPr marL="0" indent="0" algn="just">
              <a:lnSpc>
                <a:spcPct val="150000"/>
              </a:lnSpc>
              <a:buNone/>
            </a:pPr>
            <a:r>
              <a:rPr lang="en-US" dirty="0" smtClean="0"/>
              <a:t>The </a:t>
            </a:r>
            <a:r>
              <a:rPr lang="en-US" dirty="0"/>
              <a:t>data stream model - stream queries-sampling data in a stream-general streaming problem filtering streams-analysis of filtering- dealing with infinite streams- Counting Distance Elements in a Stream - Estimating Moments - Counting Ones in Window - Decaying Windows</a:t>
            </a:r>
            <a:r>
              <a:rPr lang="en-US" dirty="0" smtClean="0"/>
              <a:t>.</a:t>
            </a:r>
          </a:p>
          <a:p>
            <a:pPr marL="0" indent="0" algn="just">
              <a:lnSpc>
                <a:spcPct val="150000"/>
              </a:lnSpc>
              <a:buNone/>
            </a:pPr>
            <a:r>
              <a:rPr lang="en-US" b="1" dirty="0" smtClean="0"/>
              <a:t>UNIT V APPLICATIONS</a:t>
            </a:r>
            <a:endParaRPr lang="en-US" dirty="0"/>
          </a:p>
          <a:p>
            <a:pPr marL="0" indent="0" algn="just">
              <a:lnSpc>
                <a:spcPct val="150000"/>
              </a:lnSpc>
              <a:buNone/>
            </a:pPr>
            <a:r>
              <a:rPr lang="en-US" dirty="0"/>
              <a:t>Application: Sales and Marketing - Industry Specific Data Mining - microRNA Data Analysis Case Study - Credit Scoring Case Study - Data Mining Non tabular Data.</a:t>
            </a:r>
            <a:endParaRPr lang="en-US" dirty="0" smtClean="0"/>
          </a:p>
          <a:p>
            <a:pPr marL="0" indent="0" algn="just">
              <a:lnSpc>
                <a:spcPct val="150000"/>
              </a:lnSpc>
              <a:buNone/>
            </a:pPr>
            <a:endParaRPr lang="en-US" dirty="0"/>
          </a:p>
        </p:txBody>
      </p:sp>
    </p:spTree>
    <p:extLst>
      <p:ext uri="{BB962C8B-B14F-4D97-AF65-F5344CB8AC3E}">
        <p14:creationId xmlns:p14="http://schemas.microsoft.com/office/powerpoint/2010/main" val="2226611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APTITUDE – QUESTIONS 1</a:t>
            </a:r>
            <a:endParaRPr lang="en-US" dirty="0"/>
          </a:p>
        </p:txBody>
      </p:sp>
      <p:sp>
        <p:nvSpPr>
          <p:cNvPr id="3" name="Content Placeholder 2"/>
          <p:cNvSpPr>
            <a:spLocks noGrp="1"/>
          </p:cNvSpPr>
          <p:nvPr>
            <p:ph idx="1"/>
          </p:nvPr>
        </p:nvSpPr>
        <p:spPr>
          <a:xfrm>
            <a:off x="973548" y="2977227"/>
            <a:ext cx="8596668" cy="3880773"/>
          </a:xfrm>
        </p:spPr>
        <p:txBody>
          <a:bodyPr/>
          <a:lstStyle/>
          <a:p>
            <a:pPr marL="0" indent="0" algn="ctr">
              <a:buNone/>
            </a:pPr>
            <a:r>
              <a:rPr lang="en-US" b="1" dirty="0" smtClean="0"/>
              <a:t>QUESTION: HOW MANY ODD NUMBERS OF 3 DIGIT ARE THERE WHICH HAVE ALL 3 DIGITS DISTINCT</a:t>
            </a:r>
          </a:p>
          <a:p>
            <a:pPr marL="0" indent="0" algn="ctr">
              <a:buNone/>
            </a:pPr>
            <a:endParaRPr lang="en-US" b="1" dirty="0"/>
          </a:p>
        </p:txBody>
      </p:sp>
    </p:spTree>
    <p:extLst>
      <p:ext uri="{BB962C8B-B14F-4D97-AF65-F5344CB8AC3E}">
        <p14:creationId xmlns:p14="http://schemas.microsoft.com/office/powerpoint/2010/main" val="1127193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APTITUDE – QUESTIONS 1</a:t>
            </a:r>
            <a:endParaRPr lang="en-US" dirty="0"/>
          </a:p>
        </p:txBody>
      </p:sp>
      <p:sp>
        <p:nvSpPr>
          <p:cNvPr id="3" name="Content Placeholder 2"/>
          <p:cNvSpPr>
            <a:spLocks noGrp="1"/>
          </p:cNvSpPr>
          <p:nvPr>
            <p:ph idx="1"/>
          </p:nvPr>
        </p:nvSpPr>
        <p:spPr>
          <a:xfrm>
            <a:off x="806123" y="1542403"/>
            <a:ext cx="8596668" cy="3880773"/>
          </a:xfrm>
        </p:spPr>
        <p:txBody>
          <a:bodyPr/>
          <a:lstStyle/>
          <a:p>
            <a:pPr marL="0" indent="0">
              <a:buNone/>
            </a:pPr>
            <a:r>
              <a:rPr lang="en-US" b="1" dirty="0" smtClean="0"/>
              <a:t>QUESTION: HOW MANY ODD NUMBERS OF 3 DIGIT ARE THERE WHICH HAVE ALL 3 DIGITS DISTINCT</a:t>
            </a:r>
          </a:p>
          <a:p>
            <a:pPr marL="0" indent="0">
              <a:buNone/>
            </a:pPr>
            <a:endParaRPr lang="en-US" b="1" dirty="0"/>
          </a:p>
          <a:p>
            <a:pPr marL="0" indent="0">
              <a:buNone/>
            </a:pPr>
            <a:r>
              <a:rPr lang="en-US" b="1" dirty="0" smtClean="0"/>
              <a:t>Step </a:t>
            </a:r>
            <a:r>
              <a:rPr lang="en-US" b="1" dirty="0"/>
              <a:t>1:</a:t>
            </a:r>
            <a:r>
              <a:rPr lang="en-US" dirty="0"/>
              <a:t> Choose the units digit (must be odd).</a:t>
            </a:r>
            <a:br>
              <a:rPr lang="en-US" dirty="0"/>
            </a:br>
            <a:r>
              <a:rPr lang="en-US" dirty="0"/>
              <a:t>There are </a:t>
            </a:r>
            <a:r>
              <a:rPr lang="en-US" b="1" dirty="0"/>
              <a:t>5 choices</a:t>
            </a:r>
            <a:r>
              <a:rPr lang="en-US" dirty="0"/>
              <a:t>: 1,3,5,7,91, 3, 5, 7, 91,3,5,7,9.</a:t>
            </a:r>
          </a:p>
          <a:p>
            <a:pPr marL="0" indent="0">
              <a:buNone/>
            </a:pPr>
            <a:r>
              <a:rPr lang="en-US" b="1" dirty="0"/>
              <a:t>Step 2:</a:t>
            </a:r>
            <a:r>
              <a:rPr lang="en-US" dirty="0"/>
              <a:t> Choose the hundreds digit.</a:t>
            </a:r>
            <a:br>
              <a:rPr lang="en-US" dirty="0"/>
            </a:br>
            <a:r>
              <a:rPr lang="en-US" dirty="0"/>
              <a:t>It cannot be </a:t>
            </a:r>
            <a:r>
              <a:rPr lang="en-US" b="1" dirty="0"/>
              <a:t>0</a:t>
            </a:r>
            <a:r>
              <a:rPr lang="en-US" dirty="0"/>
              <a:t> and must be different from the units digit, so there are </a:t>
            </a:r>
            <a:r>
              <a:rPr lang="en-US" b="1" dirty="0"/>
              <a:t>8 choices</a:t>
            </a:r>
            <a:r>
              <a:rPr lang="en-US" dirty="0"/>
              <a:t>.</a:t>
            </a:r>
          </a:p>
          <a:p>
            <a:pPr marL="0" indent="0">
              <a:buNone/>
            </a:pPr>
            <a:r>
              <a:rPr lang="en-US" b="1" dirty="0"/>
              <a:t>Step 3:</a:t>
            </a:r>
            <a:r>
              <a:rPr lang="en-US" dirty="0"/>
              <a:t> Choose the tens digit.</a:t>
            </a:r>
            <a:br>
              <a:rPr lang="en-US" dirty="0"/>
            </a:br>
            <a:r>
              <a:rPr lang="en-US" dirty="0"/>
              <a:t>It can be any digit except the two already chosen, so there are </a:t>
            </a:r>
            <a:r>
              <a:rPr lang="en-US" b="1" dirty="0"/>
              <a:t>8 </a:t>
            </a:r>
            <a:r>
              <a:rPr lang="en-US" b="1" dirty="0" smtClean="0"/>
              <a:t>choices</a:t>
            </a:r>
            <a:r>
              <a:rPr lang="en-US" dirty="0" smtClean="0"/>
              <a:t>.</a:t>
            </a:r>
          </a:p>
          <a:p>
            <a:pPr marL="0" indent="0">
              <a:buNone/>
            </a:pPr>
            <a:r>
              <a:rPr lang="en-US" b="1" dirty="0" smtClean="0"/>
              <a:t>Total=5×8×8=320</a:t>
            </a:r>
            <a:endParaRPr lang="en-US" b="1" dirty="0"/>
          </a:p>
        </p:txBody>
      </p:sp>
    </p:spTree>
    <p:extLst>
      <p:ext uri="{BB962C8B-B14F-4D97-AF65-F5344CB8AC3E}">
        <p14:creationId xmlns:p14="http://schemas.microsoft.com/office/powerpoint/2010/main" val="14508346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APTITUDE QUESTION -2 </a:t>
            </a:r>
            <a:endParaRPr lang="en-US" dirty="0"/>
          </a:p>
        </p:txBody>
      </p:sp>
      <p:sp>
        <p:nvSpPr>
          <p:cNvPr id="3" name="Content Placeholder 2"/>
          <p:cNvSpPr>
            <a:spLocks noGrp="1"/>
          </p:cNvSpPr>
          <p:nvPr>
            <p:ph idx="1"/>
          </p:nvPr>
        </p:nvSpPr>
        <p:spPr>
          <a:xfrm>
            <a:off x="1102337" y="2575774"/>
            <a:ext cx="8596668" cy="4663323"/>
          </a:xfrm>
        </p:spPr>
        <p:txBody>
          <a:bodyPr>
            <a:normAutofit/>
          </a:bodyPr>
          <a:lstStyle/>
          <a:p>
            <a:pPr marL="0" indent="0">
              <a:buNone/>
            </a:pPr>
            <a:r>
              <a:rPr lang="en-US" b="1" dirty="0"/>
              <a:t>How many 2-digit even numbers can be formed such that both digits are distinct</a:t>
            </a:r>
            <a:r>
              <a:rPr lang="en-US" b="1" dirty="0" smtClean="0"/>
              <a:t>?</a:t>
            </a:r>
            <a:endParaRPr lang="en-US" dirty="0"/>
          </a:p>
        </p:txBody>
      </p:sp>
    </p:spTree>
    <p:extLst>
      <p:ext uri="{BB962C8B-B14F-4D97-AF65-F5344CB8AC3E}">
        <p14:creationId xmlns:p14="http://schemas.microsoft.com/office/powerpoint/2010/main" val="5400346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APTITUDE QUESTION -2 </a:t>
            </a:r>
            <a:endParaRPr lang="en-US" dirty="0"/>
          </a:p>
        </p:txBody>
      </p:sp>
      <p:sp>
        <p:nvSpPr>
          <p:cNvPr id="3" name="Content Placeholder 2"/>
          <p:cNvSpPr>
            <a:spLocks noGrp="1"/>
          </p:cNvSpPr>
          <p:nvPr>
            <p:ph idx="1"/>
          </p:nvPr>
        </p:nvSpPr>
        <p:spPr>
          <a:xfrm>
            <a:off x="677334" y="1378039"/>
            <a:ext cx="8596668" cy="4663323"/>
          </a:xfrm>
        </p:spPr>
        <p:txBody>
          <a:bodyPr>
            <a:normAutofit/>
          </a:bodyPr>
          <a:lstStyle/>
          <a:p>
            <a:pPr marL="0" indent="0">
              <a:buNone/>
            </a:pPr>
            <a:r>
              <a:rPr lang="en-US" b="1" dirty="0"/>
              <a:t>How many 2-digit even numbers can be formed such that both digits are distinct?</a:t>
            </a:r>
            <a:endParaRPr lang="en-US" dirty="0"/>
          </a:p>
          <a:p>
            <a:pPr marL="0" indent="0">
              <a:buNone/>
            </a:pPr>
            <a:r>
              <a:rPr lang="en-US" b="1" dirty="0"/>
              <a:t>Solution in 3 Steps</a:t>
            </a:r>
          </a:p>
          <a:p>
            <a:pPr marL="0" indent="0">
              <a:buNone/>
            </a:pPr>
            <a:r>
              <a:rPr lang="en-US" b="1" dirty="0"/>
              <a:t>Step 1:</a:t>
            </a:r>
            <a:r>
              <a:rPr lang="en-US" dirty="0"/>
              <a:t> Choose the units digit (must be even).</a:t>
            </a:r>
            <a:br>
              <a:rPr lang="en-US" dirty="0"/>
            </a:br>
            <a:r>
              <a:rPr lang="en-US" dirty="0"/>
              <a:t>Possible digits: </a:t>
            </a:r>
            <a:r>
              <a:rPr lang="en-US" b="1" dirty="0"/>
              <a:t>0, 2, 4, 6, 8</a:t>
            </a:r>
            <a:r>
              <a:rPr lang="en-US" dirty="0"/>
              <a:t> → </a:t>
            </a:r>
            <a:r>
              <a:rPr lang="en-US" b="1" dirty="0"/>
              <a:t>5 choices</a:t>
            </a:r>
            <a:r>
              <a:rPr lang="en-US" dirty="0"/>
              <a:t>.</a:t>
            </a:r>
          </a:p>
          <a:p>
            <a:pPr marL="0" indent="0">
              <a:buNone/>
            </a:pPr>
            <a:r>
              <a:rPr lang="en-US" b="1" dirty="0"/>
              <a:t>Step 2:</a:t>
            </a:r>
            <a:r>
              <a:rPr lang="en-US" dirty="0"/>
              <a:t> Choose the tens digit.</a:t>
            </a:r>
          </a:p>
          <a:p>
            <a:pPr marL="0" indent="0">
              <a:buNone/>
            </a:pPr>
            <a:r>
              <a:rPr lang="en-US" dirty="0"/>
              <a:t>If the units digit is </a:t>
            </a:r>
            <a:r>
              <a:rPr lang="en-US" b="1" dirty="0"/>
              <a:t>0</a:t>
            </a:r>
            <a:r>
              <a:rPr lang="en-US" dirty="0"/>
              <a:t>: </a:t>
            </a:r>
            <a:r>
              <a:rPr lang="en-US" b="1" dirty="0"/>
              <a:t>9 choices</a:t>
            </a:r>
            <a:r>
              <a:rPr lang="en-US" dirty="0"/>
              <a:t> (1–9). </a:t>
            </a:r>
          </a:p>
          <a:p>
            <a:pPr marL="0" indent="0">
              <a:buNone/>
            </a:pPr>
            <a:r>
              <a:rPr lang="en-US" dirty="0"/>
              <a:t>If the units digit is </a:t>
            </a:r>
            <a:r>
              <a:rPr lang="en-US" b="1" dirty="0"/>
              <a:t>2, 4, 6, or 8</a:t>
            </a:r>
            <a:r>
              <a:rPr lang="en-US" dirty="0"/>
              <a:t>: </a:t>
            </a:r>
            <a:r>
              <a:rPr lang="en-US" b="1" dirty="0"/>
              <a:t>8 choices</a:t>
            </a:r>
            <a:r>
              <a:rPr lang="en-US" dirty="0"/>
              <a:t> each. </a:t>
            </a:r>
          </a:p>
          <a:p>
            <a:pPr marL="0" indent="0">
              <a:buNone/>
            </a:pPr>
            <a:r>
              <a:rPr lang="en-US" b="1" dirty="0"/>
              <a:t>Step 3:</a:t>
            </a:r>
            <a:r>
              <a:rPr lang="en-US" dirty="0"/>
              <a:t> Calculate the total.</a:t>
            </a:r>
          </a:p>
          <a:p>
            <a:pPr marL="0" indent="0">
              <a:buNone/>
            </a:pPr>
            <a:r>
              <a:rPr lang="en-US" dirty="0" smtClean="0"/>
              <a:t>(1×9</a:t>
            </a:r>
            <a:r>
              <a:rPr lang="en-US" dirty="0"/>
              <a:t>)+(4×8)=9+32=41​</a:t>
            </a:r>
          </a:p>
        </p:txBody>
      </p:sp>
    </p:spTree>
    <p:extLst>
      <p:ext uri="{BB962C8B-B14F-4D97-AF65-F5344CB8AC3E}">
        <p14:creationId xmlns:p14="http://schemas.microsoft.com/office/powerpoint/2010/main" val="23982869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APTITUDE QUESTION 3</a:t>
            </a:r>
            <a:endParaRPr lang="en-US" dirty="0"/>
          </a:p>
        </p:txBody>
      </p:sp>
      <p:sp>
        <p:nvSpPr>
          <p:cNvPr id="3" name="Content Placeholder 2"/>
          <p:cNvSpPr>
            <a:spLocks noGrp="1"/>
          </p:cNvSpPr>
          <p:nvPr>
            <p:ph idx="1"/>
          </p:nvPr>
        </p:nvSpPr>
        <p:spPr>
          <a:xfrm>
            <a:off x="1669007" y="1930400"/>
            <a:ext cx="8596668" cy="3880773"/>
          </a:xfrm>
        </p:spPr>
        <p:txBody>
          <a:bodyPr>
            <a:normAutofit/>
          </a:bodyPr>
          <a:lstStyle/>
          <a:p>
            <a:pPr marL="0" indent="0">
              <a:buNone/>
            </a:pPr>
            <a:r>
              <a:rPr lang="en-US" b="1" dirty="0" smtClean="0"/>
              <a:t>Question</a:t>
            </a:r>
            <a:r>
              <a:rPr lang="en-US" b="1" dirty="0"/>
              <a:t>:</a:t>
            </a:r>
            <a:br>
              <a:rPr lang="en-US" b="1" dirty="0"/>
            </a:br>
            <a:r>
              <a:rPr lang="en-US" dirty="0"/>
              <a:t>Find the remainder when </a:t>
            </a:r>
            <a:r>
              <a:rPr lang="en-US" dirty="0" smtClean="0"/>
              <a:t>3</a:t>
            </a:r>
            <a:r>
              <a:rPr lang="en-US" baseline="30000" dirty="0" smtClean="0"/>
              <a:t>20</a:t>
            </a:r>
            <a:r>
              <a:rPr lang="en-US" dirty="0" smtClean="0"/>
              <a:t> </a:t>
            </a:r>
            <a:r>
              <a:rPr lang="en-US" dirty="0"/>
              <a:t>is divided by 7.</a:t>
            </a:r>
            <a:br>
              <a:rPr lang="en-US" dirty="0"/>
            </a:br>
            <a:r>
              <a:rPr lang="en-US" dirty="0"/>
              <a:t/>
            </a:r>
            <a:br>
              <a:rPr lang="en-US" dirty="0"/>
            </a:br>
            <a:endParaRPr lang="en-US" dirty="0"/>
          </a:p>
        </p:txBody>
      </p:sp>
    </p:spTree>
    <p:extLst>
      <p:ext uri="{BB962C8B-B14F-4D97-AF65-F5344CB8AC3E}">
        <p14:creationId xmlns:p14="http://schemas.microsoft.com/office/powerpoint/2010/main" val="1140796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206062"/>
            <a:ext cx="8596668" cy="6651937"/>
          </a:xfrm>
        </p:spPr>
        <p:txBody>
          <a:bodyPr>
            <a:normAutofit fontScale="85000" lnSpcReduction="20000"/>
          </a:bodyPr>
          <a:lstStyle/>
          <a:p>
            <a:pPr marL="0" indent="0">
              <a:buNone/>
            </a:pPr>
            <a:r>
              <a:rPr lang="en-US" b="1" dirty="0"/>
              <a:t>Step 1: Check Whether Fermat's Theorem Can Be Applied</a:t>
            </a:r>
          </a:p>
          <a:p>
            <a:pPr marL="0" indent="0">
              <a:buNone/>
            </a:pPr>
            <a:r>
              <a:rPr lang="en-US" dirty="0" smtClean="0"/>
              <a:t>Base = 3</a:t>
            </a:r>
            <a:br>
              <a:rPr lang="en-US" dirty="0" smtClean="0"/>
            </a:br>
            <a:r>
              <a:rPr lang="en-US" dirty="0" smtClean="0"/>
              <a:t>Divisor = 7</a:t>
            </a:r>
            <a:br>
              <a:rPr lang="en-US" dirty="0" smtClean="0"/>
            </a:br>
            <a:r>
              <a:rPr lang="en-US" dirty="0" smtClean="0"/>
              <a:t/>
            </a:r>
            <a:br>
              <a:rPr lang="en-US" dirty="0" smtClean="0"/>
            </a:br>
            <a:r>
              <a:rPr lang="en-US" dirty="0" smtClean="0"/>
              <a:t>Since 7 is a prime number and 3 is not divisible by 7, </a:t>
            </a:r>
            <a:r>
              <a:rPr lang="en-US" b="1" dirty="0" smtClean="0"/>
              <a:t>Fermat's Little Theorem </a:t>
            </a:r>
            <a:r>
              <a:rPr lang="en-US" dirty="0" smtClean="0"/>
              <a:t>applies.</a:t>
            </a:r>
            <a:br>
              <a:rPr lang="en-US" dirty="0" smtClean="0"/>
            </a:br>
            <a:r>
              <a:rPr lang="en-US" dirty="0" smtClean="0"/>
              <a:t/>
            </a:r>
            <a:br>
              <a:rPr lang="en-US" dirty="0" smtClean="0"/>
            </a:br>
            <a:r>
              <a:rPr lang="en-US" dirty="0" smtClean="0"/>
              <a:t>According to the theorem:</a:t>
            </a:r>
            <a:br>
              <a:rPr lang="en-US" dirty="0" smtClean="0"/>
            </a:br>
            <a:r>
              <a:rPr lang="en-US" dirty="0" smtClean="0"/>
              <a:t>a^(p−1) ≡ 1 (mod p)</a:t>
            </a:r>
            <a:br>
              <a:rPr lang="en-US" dirty="0" smtClean="0"/>
            </a:br>
            <a:r>
              <a:rPr lang="en-US" dirty="0" smtClean="0"/>
              <a:t/>
            </a:r>
            <a:br>
              <a:rPr lang="en-US" dirty="0" smtClean="0"/>
            </a:br>
            <a:r>
              <a:rPr lang="en-US" dirty="0" smtClean="0"/>
              <a:t>Therefore:</a:t>
            </a:r>
            <a:br>
              <a:rPr lang="en-US" dirty="0" smtClean="0"/>
            </a:br>
            <a:r>
              <a:rPr lang="en-US" dirty="0" smtClean="0"/>
              <a:t>3^(7−1) ≡ 1 (mod 7)</a:t>
            </a:r>
            <a:br>
              <a:rPr lang="en-US" dirty="0" smtClean="0"/>
            </a:br>
            <a:r>
              <a:rPr lang="en-US" dirty="0" smtClean="0"/>
              <a:t>3^6 ≡ 1 (mod 7)</a:t>
            </a:r>
          </a:p>
          <a:p>
            <a:pPr marL="0" indent="0">
              <a:buNone/>
            </a:pPr>
            <a:r>
              <a:rPr lang="en-US" b="1" dirty="0" smtClean="0"/>
              <a:t>Step </a:t>
            </a:r>
            <a:r>
              <a:rPr lang="en-US" b="1" dirty="0"/>
              <a:t>2: Rewrite the Exponent</a:t>
            </a:r>
          </a:p>
          <a:p>
            <a:pPr marL="0" indent="0">
              <a:buNone/>
            </a:pPr>
            <a:r>
              <a:rPr lang="en-US" dirty="0"/>
              <a:t>20 = 18 + 2</a:t>
            </a:r>
            <a:br>
              <a:rPr lang="en-US" dirty="0"/>
            </a:br>
            <a:r>
              <a:rPr lang="en-US" dirty="0"/>
              <a:t/>
            </a:r>
            <a:br>
              <a:rPr lang="en-US" dirty="0"/>
            </a:br>
            <a:r>
              <a:rPr lang="en-US" dirty="0"/>
              <a:t>Hence:</a:t>
            </a:r>
            <a:br>
              <a:rPr lang="en-US" dirty="0"/>
            </a:br>
            <a:r>
              <a:rPr lang="en-US" dirty="0"/>
              <a:t>3^20 = 3^18 × 3^2</a:t>
            </a:r>
            <a:br>
              <a:rPr lang="en-US" dirty="0"/>
            </a:br>
            <a:r>
              <a:rPr lang="en-US" dirty="0"/>
              <a:t>Since 3^18 = (3^6)^3,</a:t>
            </a:r>
            <a:br>
              <a:rPr lang="en-US" dirty="0"/>
            </a:br>
            <a:r>
              <a:rPr lang="en-US" dirty="0"/>
              <a:t>3^20 = (3^6)^3 × 3^2</a:t>
            </a:r>
          </a:p>
          <a:p>
            <a:pPr marL="0" indent="0">
              <a:buNone/>
            </a:pPr>
            <a:r>
              <a:rPr lang="en-US" b="1" dirty="0"/>
              <a:t>Step 3: Apply Fermat's Theorem</a:t>
            </a:r>
          </a:p>
          <a:p>
            <a:pPr marL="0" indent="0">
              <a:buNone/>
            </a:pPr>
            <a:r>
              <a:rPr lang="en-US" dirty="0"/>
              <a:t>Using 3^6 ≡ 1 (mod 7):</a:t>
            </a:r>
            <a:br>
              <a:rPr lang="en-US" dirty="0"/>
            </a:br>
            <a:r>
              <a:rPr lang="en-US" dirty="0"/>
              <a:t>3^20 ≡ 1^3 × 3^2 ≡ 3^2</a:t>
            </a:r>
            <a:br>
              <a:rPr lang="en-US" dirty="0"/>
            </a:br>
            <a:r>
              <a:rPr lang="en-US" dirty="0"/>
              <a:t>3^2 = 9</a:t>
            </a:r>
          </a:p>
          <a:p>
            <a:pPr marL="0" indent="0">
              <a:buNone/>
            </a:pPr>
            <a:r>
              <a:rPr lang="en-US" b="1" dirty="0"/>
              <a:t>Step 4: Find the Remainder</a:t>
            </a:r>
          </a:p>
          <a:p>
            <a:pPr marL="0" indent="0">
              <a:buNone/>
            </a:pPr>
            <a:r>
              <a:rPr lang="en-US" dirty="0"/>
              <a:t>9 = 7 × 1 + 2</a:t>
            </a:r>
            <a:br>
              <a:rPr lang="en-US" dirty="0"/>
            </a:br>
            <a:r>
              <a:rPr lang="en-US" dirty="0"/>
              <a:t>Therefore:</a:t>
            </a:r>
            <a:br>
              <a:rPr lang="en-US" dirty="0"/>
            </a:br>
            <a:r>
              <a:rPr lang="en-US" dirty="0"/>
              <a:t>9 ≡ 2 (mod 7)</a:t>
            </a:r>
          </a:p>
          <a:p>
            <a:pPr marL="0" indent="0">
              <a:buNone/>
            </a:pPr>
            <a:r>
              <a:rPr lang="en-US" b="1" dirty="0"/>
              <a:t>Final Answer</a:t>
            </a:r>
          </a:p>
          <a:p>
            <a:pPr marL="0" indent="0">
              <a:buNone/>
            </a:pPr>
            <a:r>
              <a:rPr lang="en-US" dirty="0"/>
              <a:t>The remainder when 3^20 is divided by 7 is 2.</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418008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EVOLUTION OF BIG DATA</a:t>
            </a:r>
            <a:endParaRPr lang="en-US" dirty="0"/>
          </a:p>
        </p:txBody>
      </p:sp>
      <p:sp>
        <p:nvSpPr>
          <p:cNvPr id="3" name="Content Placeholder 2"/>
          <p:cNvSpPr>
            <a:spLocks noGrp="1"/>
          </p:cNvSpPr>
          <p:nvPr>
            <p:ph idx="1"/>
          </p:nvPr>
        </p:nvSpPr>
        <p:spPr>
          <a:xfrm>
            <a:off x="677334" y="1468193"/>
            <a:ext cx="8596668" cy="4573170"/>
          </a:xfrm>
        </p:spPr>
        <p:txBody>
          <a:bodyPr/>
          <a:lstStyle/>
          <a:p>
            <a:r>
              <a:rPr lang="en-US" dirty="0"/>
              <a:t>The </a:t>
            </a:r>
            <a:r>
              <a:rPr lang="en-US" b="1" dirty="0"/>
              <a:t>evolution of Big Data</a:t>
            </a:r>
            <a:r>
              <a:rPr lang="en-US" dirty="0"/>
              <a:t> refers to the gradual transformation in the way data is generated, stored, processed, and analyzed over the past several decades. </a:t>
            </a:r>
            <a:endParaRPr lang="en-US" dirty="0" smtClean="0"/>
          </a:p>
          <a:p>
            <a:r>
              <a:rPr lang="en-US" dirty="0" smtClean="0"/>
              <a:t>Earlier</a:t>
            </a:r>
            <a:r>
              <a:rPr lang="en-US" dirty="0"/>
              <a:t>, organizations dealt with small volumes of structured data using traditional databases. </a:t>
            </a:r>
            <a:endParaRPr lang="en-US" dirty="0" smtClean="0"/>
          </a:p>
          <a:p>
            <a:r>
              <a:rPr lang="en-US" dirty="0" smtClean="0"/>
              <a:t>Today</a:t>
            </a:r>
            <a:r>
              <a:rPr lang="en-US" dirty="0"/>
              <a:t>, due to the growth of the Internet, smartphones, IoT devices, cloud computing, and social media, organizations generate </a:t>
            </a:r>
            <a:r>
              <a:rPr lang="en-US" b="1" dirty="0"/>
              <a:t>petabytes and </a:t>
            </a:r>
            <a:r>
              <a:rPr lang="en-US" b="1" dirty="0" err="1"/>
              <a:t>exabytes</a:t>
            </a:r>
            <a:r>
              <a:rPr lang="en-US" b="1" dirty="0"/>
              <a:t> of diverse data every day</a:t>
            </a:r>
            <a:r>
              <a:rPr lang="en-US" dirty="0"/>
              <a:t>, making Big Data technologies essential</a:t>
            </a:r>
            <a:r>
              <a:rPr lang="en-US" dirty="0" smtClean="0"/>
              <a:t>.</a:t>
            </a:r>
          </a:p>
          <a:p>
            <a:r>
              <a:rPr lang="en-US" dirty="0"/>
              <a:t>Big Data is a collection of extremely large, fast-growing, and diverse datasets that cannot be efficiently stored, processed, or analyzed using traditional database management systems.</a:t>
            </a:r>
          </a:p>
        </p:txBody>
      </p:sp>
    </p:spTree>
    <p:extLst>
      <p:ext uri="{BB962C8B-B14F-4D97-AF65-F5344CB8AC3E}">
        <p14:creationId xmlns:p14="http://schemas.microsoft.com/office/powerpoint/2010/main" val="333208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Stage 1: Traditional Data Era (1960s–1980s)</a:t>
            </a:r>
            <a:br>
              <a:rPr lang="en-US" b="1" dirty="0"/>
            </a:br>
            <a:endParaRPr lang="en-US" dirty="0"/>
          </a:p>
        </p:txBody>
      </p:sp>
      <p:sp>
        <p:nvSpPr>
          <p:cNvPr id="3" name="Content Placeholder 2"/>
          <p:cNvSpPr>
            <a:spLocks noGrp="1"/>
          </p:cNvSpPr>
          <p:nvPr>
            <p:ph idx="1"/>
          </p:nvPr>
        </p:nvSpPr>
        <p:spPr>
          <a:xfrm>
            <a:off x="677334" y="1378039"/>
            <a:ext cx="8596668" cy="4663323"/>
          </a:xfrm>
        </p:spPr>
        <p:txBody>
          <a:bodyPr>
            <a:normAutofit/>
          </a:bodyPr>
          <a:lstStyle/>
          <a:p>
            <a:pPr marL="0" indent="0">
              <a:buNone/>
            </a:pPr>
            <a:r>
              <a:rPr lang="en-US" b="1" dirty="0" smtClean="0"/>
              <a:t>Characteristics</a:t>
            </a:r>
            <a:endParaRPr lang="en-US" b="1" dirty="0"/>
          </a:p>
          <a:p>
            <a:r>
              <a:rPr lang="en-US" dirty="0"/>
              <a:t>Data was very small. </a:t>
            </a:r>
          </a:p>
          <a:p>
            <a:r>
              <a:rPr lang="en-US" dirty="0"/>
              <a:t>Stored in files. </a:t>
            </a:r>
          </a:p>
          <a:p>
            <a:r>
              <a:rPr lang="en-US" dirty="0"/>
              <a:t>Mostly structured. </a:t>
            </a:r>
          </a:p>
          <a:p>
            <a:r>
              <a:rPr lang="en-US" dirty="0"/>
              <a:t>Processed using centralized mainframe computers. </a:t>
            </a:r>
          </a:p>
          <a:p>
            <a:r>
              <a:rPr lang="en-US" dirty="0"/>
              <a:t>Data processing was batch-oriented</a:t>
            </a:r>
            <a:r>
              <a:rPr lang="en-US" dirty="0" smtClean="0"/>
              <a:t>.</a:t>
            </a:r>
          </a:p>
          <a:p>
            <a:pPr marL="0" indent="0">
              <a:buNone/>
            </a:pPr>
            <a:r>
              <a:rPr lang="en-US" b="1" dirty="0"/>
              <a:t>Technologies</a:t>
            </a:r>
          </a:p>
          <a:p>
            <a:r>
              <a:rPr lang="en-US" dirty="0"/>
              <a:t>Magnetic tapes </a:t>
            </a:r>
          </a:p>
          <a:p>
            <a:r>
              <a:rPr lang="en-US" dirty="0"/>
              <a:t>Sequential files </a:t>
            </a:r>
          </a:p>
          <a:p>
            <a:r>
              <a:rPr lang="en-US" dirty="0"/>
              <a:t>Mainframe </a:t>
            </a:r>
            <a:r>
              <a:rPr lang="en-US" dirty="0" smtClean="0"/>
              <a:t>computers</a:t>
            </a:r>
          </a:p>
          <a:p>
            <a:pPr marL="0" indent="0">
              <a:buNone/>
            </a:pPr>
            <a:endParaRPr lang="en-US" dirty="0"/>
          </a:p>
          <a:p>
            <a:endParaRPr lang="en-US" dirty="0"/>
          </a:p>
          <a:p>
            <a:endParaRPr lang="en-US" dirty="0"/>
          </a:p>
          <a:p>
            <a:endParaRPr lang="en-US" dirty="0"/>
          </a:p>
        </p:txBody>
      </p:sp>
    </p:spTree>
    <p:extLst>
      <p:ext uri="{BB962C8B-B14F-4D97-AF65-F5344CB8AC3E}">
        <p14:creationId xmlns:p14="http://schemas.microsoft.com/office/powerpoint/2010/main" val="956352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0365" y="808307"/>
            <a:ext cx="8596668" cy="3880773"/>
          </a:xfrm>
        </p:spPr>
        <p:txBody>
          <a:bodyPr>
            <a:normAutofit lnSpcReduction="10000"/>
          </a:bodyPr>
          <a:lstStyle/>
          <a:p>
            <a:pPr marL="0" indent="0">
              <a:buNone/>
            </a:pPr>
            <a:r>
              <a:rPr lang="en-US" b="1" dirty="0"/>
              <a:t>Applications</a:t>
            </a:r>
          </a:p>
          <a:p>
            <a:r>
              <a:rPr lang="en-US" dirty="0"/>
              <a:t>Payroll Management </a:t>
            </a:r>
          </a:p>
          <a:p>
            <a:r>
              <a:rPr lang="en-US" dirty="0"/>
              <a:t>Inventory Control </a:t>
            </a:r>
          </a:p>
          <a:p>
            <a:r>
              <a:rPr lang="en-US" dirty="0"/>
              <a:t>Banking Records </a:t>
            </a:r>
          </a:p>
          <a:p>
            <a:r>
              <a:rPr lang="en-US" dirty="0"/>
              <a:t>University Student Database</a:t>
            </a:r>
          </a:p>
          <a:p>
            <a:pPr marL="0" indent="0">
              <a:buNone/>
            </a:pPr>
            <a:r>
              <a:rPr lang="en-US" b="1" dirty="0"/>
              <a:t>Limitations</a:t>
            </a:r>
          </a:p>
          <a:p>
            <a:r>
              <a:rPr lang="en-US" dirty="0"/>
              <a:t>Small storage </a:t>
            </a:r>
          </a:p>
          <a:p>
            <a:r>
              <a:rPr lang="en-US" dirty="0"/>
              <a:t>Slow processing </a:t>
            </a:r>
          </a:p>
          <a:p>
            <a:r>
              <a:rPr lang="en-US" dirty="0"/>
              <a:t>No multimedia support </a:t>
            </a:r>
          </a:p>
          <a:p>
            <a:r>
              <a:rPr lang="en-US" dirty="0"/>
              <a:t>Manual report generation</a:t>
            </a:r>
          </a:p>
          <a:p>
            <a:endParaRPr lang="en-US" dirty="0"/>
          </a:p>
        </p:txBody>
      </p:sp>
    </p:spTree>
    <p:extLst>
      <p:ext uri="{BB962C8B-B14F-4D97-AF65-F5344CB8AC3E}">
        <p14:creationId xmlns:p14="http://schemas.microsoft.com/office/powerpoint/2010/main" val="1362728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 2: Relational Database Era (1980–2000)</a:t>
            </a:r>
          </a:p>
        </p:txBody>
      </p:sp>
      <p:sp>
        <p:nvSpPr>
          <p:cNvPr id="3" name="Content Placeholder 2"/>
          <p:cNvSpPr>
            <a:spLocks noGrp="1"/>
          </p:cNvSpPr>
          <p:nvPr>
            <p:ph idx="1"/>
          </p:nvPr>
        </p:nvSpPr>
        <p:spPr/>
        <p:txBody>
          <a:bodyPr>
            <a:normAutofit fontScale="92500" lnSpcReduction="20000"/>
          </a:bodyPr>
          <a:lstStyle/>
          <a:p>
            <a:pPr marL="0" indent="0">
              <a:buNone/>
            </a:pPr>
            <a:r>
              <a:rPr lang="en-US" b="1" dirty="0" smtClean="0"/>
              <a:t>Popular </a:t>
            </a:r>
            <a:r>
              <a:rPr lang="en-US" b="1" dirty="0"/>
              <a:t>databases:</a:t>
            </a:r>
          </a:p>
          <a:p>
            <a:r>
              <a:rPr lang="en-US" dirty="0"/>
              <a:t>Oracle </a:t>
            </a:r>
          </a:p>
          <a:p>
            <a:r>
              <a:rPr lang="en-US" dirty="0"/>
              <a:t>MySQL </a:t>
            </a:r>
          </a:p>
          <a:p>
            <a:r>
              <a:rPr lang="en-US" dirty="0"/>
              <a:t>SQL Server </a:t>
            </a:r>
          </a:p>
          <a:p>
            <a:r>
              <a:rPr lang="en-US" dirty="0"/>
              <a:t>IBM DB2</a:t>
            </a:r>
          </a:p>
          <a:p>
            <a:pPr marL="0" indent="0">
              <a:buNone/>
            </a:pPr>
            <a:r>
              <a:rPr lang="en-US" b="1" dirty="0"/>
              <a:t>Characteristics</a:t>
            </a:r>
          </a:p>
          <a:p>
            <a:r>
              <a:rPr lang="en-US" dirty="0"/>
              <a:t>Structured tables </a:t>
            </a:r>
          </a:p>
          <a:p>
            <a:r>
              <a:rPr lang="en-US" dirty="0"/>
              <a:t>SQL language </a:t>
            </a:r>
          </a:p>
          <a:p>
            <a:r>
              <a:rPr lang="en-US" dirty="0"/>
              <a:t>ACID properties </a:t>
            </a:r>
          </a:p>
          <a:p>
            <a:r>
              <a:rPr lang="en-US" dirty="0"/>
              <a:t>Better security </a:t>
            </a:r>
          </a:p>
          <a:p>
            <a:r>
              <a:rPr lang="en-US" dirty="0"/>
              <a:t>Faster querying</a:t>
            </a:r>
          </a:p>
          <a:p>
            <a:endParaRPr lang="en-US" dirty="0"/>
          </a:p>
        </p:txBody>
      </p:sp>
    </p:spTree>
    <p:extLst>
      <p:ext uri="{BB962C8B-B14F-4D97-AF65-F5344CB8AC3E}">
        <p14:creationId xmlns:p14="http://schemas.microsoft.com/office/powerpoint/2010/main" val="1257930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4607" y="718155"/>
            <a:ext cx="8596668" cy="5785676"/>
          </a:xfrm>
        </p:spPr>
        <p:txBody>
          <a:bodyPr/>
          <a:lstStyle/>
          <a:p>
            <a:r>
              <a:rPr lang="en-US" b="1" dirty="0"/>
              <a:t>Real-Time </a:t>
            </a:r>
            <a:r>
              <a:rPr lang="en-US" b="1" dirty="0" smtClean="0"/>
              <a:t>Applications</a:t>
            </a:r>
          </a:p>
          <a:p>
            <a:r>
              <a:rPr lang="en-US" dirty="0" smtClean="0"/>
              <a:t>Banking</a:t>
            </a:r>
          </a:p>
          <a:p>
            <a:r>
              <a:rPr lang="en-US" dirty="0" smtClean="0"/>
              <a:t>Hospitals</a:t>
            </a:r>
          </a:p>
          <a:p>
            <a:r>
              <a:rPr lang="en-US" dirty="0" smtClean="0"/>
              <a:t>Airlines</a:t>
            </a:r>
          </a:p>
          <a:p>
            <a:r>
              <a:rPr lang="en-US" dirty="0" smtClean="0"/>
              <a:t>College ERP</a:t>
            </a:r>
          </a:p>
          <a:p>
            <a:r>
              <a:rPr lang="en-US" dirty="0" smtClean="0"/>
              <a:t>Retail Billing</a:t>
            </a:r>
          </a:p>
          <a:p>
            <a:r>
              <a:rPr lang="en-US" b="1" dirty="0" smtClean="0"/>
              <a:t>Problem</a:t>
            </a:r>
          </a:p>
          <a:p>
            <a:r>
              <a:rPr lang="en-US" dirty="0" smtClean="0"/>
              <a:t>As </a:t>
            </a:r>
            <a:r>
              <a:rPr lang="en-US" dirty="0"/>
              <a:t>internet users increased</a:t>
            </a:r>
            <a:r>
              <a:rPr lang="en-US" dirty="0" smtClean="0"/>
              <a:t>, Data became Bigger Faster Unstructured Traditional </a:t>
            </a:r>
            <a:r>
              <a:rPr lang="en-US" dirty="0"/>
              <a:t>databases started failing.</a:t>
            </a:r>
          </a:p>
        </p:txBody>
      </p:sp>
    </p:spTree>
    <p:extLst>
      <p:ext uri="{BB962C8B-B14F-4D97-AF65-F5344CB8AC3E}">
        <p14:creationId xmlns:p14="http://schemas.microsoft.com/office/powerpoint/2010/main" val="2778674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 3: Internet Revolution (</a:t>
            </a:r>
            <a:r>
              <a:rPr lang="en-US" dirty="0" smtClean="0"/>
              <a:t>2000–2005)</a:t>
            </a:r>
            <a:endParaRPr lang="en-US" dirty="0"/>
          </a:p>
        </p:txBody>
      </p:sp>
      <p:sp>
        <p:nvSpPr>
          <p:cNvPr id="3" name="Content Placeholder 2"/>
          <p:cNvSpPr>
            <a:spLocks noGrp="1"/>
          </p:cNvSpPr>
          <p:nvPr>
            <p:ph idx="1"/>
          </p:nvPr>
        </p:nvSpPr>
        <p:spPr/>
        <p:txBody>
          <a:bodyPr/>
          <a:lstStyle/>
          <a:p>
            <a:r>
              <a:rPr lang="en-US" dirty="0" smtClean="0"/>
              <a:t>Internet </a:t>
            </a:r>
            <a:r>
              <a:rPr lang="en-US" dirty="0"/>
              <a:t>changed everything</a:t>
            </a:r>
            <a:r>
              <a:rPr lang="en-US" dirty="0" smtClean="0"/>
              <a:t>.</a:t>
            </a:r>
          </a:p>
          <a:p>
            <a:r>
              <a:rPr lang="en-US" dirty="0" smtClean="0"/>
              <a:t>Millions </a:t>
            </a:r>
            <a:r>
              <a:rPr lang="en-US" dirty="0"/>
              <a:t>of users started generating data continuously</a:t>
            </a:r>
            <a:r>
              <a:rPr lang="en-US" dirty="0" smtClean="0"/>
              <a:t>.</a:t>
            </a:r>
          </a:p>
          <a:p>
            <a:r>
              <a:rPr lang="en-US" dirty="0" smtClean="0"/>
              <a:t>New </a:t>
            </a:r>
            <a:r>
              <a:rPr lang="en-US" dirty="0"/>
              <a:t>Sources of </a:t>
            </a:r>
            <a:r>
              <a:rPr lang="en-US" dirty="0" smtClean="0"/>
              <a:t>Data</a:t>
            </a:r>
          </a:p>
          <a:p>
            <a:pPr lvl="1"/>
            <a:r>
              <a:rPr lang="en-US" dirty="0" smtClean="0"/>
              <a:t> Emails </a:t>
            </a:r>
          </a:p>
          <a:p>
            <a:pPr lvl="1"/>
            <a:r>
              <a:rPr lang="en-US" dirty="0" smtClean="0"/>
              <a:t>Websites</a:t>
            </a:r>
          </a:p>
          <a:p>
            <a:pPr lvl="1"/>
            <a:r>
              <a:rPr lang="en-US" dirty="0" smtClean="0"/>
              <a:t>Search engines</a:t>
            </a:r>
          </a:p>
          <a:p>
            <a:pPr lvl="1"/>
            <a:r>
              <a:rPr lang="en-US" dirty="0" smtClean="0"/>
              <a:t>Blogs</a:t>
            </a:r>
          </a:p>
          <a:p>
            <a:pPr lvl="1"/>
            <a:r>
              <a:rPr lang="en-US" dirty="0" smtClean="0"/>
              <a:t>Digital </a:t>
            </a:r>
            <a:r>
              <a:rPr lang="en-US" dirty="0"/>
              <a:t>photos</a:t>
            </a:r>
          </a:p>
        </p:txBody>
      </p:sp>
    </p:spTree>
    <p:extLst>
      <p:ext uri="{BB962C8B-B14F-4D97-AF65-F5344CB8AC3E}">
        <p14:creationId xmlns:p14="http://schemas.microsoft.com/office/powerpoint/2010/main" val="2276065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0365" y="215879"/>
            <a:ext cx="8596668" cy="6519772"/>
          </a:xfrm>
        </p:spPr>
        <p:txBody>
          <a:bodyPr>
            <a:normAutofit/>
          </a:bodyPr>
          <a:lstStyle/>
          <a:p>
            <a:pPr marL="0" indent="0">
              <a:buNone/>
            </a:pPr>
            <a:r>
              <a:rPr lang="en-US" b="1" dirty="0"/>
              <a:t>Example</a:t>
            </a:r>
          </a:p>
          <a:p>
            <a:r>
              <a:rPr lang="en-US" dirty="0"/>
              <a:t>Google Search</a:t>
            </a:r>
          </a:p>
          <a:p>
            <a:r>
              <a:rPr lang="en-US" dirty="0"/>
              <a:t>Every search typed by users generates</a:t>
            </a:r>
          </a:p>
          <a:p>
            <a:r>
              <a:rPr lang="en-US" dirty="0"/>
              <a:t>Search keyword </a:t>
            </a:r>
          </a:p>
          <a:p>
            <a:r>
              <a:rPr lang="en-US" dirty="0"/>
              <a:t>Time </a:t>
            </a:r>
          </a:p>
          <a:p>
            <a:r>
              <a:rPr lang="en-US" dirty="0"/>
              <a:t>Location </a:t>
            </a:r>
          </a:p>
          <a:p>
            <a:r>
              <a:rPr lang="en-US" dirty="0"/>
              <a:t>Browser </a:t>
            </a:r>
          </a:p>
          <a:p>
            <a:r>
              <a:rPr lang="en-US" dirty="0"/>
              <a:t>Device </a:t>
            </a:r>
          </a:p>
          <a:p>
            <a:r>
              <a:rPr lang="en-US" dirty="0"/>
              <a:t>Millions of searches occur every minute</a:t>
            </a:r>
            <a:r>
              <a:rPr lang="en-US" dirty="0" smtClean="0"/>
              <a:t>.</a:t>
            </a:r>
          </a:p>
          <a:p>
            <a:pPr marL="0" indent="0">
              <a:buNone/>
            </a:pPr>
            <a:r>
              <a:rPr lang="en-US" b="1" dirty="0"/>
              <a:t>Real-Time Applications</a:t>
            </a:r>
          </a:p>
          <a:p>
            <a:pPr marL="0" indent="0">
              <a:buNone/>
            </a:pPr>
            <a:r>
              <a:rPr lang="en-US" dirty="0"/>
              <a:t>Google stores</a:t>
            </a:r>
          </a:p>
          <a:p>
            <a:r>
              <a:rPr lang="en-US" dirty="0"/>
              <a:t>Search history </a:t>
            </a:r>
          </a:p>
          <a:p>
            <a:r>
              <a:rPr lang="en-US" dirty="0"/>
              <a:t>Click patterns </a:t>
            </a:r>
          </a:p>
          <a:p>
            <a:r>
              <a:rPr lang="en-US" dirty="0"/>
              <a:t>Advertisement data </a:t>
            </a:r>
          </a:p>
          <a:p>
            <a:pPr marL="0" indent="0">
              <a:buNone/>
            </a:pPr>
            <a:r>
              <a:rPr lang="en-US" dirty="0"/>
              <a:t>to improve search results.</a:t>
            </a:r>
          </a:p>
          <a:p>
            <a:endParaRPr lang="en-US" dirty="0"/>
          </a:p>
          <a:p>
            <a:endParaRPr lang="en-US" dirty="0"/>
          </a:p>
        </p:txBody>
      </p:sp>
    </p:spTree>
    <p:extLst>
      <p:ext uri="{BB962C8B-B14F-4D97-AF65-F5344CB8AC3E}">
        <p14:creationId xmlns:p14="http://schemas.microsoft.com/office/powerpoint/2010/main" val="3786523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79549"/>
            <a:ext cx="8596668" cy="5461813"/>
          </a:xfrm>
        </p:spPr>
        <p:txBody>
          <a:bodyPr/>
          <a:lstStyle/>
          <a:p>
            <a:pPr marL="0" indent="0">
              <a:buNone/>
            </a:pPr>
            <a:r>
              <a:rPr lang="en-US" b="1" dirty="0"/>
              <a:t>Challenges</a:t>
            </a:r>
          </a:p>
          <a:p>
            <a:r>
              <a:rPr lang="en-US" dirty="0"/>
              <a:t>Traditional SQL databases struggled because</a:t>
            </a:r>
          </a:p>
          <a:p>
            <a:r>
              <a:rPr lang="en-US" dirty="0"/>
              <a:t>Data was semi-structured </a:t>
            </a:r>
          </a:p>
          <a:p>
            <a:r>
              <a:rPr lang="en-US" dirty="0"/>
              <a:t>Data volume increased rapidly </a:t>
            </a:r>
          </a:p>
          <a:p>
            <a:r>
              <a:rPr lang="en-US" dirty="0"/>
              <a:t>Storage costs became </a:t>
            </a:r>
            <a:r>
              <a:rPr lang="en-US" dirty="0" smtClean="0"/>
              <a:t>high</a:t>
            </a:r>
          </a:p>
          <a:p>
            <a:pPr marL="0" indent="0">
              <a:buNone/>
            </a:pPr>
            <a:r>
              <a:rPr lang="en-US" b="1" dirty="0"/>
              <a:t>Stage 4: Birth of Big Data (2005–2010)</a:t>
            </a:r>
          </a:p>
          <a:p>
            <a:r>
              <a:rPr lang="en-US" dirty="0"/>
              <a:t>Google introduced a new approach.</a:t>
            </a:r>
          </a:p>
          <a:p>
            <a:r>
              <a:rPr lang="en-US" dirty="0"/>
              <a:t>Instead of one powerful </a:t>
            </a:r>
            <a:r>
              <a:rPr lang="en-US" dirty="0" err="1" smtClean="0"/>
              <a:t>server,Use</a:t>
            </a:r>
            <a:r>
              <a:rPr lang="en-US" dirty="0" smtClean="0"/>
              <a:t> </a:t>
            </a:r>
            <a:r>
              <a:rPr lang="en-US" dirty="0"/>
              <a:t>thousands of inexpensive computers.</a:t>
            </a:r>
          </a:p>
          <a:p>
            <a:r>
              <a:rPr lang="en-US" dirty="0"/>
              <a:t>This led to</a:t>
            </a:r>
          </a:p>
          <a:p>
            <a:pPr lvl="1"/>
            <a:r>
              <a:rPr lang="en-US" dirty="0"/>
              <a:t>Distributed Storage </a:t>
            </a:r>
          </a:p>
          <a:p>
            <a:pPr lvl="1"/>
            <a:r>
              <a:rPr lang="en-US" dirty="0"/>
              <a:t>Distributed Processing </a:t>
            </a:r>
          </a:p>
          <a:p>
            <a:r>
              <a:rPr lang="en-US" dirty="0"/>
              <a:t>Yahoo later developed Hadoop based on Google's ideas.</a:t>
            </a:r>
          </a:p>
          <a:p>
            <a:pPr marL="0" indent="0">
              <a:buNone/>
            </a:pPr>
            <a:endParaRPr lang="en-US" dirty="0"/>
          </a:p>
          <a:p>
            <a:endParaRPr lang="en-US" dirty="0"/>
          </a:p>
        </p:txBody>
      </p:sp>
    </p:spTree>
    <p:extLst>
      <p:ext uri="{BB962C8B-B14F-4D97-AF65-F5344CB8AC3E}">
        <p14:creationId xmlns:p14="http://schemas.microsoft.com/office/powerpoint/2010/main" val="1799379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631065"/>
            <a:ext cx="8596668" cy="5410297"/>
          </a:xfrm>
        </p:spPr>
        <p:txBody>
          <a:bodyPr>
            <a:normAutofit/>
          </a:bodyPr>
          <a:lstStyle/>
          <a:p>
            <a:r>
              <a:rPr lang="en-US" b="1" dirty="0"/>
              <a:t>Hadoop </a:t>
            </a:r>
            <a:r>
              <a:rPr lang="en-US" b="1" dirty="0" smtClean="0"/>
              <a:t>Revolution</a:t>
            </a:r>
          </a:p>
          <a:p>
            <a:r>
              <a:rPr lang="en-US" b="1" dirty="0" smtClean="0"/>
              <a:t>Hadoop </a:t>
            </a:r>
            <a:r>
              <a:rPr lang="en-US" dirty="0"/>
              <a:t>solved three major </a:t>
            </a:r>
            <a:r>
              <a:rPr lang="en-US" dirty="0" smtClean="0"/>
              <a:t>problems</a:t>
            </a:r>
          </a:p>
          <a:p>
            <a:pPr lvl="1"/>
            <a:r>
              <a:rPr lang="en-US" dirty="0" smtClean="0"/>
              <a:t>Storage</a:t>
            </a:r>
          </a:p>
          <a:p>
            <a:pPr lvl="1"/>
            <a:r>
              <a:rPr lang="en-US" dirty="0" smtClean="0"/>
              <a:t> Processing</a:t>
            </a:r>
          </a:p>
          <a:p>
            <a:pPr lvl="1"/>
            <a:r>
              <a:rPr lang="en-US" dirty="0" smtClean="0"/>
              <a:t>Scalability</a:t>
            </a:r>
          </a:p>
          <a:p>
            <a:r>
              <a:rPr lang="en-US" b="1" dirty="0" smtClean="0"/>
              <a:t>Real-Time Example</a:t>
            </a:r>
          </a:p>
          <a:p>
            <a:r>
              <a:rPr lang="en-US" dirty="0" smtClean="0"/>
              <a:t>Facebook-Millions </a:t>
            </a:r>
            <a:r>
              <a:rPr lang="en-US" dirty="0"/>
              <a:t>of users </a:t>
            </a:r>
            <a:r>
              <a:rPr lang="en-US" dirty="0" smtClean="0"/>
              <a:t>upload </a:t>
            </a:r>
          </a:p>
          <a:p>
            <a:pPr lvl="1"/>
            <a:r>
              <a:rPr lang="en-US" dirty="0" smtClean="0"/>
              <a:t>Photos</a:t>
            </a:r>
          </a:p>
          <a:p>
            <a:pPr lvl="1"/>
            <a:r>
              <a:rPr lang="en-US" dirty="0" smtClean="0"/>
              <a:t>Videos</a:t>
            </a:r>
          </a:p>
          <a:p>
            <a:pPr lvl="1"/>
            <a:r>
              <a:rPr lang="en-US" dirty="0" smtClean="0"/>
              <a:t>Comments</a:t>
            </a:r>
          </a:p>
          <a:p>
            <a:pPr lvl="1"/>
            <a:r>
              <a:rPr lang="en-US" dirty="0" smtClean="0"/>
              <a:t>Likes every </a:t>
            </a:r>
            <a:r>
              <a:rPr lang="en-US" dirty="0"/>
              <a:t>second</a:t>
            </a:r>
            <a:r>
              <a:rPr lang="en-US" dirty="0" smtClean="0"/>
              <a:t>.</a:t>
            </a:r>
          </a:p>
          <a:p>
            <a:pPr lvl="1"/>
            <a:r>
              <a:rPr lang="en-US" dirty="0" smtClean="0"/>
              <a:t>Instead </a:t>
            </a:r>
            <a:r>
              <a:rPr lang="en-US" dirty="0"/>
              <a:t>of storing everything on one server</a:t>
            </a:r>
            <a:r>
              <a:rPr lang="en-US" dirty="0" smtClean="0"/>
              <a:t>, Facebook </a:t>
            </a:r>
            <a:r>
              <a:rPr lang="en-US" dirty="0"/>
              <a:t>distributes data across thousands of servers.</a:t>
            </a:r>
          </a:p>
        </p:txBody>
      </p:sp>
    </p:spTree>
    <p:extLst>
      <p:ext uri="{BB962C8B-B14F-4D97-AF65-F5344CB8AC3E}">
        <p14:creationId xmlns:p14="http://schemas.microsoft.com/office/powerpoint/2010/main" val="32595814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3092" y="782550"/>
            <a:ext cx="8415150" cy="6075450"/>
          </a:xfrm>
        </p:spPr>
        <p:txBody>
          <a:bodyPr>
            <a:normAutofit fontScale="92500" lnSpcReduction="10000"/>
          </a:bodyPr>
          <a:lstStyle/>
          <a:p>
            <a:pPr marL="0" indent="0">
              <a:buNone/>
            </a:pPr>
            <a:r>
              <a:rPr lang="en-US" b="1" dirty="0"/>
              <a:t>Stage 5: Social Media Explosion (2010–2020)</a:t>
            </a:r>
          </a:p>
          <a:p>
            <a:r>
              <a:rPr lang="en-US" dirty="0"/>
              <a:t>The biggest contributor to Big Data was social media.</a:t>
            </a:r>
          </a:p>
          <a:p>
            <a:r>
              <a:rPr lang="en-US" dirty="0"/>
              <a:t>People started generating data every second.</a:t>
            </a:r>
          </a:p>
          <a:p>
            <a:pPr marL="0" indent="0">
              <a:buNone/>
            </a:pPr>
            <a:r>
              <a:rPr lang="en-US" b="1" dirty="0"/>
              <a:t>Data Generated</a:t>
            </a:r>
          </a:p>
          <a:p>
            <a:r>
              <a:rPr lang="en-US" dirty="0"/>
              <a:t>Facebook</a:t>
            </a:r>
          </a:p>
          <a:p>
            <a:pPr lvl="1"/>
            <a:r>
              <a:rPr lang="en-US" dirty="0"/>
              <a:t>Posts </a:t>
            </a:r>
          </a:p>
          <a:p>
            <a:pPr lvl="1"/>
            <a:r>
              <a:rPr lang="en-US" dirty="0"/>
              <a:t>Photos </a:t>
            </a:r>
          </a:p>
          <a:p>
            <a:pPr lvl="1"/>
            <a:r>
              <a:rPr lang="en-US" dirty="0"/>
              <a:t>Videos </a:t>
            </a:r>
          </a:p>
          <a:p>
            <a:r>
              <a:rPr lang="en-US" dirty="0"/>
              <a:t>Instagram</a:t>
            </a:r>
          </a:p>
          <a:p>
            <a:pPr lvl="1"/>
            <a:r>
              <a:rPr lang="en-US" dirty="0"/>
              <a:t>Stories </a:t>
            </a:r>
          </a:p>
          <a:p>
            <a:pPr lvl="1"/>
            <a:r>
              <a:rPr lang="en-US" dirty="0"/>
              <a:t>Reels </a:t>
            </a:r>
          </a:p>
          <a:p>
            <a:r>
              <a:rPr lang="en-US" dirty="0"/>
              <a:t>Twitter (X)</a:t>
            </a:r>
          </a:p>
          <a:p>
            <a:pPr lvl="1"/>
            <a:r>
              <a:rPr lang="en-US" dirty="0"/>
              <a:t>Tweets </a:t>
            </a:r>
          </a:p>
          <a:p>
            <a:r>
              <a:rPr lang="en-US" dirty="0"/>
              <a:t>YouTube</a:t>
            </a:r>
          </a:p>
          <a:p>
            <a:pPr lvl="1"/>
            <a:r>
              <a:rPr lang="en-US" dirty="0"/>
              <a:t>Video uploads </a:t>
            </a:r>
          </a:p>
          <a:p>
            <a:r>
              <a:rPr lang="en-US" dirty="0"/>
              <a:t>WhatsApp</a:t>
            </a:r>
          </a:p>
          <a:p>
            <a:pPr lvl="1"/>
            <a:r>
              <a:rPr lang="en-US" dirty="0"/>
              <a:t>Messages</a:t>
            </a:r>
          </a:p>
          <a:p>
            <a:endParaRPr lang="en-US" dirty="0"/>
          </a:p>
        </p:txBody>
      </p:sp>
    </p:spTree>
    <p:extLst>
      <p:ext uri="{BB962C8B-B14F-4D97-AF65-F5344CB8AC3E}">
        <p14:creationId xmlns:p14="http://schemas.microsoft.com/office/powerpoint/2010/main" val="4048965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708339"/>
            <a:ext cx="8596668" cy="5333024"/>
          </a:xfrm>
        </p:spPr>
        <p:txBody>
          <a:bodyPr>
            <a:normAutofit fontScale="92500" lnSpcReduction="10000"/>
          </a:bodyPr>
          <a:lstStyle/>
          <a:p>
            <a:pPr marL="0" indent="0">
              <a:buNone/>
            </a:pPr>
            <a:r>
              <a:rPr lang="en-US" b="1" dirty="0"/>
              <a:t>Example</a:t>
            </a:r>
          </a:p>
          <a:p>
            <a:r>
              <a:rPr lang="en-US" dirty="0"/>
              <a:t>Every Instagram Reel generates</a:t>
            </a:r>
          </a:p>
          <a:p>
            <a:r>
              <a:rPr lang="en-US" dirty="0"/>
              <a:t>Views </a:t>
            </a:r>
          </a:p>
          <a:p>
            <a:r>
              <a:rPr lang="en-US" dirty="0"/>
              <a:t>Likes </a:t>
            </a:r>
          </a:p>
          <a:p>
            <a:r>
              <a:rPr lang="en-US" dirty="0"/>
              <a:t>Comments </a:t>
            </a:r>
          </a:p>
          <a:p>
            <a:r>
              <a:rPr lang="en-US" dirty="0"/>
              <a:t>Shares </a:t>
            </a:r>
          </a:p>
          <a:p>
            <a:r>
              <a:rPr lang="en-US" dirty="0"/>
              <a:t>Watch time </a:t>
            </a:r>
          </a:p>
          <a:p>
            <a:r>
              <a:rPr lang="en-US" dirty="0"/>
              <a:t>All these become Big Data.</a:t>
            </a:r>
          </a:p>
          <a:p>
            <a:pPr marL="0" indent="0">
              <a:buNone/>
            </a:pPr>
            <a:r>
              <a:rPr lang="en-US" b="1" dirty="0"/>
              <a:t>Applications</a:t>
            </a:r>
          </a:p>
          <a:p>
            <a:r>
              <a:rPr lang="en-US" dirty="0"/>
              <a:t>Recommendation systems</a:t>
            </a:r>
          </a:p>
          <a:p>
            <a:r>
              <a:rPr lang="en-US" dirty="0"/>
              <a:t>Netflix recommends movies.</a:t>
            </a:r>
          </a:p>
          <a:p>
            <a:r>
              <a:rPr lang="en-US" dirty="0"/>
              <a:t>Amazon recommends products.</a:t>
            </a:r>
          </a:p>
          <a:p>
            <a:r>
              <a:rPr lang="en-US" dirty="0"/>
              <a:t>Spotify recommends songs.</a:t>
            </a:r>
          </a:p>
          <a:p>
            <a:r>
              <a:rPr lang="en-US" dirty="0"/>
              <a:t>YouTube recommends videos.</a:t>
            </a:r>
          </a:p>
          <a:p>
            <a:endParaRPr lang="en-US" dirty="0"/>
          </a:p>
        </p:txBody>
      </p:sp>
    </p:spTree>
    <p:extLst>
      <p:ext uri="{BB962C8B-B14F-4D97-AF65-F5344CB8AC3E}">
        <p14:creationId xmlns:p14="http://schemas.microsoft.com/office/powerpoint/2010/main" val="41552303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Stage 6: Smartphone Revolution</a:t>
            </a:r>
            <a:br>
              <a:rPr lang="en-US" b="1" dirty="0"/>
            </a:br>
            <a:endParaRPr lang="en-US" dirty="0"/>
          </a:p>
        </p:txBody>
      </p:sp>
      <p:sp>
        <p:nvSpPr>
          <p:cNvPr id="3" name="Content Placeholder 2"/>
          <p:cNvSpPr>
            <a:spLocks noGrp="1"/>
          </p:cNvSpPr>
          <p:nvPr>
            <p:ph idx="1"/>
          </p:nvPr>
        </p:nvSpPr>
        <p:spPr>
          <a:xfrm>
            <a:off x="677334" y="1674255"/>
            <a:ext cx="8596668" cy="4367108"/>
          </a:xfrm>
        </p:spPr>
        <p:txBody>
          <a:bodyPr>
            <a:normAutofit fontScale="85000" lnSpcReduction="20000"/>
          </a:bodyPr>
          <a:lstStyle/>
          <a:p>
            <a:r>
              <a:rPr lang="en-US" dirty="0"/>
              <a:t>Every smartphone became a data generator</a:t>
            </a:r>
            <a:r>
              <a:rPr lang="en-US" dirty="0" smtClean="0"/>
              <a:t>.</a:t>
            </a:r>
          </a:p>
          <a:p>
            <a:r>
              <a:rPr lang="en-US" b="1" dirty="0"/>
              <a:t>Smartphone Data</a:t>
            </a:r>
          </a:p>
          <a:p>
            <a:pPr lvl="1">
              <a:buFont typeface="Arial" panose="020B0604020202020204" pitchFamily="34" charset="0"/>
              <a:buChar char="•"/>
            </a:pPr>
            <a:r>
              <a:rPr lang="en-US" dirty="0"/>
              <a:t>GPS</a:t>
            </a:r>
          </a:p>
          <a:p>
            <a:pPr lvl="1">
              <a:buFont typeface="Arial" panose="020B0604020202020204" pitchFamily="34" charset="0"/>
              <a:buChar char="•"/>
            </a:pPr>
            <a:r>
              <a:rPr lang="en-US" dirty="0"/>
              <a:t>Location</a:t>
            </a:r>
          </a:p>
          <a:p>
            <a:pPr lvl="1">
              <a:buFont typeface="Arial" panose="020B0604020202020204" pitchFamily="34" charset="0"/>
              <a:buChar char="•"/>
            </a:pPr>
            <a:r>
              <a:rPr lang="en-US" dirty="0"/>
              <a:t>Camera</a:t>
            </a:r>
          </a:p>
          <a:p>
            <a:pPr lvl="1">
              <a:buFont typeface="Arial" panose="020B0604020202020204" pitchFamily="34" charset="0"/>
              <a:buChar char="•"/>
            </a:pPr>
            <a:r>
              <a:rPr lang="en-US" dirty="0"/>
              <a:t>Photos</a:t>
            </a:r>
          </a:p>
          <a:p>
            <a:pPr lvl="1">
              <a:buFont typeface="Arial" panose="020B0604020202020204" pitchFamily="34" charset="0"/>
              <a:buChar char="•"/>
            </a:pPr>
            <a:r>
              <a:rPr lang="en-US" dirty="0"/>
              <a:t>Accelerometer</a:t>
            </a:r>
          </a:p>
          <a:p>
            <a:pPr lvl="1">
              <a:buFont typeface="Arial" panose="020B0604020202020204" pitchFamily="34" charset="0"/>
              <a:buChar char="•"/>
            </a:pPr>
            <a:r>
              <a:rPr lang="en-US" dirty="0"/>
              <a:t>Movement</a:t>
            </a:r>
          </a:p>
          <a:p>
            <a:pPr lvl="1">
              <a:buFont typeface="Arial" panose="020B0604020202020204" pitchFamily="34" charset="0"/>
              <a:buChar char="•"/>
            </a:pPr>
            <a:r>
              <a:rPr lang="en-US" dirty="0"/>
              <a:t>Microphone</a:t>
            </a:r>
          </a:p>
          <a:p>
            <a:pPr lvl="1">
              <a:buFont typeface="Arial" panose="020B0604020202020204" pitchFamily="34" charset="0"/>
              <a:buChar char="•"/>
            </a:pPr>
            <a:r>
              <a:rPr lang="en-US" dirty="0"/>
              <a:t>Voice</a:t>
            </a:r>
          </a:p>
          <a:p>
            <a:pPr lvl="1">
              <a:buFont typeface="Arial" panose="020B0604020202020204" pitchFamily="34" charset="0"/>
              <a:buChar char="•"/>
            </a:pPr>
            <a:r>
              <a:rPr lang="en-US" dirty="0"/>
              <a:t>Bluetooth</a:t>
            </a:r>
          </a:p>
          <a:p>
            <a:pPr lvl="1">
              <a:buFont typeface="Arial" panose="020B0604020202020204" pitchFamily="34" charset="0"/>
              <a:buChar char="•"/>
            </a:pPr>
            <a:r>
              <a:rPr lang="en-US" dirty="0"/>
              <a:t>Nearby devices</a:t>
            </a:r>
          </a:p>
          <a:p>
            <a:pPr lvl="1">
              <a:buFont typeface="Arial" panose="020B0604020202020204" pitchFamily="34" charset="0"/>
              <a:buChar char="•"/>
            </a:pPr>
            <a:r>
              <a:rPr lang="en-US" dirty="0"/>
              <a:t>Internet</a:t>
            </a:r>
          </a:p>
          <a:p>
            <a:pPr lvl="1">
              <a:buFont typeface="Arial" panose="020B0604020202020204" pitchFamily="34" charset="0"/>
              <a:buChar char="•"/>
            </a:pPr>
            <a:r>
              <a:rPr lang="en-US" dirty="0"/>
              <a:t>Browsing history</a:t>
            </a:r>
          </a:p>
          <a:p>
            <a:pPr marL="0" indent="0">
              <a:buNone/>
            </a:pPr>
            <a:endParaRPr lang="en-US" dirty="0"/>
          </a:p>
        </p:txBody>
      </p:sp>
    </p:spTree>
    <p:extLst>
      <p:ext uri="{BB962C8B-B14F-4D97-AF65-F5344CB8AC3E}">
        <p14:creationId xmlns:p14="http://schemas.microsoft.com/office/powerpoint/2010/main" val="2609019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656823"/>
            <a:ext cx="8596668" cy="5384539"/>
          </a:xfrm>
        </p:spPr>
        <p:txBody>
          <a:bodyPr>
            <a:noAutofit/>
          </a:bodyPr>
          <a:lstStyle/>
          <a:p>
            <a:pPr marL="0" lvl="0" indent="0" defTabSz="914400" eaLnBrk="0" fontAlgn="base" hangingPunct="0">
              <a:lnSpc>
                <a:spcPct val="150000"/>
              </a:lnSpc>
              <a:spcBef>
                <a:spcPct val="0"/>
              </a:spcBef>
              <a:spcAft>
                <a:spcPct val="0"/>
              </a:spcAft>
              <a:buClrTx/>
              <a:buSzTx/>
              <a:buNone/>
            </a:pPr>
            <a:endParaRPr lang="en-US" altLang="en-US" b="1" dirty="0">
              <a:solidFill>
                <a:schemeClr val="tx1"/>
              </a:solidFill>
            </a:endParaRPr>
          </a:p>
          <a:p>
            <a:pPr marL="0" lvl="0" indent="0" defTabSz="914400" eaLnBrk="0" fontAlgn="base" hangingPunct="0">
              <a:lnSpc>
                <a:spcPct val="150000"/>
              </a:lnSpc>
              <a:spcBef>
                <a:spcPct val="0"/>
              </a:spcBef>
              <a:spcAft>
                <a:spcPct val="0"/>
              </a:spcAft>
              <a:buClrTx/>
              <a:buSzTx/>
              <a:buNone/>
            </a:pPr>
            <a:r>
              <a:rPr lang="en-US" altLang="en-US" b="1" dirty="0">
                <a:solidFill>
                  <a:schemeClr val="tx1"/>
                </a:solidFill>
              </a:rPr>
              <a:t>Example</a:t>
            </a:r>
          </a:p>
          <a:p>
            <a:pPr marL="0" lvl="0" indent="0" defTabSz="914400" eaLnBrk="0" fontAlgn="base" hangingPunct="0">
              <a:lnSpc>
                <a:spcPct val="150000"/>
              </a:lnSpc>
              <a:spcBef>
                <a:spcPct val="0"/>
              </a:spcBef>
              <a:spcAft>
                <a:spcPct val="0"/>
              </a:spcAft>
              <a:buClrTx/>
              <a:buSzTx/>
              <a:buNone/>
            </a:pPr>
            <a:r>
              <a:rPr lang="en-US" altLang="en-US" dirty="0">
                <a:solidFill>
                  <a:schemeClr val="tx1"/>
                </a:solidFill>
              </a:rPr>
              <a:t>Google Maps</a:t>
            </a:r>
          </a:p>
          <a:p>
            <a:pPr marL="0" lvl="0" indent="0" defTabSz="914400" eaLnBrk="0" fontAlgn="base" hangingPunct="0">
              <a:lnSpc>
                <a:spcPct val="150000"/>
              </a:lnSpc>
              <a:spcBef>
                <a:spcPct val="0"/>
              </a:spcBef>
              <a:spcAft>
                <a:spcPct val="0"/>
              </a:spcAft>
              <a:buClrTx/>
              <a:buSzTx/>
              <a:buNone/>
            </a:pPr>
            <a:r>
              <a:rPr lang="en-US" altLang="en-US" dirty="0">
                <a:solidFill>
                  <a:schemeClr val="tx1"/>
                </a:solidFill>
              </a:rPr>
              <a:t>Every user continuously shares</a:t>
            </a:r>
          </a:p>
          <a:p>
            <a:pPr marL="0" lvl="0" indent="0" defTabSz="914400" eaLnBrk="0" fontAlgn="base" hangingPunct="0">
              <a:lnSpc>
                <a:spcPct val="150000"/>
              </a:lnSpc>
              <a:spcBef>
                <a:spcPct val="0"/>
              </a:spcBef>
              <a:spcAft>
                <a:spcPct val="0"/>
              </a:spcAft>
              <a:buClrTx/>
              <a:buSzTx/>
              <a:buFontTx/>
              <a:buChar char="•"/>
            </a:pPr>
            <a:r>
              <a:rPr lang="en-US" altLang="en-US" dirty="0">
                <a:solidFill>
                  <a:schemeClr val="tx1"/>
                </a:solidFill>
              </a:rPr>
              <a:t>Speed </a:t>
            </a:r>
          </a:p>
          <a:p>
            <a:pPr marL="0" lvl="0" indent="0" defTabSz="914400" eaLnBrk="0" fontAlgn="base" hangingPunct="0">
              <a:lnSpc>
                <a:spcPct val="150000"/>
              </a:lnSpc>
              <a:spcBef>
                <a:spcPct val="0"/>
              </a:spcBef>
              <a:spcAft>
                <a:spcPct val="0"/>
              </a:spcAft>
              <a:buClrTx/>
              <a:buSzTx/>
              <a:buFontTx/>
              <a:buChar char="•"/>
            </a:pPr>
            <a:r>
              <a:rPr lang="en-US" altLang="en-US" dirty="0">
                <a:solidFill>
                  <a:schemeClr val="tx1"/>
                </a:solidFill>
              </a:rPr>
              <a:t>Traffic </a:t>
            </a:r>
          </a:p>
          <a:p>
            <a:pPr marL="0" lvl="0" indent="0" defTabSz="914400" eaLnBrk="0" fontAlgn="base" hangingPunct="0">
              <a:lnSpc>
                <a:spcPct val="150000"/>
              </a:lnSpc>
              <a:spcBef>
                <a:spcPct val="0"/>
              </a:spcBef>
              <a:spcAft>
                <a:spcPct val="0"/>
              </a:spcAft>
              <a:buClrTx/>
              <a:buSzTx/>
              <a:buFontTx/>
              <a:buChar char="•"/>
            </a:pPr>
            <a:r>
              <a:rPr lang="en-US" altLang="en-US" dirty="0">
                <a:solidFill>
                  <a:schemeClr val="tx1"/>
                </a:solidFill>
              </a:rPr>
              <a:t>Location </a:t>
            </a:r>
          </a:p>
          <a:p>
            <a:pPr marL="0" lvl="0" indent="0" defTabSz="914400" eaLnBrk="0" fontAlgn="base" hangingPunct="0">
              <a:lnSpc>
                <a:spcPct val="150000"/>
              </a:lnSpc>
              <a:spcBef>
                <a:spcPct val="0"/>
              </a:spcBef>
              <a:spcAft>
                <a:spcPct val="0"/>
              </a:spcAft>
              <a:buClrTx/>
              <a:buSzTx/>
              <a:buNone/>
            </a:pPr>
            <a:r>
              <a:rPr lang="en-US" altLang="en-US" dirty="0">
                <a:solidFill>
                  <a:schemeClr val="tx1"/>
                </a:solidFill>
              </a:rPr>
              <a:t>Google combines millions of users' data to predict traffic congestion.</a:t>
            </a:r>
          </a:p>
          <a:p>
            <a:pPr marL="0" lvl="0" indent="0" defTabSz="914400" eaLnBrk="0" fontAlgn="base" hangingPunct="0">
              <a:lnSpc>
                <a:spcPct val="150000"/>
              </a:lnSpc>
              <a:spcBef>
                <a:spcPct val="0"/>
              </a:spcBef>
              <a:spcAft>
                <a:spcPct val="0"/>
              </a:spcAft>
              <a:buClrTx/>
              <a:buSzTx/>
              <a:buNone/>
            </a:pPr>
            <a:endParaRPr lang="en-US" altLang="en-US" b="1" dirty="0" smtClean="0">
              <a:solidFill>
                <a:schemeClr val="tx1"/>
              </a:solidFill>
            </a:endParaRPr>
          </a:p>
          <a:p>
            <a:pPr marL="0" lvl="0" indent="0" defTabSz="914400" eaLnBrk="0" fontAlgn="base" hangingPunct="0">
              <a:lnSpc>
                <a:spcPct val="150000"/>
              </a:lnSpc>
              <a:spcBef>
                <a:spcPct val="0"/>
              </a:spcBef>
              <a:spcAft>
                <a:spcPct val="0"/>
              </a:spcAft>
              <a:buClrTx/>
              <a:buSzTx/>
              <a:buNone/>
            </a:pPr>
            <a:r>
              <a:rPr lang="en-US" altLang="en-US" b="1" dirty="0" smtClean="0">
                <a:solidFill>
                  <a:schemeClr val="tx1"/>
                </a:solidFill>
              </a:rPr>
              <a:t>Applications</a:t>
            </a:r>
            <a:endParaRPr lang="en-US" altLang="en-US" b="1" dirty="0">
              <a:solidFill>
                <a:schemeClr val="tx1"/>
              </a:solidFill>
            </a:endParaRPr>
          </a:p>
          <a:p>
            <a:pPr marL="0" lvl="0" indent="0" defTabSz="914400" eaLnBrk="0" fontAlgn="base" hangingPunct="0">
              <a:lnSpc>
                <a:spcPct val="150000"/>
              </a:lnSpc>
              <a:spcBef>
                <a:spcPct val="0"/>
              </a:spcBef>
              <a:spcAft>
                <a:spcPct val="0"/>
              </a:spcAft>
              <a:buClrTx/>
              <a:buSzTx/>
              <a:buFontTx/>
              <a:buChar char="•"/>
            </a:pPr>
            <a:r>
              <a:rPr lang="en-US" altLang="en-US" dirty="0">
                <a:solidFill>
                  <a:schemeClr val="tx1"/>
                </a:solidFill>
              </a:rPr>
              <a:t>Ride-sharing </a:t>
            </a:r>
          </a:p>
          <a:p>
            <a:pPr marL="0" lvl="0" indent="0" defTabSz="914400" eaLnBrk="0" fontAlgn="base" hangingPunct="0">
              <a:lnSpc>
                <a:spcPct val="150000"/>
              </a:lnSpc>
              <a:spcBef>
                <a:spcPct val="0"/>
              </a:spcBef>
              <a:spcAft>
                <a:spcPct val="0"/>
              </a:spcAft>
              <a:buClrTx/>
              <a:buSzTx/>
              <a:buFontTx/>
              <a:buChar char="•"/>
            </a:pPr>
            <a:r>
              <a:rPr lang="en-US" altLang="en-US" dirty="0">
                <a:solidFill>
                  <a:schemeClr val="tx1"/>
                </a:solidFill>
              </a:rPr>
              <a:t>Food delivery </a:t>
            </a:r>
          </a:p>
          <a:p>
            <a:pPr marL="0" lvl="0" indent="0" defTabSz="914400" eaLnBrk="0" fontAlgn="base" hangingPunct="0">
              <a:lnSpc>
                <a:spcPct val="150000"/>
              </a:lnSpc>
              <a:spcBef>
                <a:spcPct val="0"/>
              </a:spcBef>
              <a:spcAft>
                <a:spcPct val="0"/>
              </a:spcAft>
              <a:buClrTx/>
              <a:buSzTx/>
              <a:buFontTx/>
              <a:buChar char="•"/>
            </a:pPr>
            <a:r>
              <a:rPr lang="en-US" altLang="en-US" dirty="0">
                <a:solidFill>
                  <a:schemeClr val="tx1"/>
                </a:solidFill>
              </a:rPr>
              <a:t>Navigation </a:t>
            </a:r>
          </a:p>
          <a:p>
            <a:pPr marL="0" lvl="0" indent="0" defTabSz="914400" eaLnBrk="0" fontAlgn="base" hangingPunct="0">
              <a:lnSpc>
                <a:spcPct val="150000"/>
              </a:lnSpc>
              <a:spcBef>
                <a:spcPct val="0"/>
              </a:spcBef>
              <a:spcAft>
                <a:spcPct val="0"/>
              </a:spcAft>
              <a:buClrTx/>
              <a:buSzTx/>
              <a:buFontTx/>
              <a:buChar char="•"/>
            </a:pPr>
            <a:r>
              <a:rPr lang="en-US" altLang="en-US" dirty="0">
                <a:solidFill>
                  <a:schemeClr val="tx1"/>
                </a:solidFill>
              </a:rPr>
              <a:t>Fitness tracking</a:t>
            </a:r>
          </a:p>
          <a:p>
            <a:pPr marL="0" lvl="0" indent="0" defTabSz="914400" eaLnBrk="0" fontAlgn="base" hangingPunct="0">
              <a:lnSpc>
                <a:spcPct val="150000"/>
              </a:lnSpc>
              <a:spcBef>
                <a:spcPct val="0"/>
              </a:spcBef>
              <a:spcAft>
                <a:spcPct val="0"/>
              </a:spcAft>
              <a:buClrTx/>
              <a:buSzTx/>
              <a:buNone/>
            </a:pPr>
            <a:endParaRPr lang="en-US" altLang="en-US" dirty="0">
              <a:solidFill>
                <a:schemeClr val="tx1"/>
              </a:solidFill>
            </a:endParaRPr>
          </a:p>
          <a:p>
            <a:pPr>
              <a:lnSpc>
                <a:spcPct val="150000"/>
              </a:lnSpc>
            </a:pPr>
            <a:endParaRPr lang="en-US" dirty="0"/>
          </a:p>
        </p:txBody>
      </p:sp>
      <p:sp>
        <p:nvSpPr>
          <p:cNvPr id="8" name="Rectangle 5"/>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430198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 7: IoT (Internet of Things)</a:t>
            </a:r>
          </a:p>
        </p:txBody>
      </p:sp>
      <p:sp>
        <p:nvSpPr>
          <p:cNvPr id="3" name="Content Placeholder 2"/>
          <p:cNvSpPr>
            <a:spLocks noGrp="1"/>
          </p:cNvSpPr>
          <p:nvPr>
            <p:ph idx="1"/>
          </p:nvPr>
        </p:nvSpPr>
        <p:spPr/>
        <p:txBody>
          <a:bodyPr/>
          <a:lstStyle/>
          <a:p>
            <a:r>
              <a:rPr lang="en-US" dirty="0"/>
              <a:t>Machines also started generating data</a:t>
            </a:r>
            <a:r>
              <a:rPr lang="en-US" dirty="0" smtClean="0"/>
              <a:t>.</a:t>
            </a:r>
          </a:p>
          <a:p>
            <a:r>
              <a:rPr lang="en-US" b="1" dirty="0"/>
              <a:t>Devices</a:t>
            </a:r>
          </a:p>
          <a:p>
            <a:r>
              <a:rPr lang="en-US" dirty="0"/>
              <a:t>Smart watches </a:t>
            </a:r>
          </a:p>
          <a:p>
            <a:r>
              <a:rPr lang="en-US" dirty="0"/>
              <a:t>Smart TVs </a:t>
            </a:r>
          </a:p>
          <a:p>
            <a:r>
              <a:rPr lang="en-US" dirty="0"/>
              <a:t>Smart homes </a:t>
            </a:r>
          </a:p>
          <a:p>
            <a:r>
              <a:rPr lang="en-US" dirty="0"/>
              <a:t>Smart factories </a:t>
            </a:r>
          </a:p>
          <a:p>
            <a:r>
              <a:rPr lang="en-US" dirty="0"/>
              <a:t>Smart agriculture </a:t>
            </a:r>
          </a:p>
          <a:p>
            <a:r>
              <a:rPr lang="en-US" dirty="0"/>
              <a:t>Connected cars</a:t>
            </a:r>
          </a:p>
          <a:p>
            <a:endParaRPr lang="en-US" dirty="0"/>
          </a:p>
        </p:txBody>
      </p:sp>
    </p:spTree>
    <p:extLst>
      <p:ext uri="{BB962C8B-B14F-4D97-AF65-F5344CB8AC3E}">
        <p14:creationId xmlns:p14="http://schemas.microsoft.com/office/powerpoint/2010/main" val="128238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837127"/>
            <a:ext cx="8596668" cy="5204235"/>
          </a:xfrm>
        </p:spPr>
        <p:txBody>
          <a:bodyPr>
            <a:normAutofit/>
          </a:bodyPr>
          <a:lstStyle/>
          <a:p>
            <a:r>
              <a:rPr lang="en-US" b="1" dirty="0"/>
              <a:t>Example</a:t>
            </a:r>
          </a:p>
          <a:p>
            <a:r>
              <a:rPr lang="en-US" dirty="0"/>
              <a:t>Smart Factory</a:t>
            </a:r>
          </a:p>
          <a:p>
            <a:r>
              <a:rPr lang="en-US" dirty="0"/>
              <a:t>Thousands of sensors measure</a:t>
            </a:r>
          </a:p>
          <a:p>
            <a:r>
              <a:rPr lang="en-US" dirty="0"/>
              <a:t>Temperature </a:t>
            </a:r>
          </a:p>
          <a:p>
            <a:r>
              <a:rPr lang="en-US" dirty="0"/>
              <a:t>Pressure </a:t>
            </a:r>
          </a:p>
          <a:p>
            <a:r>
              <a:rPr lang="en-US" dirty="0"/>
              <a:t>Machine vibration </a:t>
            </a:r>
          </a:p>
          <a:p>
            <a:r>
              <a:rPr lang="en-US" dirty="0"/>
              <a:t>Power consumption </a:t>
            </a:r>
          </a:p>
          <a:p>
            <a:r>
              <a:rPr lang="en-US" dirty="0"/>
              <a:t>every second.</a:t>
            </a:r>
          </a:p>
          <a:p>
            <a:r>
              <a:rPr lang="en-US" dirty="0"/>
              <a:t>This generates terabytes of sensor data daily.</a:t>
            </a:r>
          </a:p>
          <a:p>
            <a:r>
              <a:rPr lang="en-US" b="1" dirty="0"/>
              <a:t>Applications</a:t>
            </a:r>
          </a:p>
          <a:p>
            <a:r>
              <a:rPr lang="en-US" dirty="0"/>
              <a:t>Predictive Maintenance</a:t>
            </a:r>
          </a:p>
          <a:p>
            <a:r>
              <a:rPr lang="en-US" dirty="0"/>
              <a:t>Instead of repairing machines after failure,</a:t>
            </a:r>
          </a:p>
          <a:p>
            <a:r>
              <a:rPr lang="en-US" dirty="0"/>
              <a:t>AI predicts failures beforehand.</a:t>
            </a:r>
          </a:p>
          <a:p>
            <a:endParaRPr lang="en-US" dirty="0"/>
          </a:p>
        </p:txBody>
      </p:sp>
    </p:spTree>
    <p:extLst>
      <p:ext uri="{BB962C8B-B14F-4D97-AF65-F5344CB8AC3E}">
        <p14:creationId xmlns:p14="http://schemas.microsoft.com/office/powerpoint/2010/main" val="27717281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66671"/>
            <a:ext cx="8596668" cy="5474692"/>
          </a:xfrm>
        </p:spPr>
        <p:txBody>
          <a:bodyPr>
            <a:normAutofit fontScale="92500" lnSpcReduction="10000"/>
          </a:bodyPr>
          <a:lstStyle/>
          <a:p>
            <a:r>
              <a:rPr lang="en-US" b="1" dirty="0"/>
              <a:t>Stage 8: Cloud Computing Era</a:t>
            </a:r>
          </a:p>
          <a:p>
            <a:r>
              <a:rPr lang="en-US" dirty="0"/>
              <a:t>Cloud platforms eliminated the need for companies to buy expensive servers</a:t>
            </a:r>
            <a:r>
              <a:rPr lang="en-US" dirty="0" smtClean="0"/>
              <a:t>.</a:t>
            </a:r>
          </a:p>
          <a:p>
            <a:r>
              <a:rPr lang="en-US" b="1" dirty="0"/>
              <a:t>Popular Platforms</a:t>
            </a:r>
          </a:p>
          <a:p>
            <a:r>
              <a:rPr lang="en-US" dirty="0"/>
              <a:t>AWS </a:t>
            </a:r>
          </a:p>
          <a:p>
            <a:r>
              <a:rPr lang="en-US" dirty="0"/>
              <a:t>Microsoft Azure </a:t>
            </a:r>
          </a:p>
          <a:p>
            <a:r>
              <a:rPr lang="en-US" dirty="0"/>
              <a:t>Google Cloud</a:t>
            </a:r>
          </a:p>
          <a:p>
            <a:r>
              <a:rPr lang="en-US" b="1" dirty="0"/>
              <a:t>Benefits</a:t>
            </a:r>
          </a:p>
          <a:p>
            <a:r>
              <a:rPr lang="en-US" dirty="0"/>
              <a:t>Unlimited storage</a:t>
            </a:r>
          </a:p>
          <a:p>
            <a:r>
              <a:rPr lang="en-US" dirty="0"/>
              <a:t>Pay-as-you-go</a:t>
            </a:r>
          </a:p>
          <a:p>
            <a:r>
              <a:rPr lang="en-US" dirty="0"/>
              <a:t>Easy scalability</a:t>
            </a:r>
          </a:p>
          <a:p>
            <a:r>
              <a:rPr lang="en-US" dirty="0"/>
              <a:t>Global accessibility</a:t>
            </a:r>
          </a:p>
          <a:p>
            <a:r>
              <a:rPr lang="en-US" b="1" dirty="0"/>
              <a:t>Example</a:t>
            </a:r>
          </a:p>
          <a:p>
            <a:r>
              <a:rPr lang="en-US" dirty="0"/>
              <a:t>Netflix stores</a:t>
            </a:r>
          </a:p>
          <a:p>
            <a:r>
              <a:rPr lang="en-US" dirty="0"/>
              <a:t>Thousands of </a:t>
            </a:r>
            <a:r>
              <a:rPr lang="en-US" dirty="0" err="1" smtClean="0"/>
              <a:t>movies,Millions</a:t>
            </a:r>
            <a:r>
              <a:rPr lang="en-US" dirty="0" smtClean="0"/>
              <a:t> </a:t>
            </a:r>
            <a:r>
              <a:rPr lang="en-US" dirty="0"/>
              <a:t>of customer </a:t>
            </a:r>
            <a:r>
              <a:rPr lang="en-US" dirty="0" err="1" smtClean="0"/>
              <a:t>records,Recommendation</a:t>
            </a:r>
            <a:r>
              <a:rPr lang="en-US" dirty="0" smtClean="0"/>
              <a:t> data on </a:t>
            </a:r>
            <a:r>
              <a:rPr lang="en-US" dirty="0"/>
              <a:t>cloud infrastructure.</a:t>
            </a:r>
          </a:p>
          <a:p>
            <a:endParaRPr lang="en-US" dirty="0"/>
          </a:p>
          <a:p>
            <a:endParaRPr lang="en-US" dirty="0"/>
          </a:p>
        </p:txBody>
      </p:sp>
    </p:spTree>
    <p:extLst>
      <p:ext uri="{BB962C8B-B14F-4D97-AF65-F5344CB8AC3E}">
        <p14:creationId xmlns:p14="http://schemas.microsoft.com/office/powerpoint/2010/main" val="4235895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66670"/>
            <a:ext cx="8596668" cy="6181859"/>
          </a:xfrm>
        </p:spPr>
        <p:txBody>
          <a:bodyPr>
            <a:normAutofit fontScale="85000" lnSpcReduction="20000"/>
          </a:bodyPr>
          <a:lstStyle/>
          <a:p>
            <a:r>
              <a:rPr lang="en-US" b="1" dirty="0"/>
              <a:t>Stage 9: Artificial Intelligence Era (2020–Present)</a:t>
            </a:r>
          </a:p>
          <a:p>
            <a:r>
              <a:rPr lang="en-US" dirty="0"/>
              <a:t>Big Data and AI now work together.</a:t>
            </a:r>
          </a:p>
          <a:p>
            <a:r>
              <a:rPr lang="en-US" dirty="0"/>
              <a:t>Without Big </a:t>
            </a:r>
            <a:r>
              <a:rPr lang="en-US" dirty="0" smtClean="0"/>
              <a:t>Data, Artificial </a:t>
            </a:r>
            <a:r>
              <a:rPr lang="en-US" dirty="0"/>
              <a:t>Intelligence cannot learn effectively.</a:t>
            </a:r>
          </a:p>
          <a:p>
            <a:r>
              <a:rPr lang="en-US" b="1" dirty="0"/>
              <a:t>AI Needs Data</a:t>
            </a:r>
          </a:p>
          <a:p>
            <a:r>
              <a:rPr lang="en-US" dirty="0"/>
              <a:t>Examples</a:t>
            </a:r>
          </a:p>
          <a:p>
            <a:r>
              <a:rPr lang="en-US" dirty="0"/>
              <a:t>Image Recognition</a:t>
            </a:r>
          </a:p>
          <a:p>
            <a:r>
              <a:rPr lang="en-US" dirty="0"/>
              <a:t>Millions of images</a:t>
            </a:r>
          </a:p>
          <a:p>
            <a:r>
              <a:rPr lang="en-US" dirty="0"/>
              <a:t>Voice Recognition</a:t>
            </a:r>
          </a:p>
          <a:p>
            <a:r>
              <a:rPr lang="en-US" dirty="0"/>
              <a:t>Thousands of hours of speech</a:t>
            </a:r>
          </a:p>
          <a:p>
            <a:r>
              <a:rPr lang="en-US" dirty="0"/>
              <a:t>Language Models</a:t>
            </a:r>
          </a:p>
          <a:p>
            <a:r>
              <a:rPr lang="en-US" dirty="0"/>
              <a:t>Trillions of words</a:t>
            </a:r>
          </a:p>
          <a:p>
            <a:r>
              <a:rPr lang="en-US" dirty="0"/>
              <a:t>Medical Diagnosis</a:t>
            </a:r>
          </a:p>
          <a:p>
            <a:r>
              <a:rPr lang="en-US" dirty="0"/>
              <a:t>Millions of patient records</a:t>
            </a:r>
          </a:p>
          <a:p>
            <a:r>
              <a:rPr lang="en-US" b="1" dirty="0"/>
              <a:t>Example</a:t>
            </a:r>
          </a:p>
          <a:p>
            <a:r>
              <a:rPr lang="en-US" dirty="0"/>
              <a:t>A hospital AI system learns from</a:t>
            </a:r>
          </a:p>
          <a:p>
            <a:r>
              <a:rPr lang="en-US" dirty="0"/>
              <a:t>X-ray images </a:t>
            </a:r>
          </a:p>
          <a:p>
            <a:r>
              <a:rPr lang="en-US" dirty="0"/>
              <a:t>MRI scans </a:t>
            </a:r>
          </a:p>
          <a:p>
            <a:r>
              <a:rPr lang="en-US" dirty="0"/>
              <a:t>Patient reports </a:t>
            </a:r>
          </a:p>
          <a:p>
            <a:r>
              <a:rPr lang="en-US" dirty="0"/>
              <a:t>Blood tests </a:t>
            </a:r>
            <a:r>
              <a:rPr lang="en-US" dirty="0" smtClean="0"/>
              <a:t> to </a:t>
            </a:r>
            <a:r>
              <a:rPr lang="en-US" dirty="0"/>
              <a:t>detect diseases.</a:t>
            </a:r>
          </a:p>
          <a:p>
            <a:endParaRPr lang="en-US" dirty="0"/>
          </a:p>
        </p:txBody>
      </p:sp>
    </p:spTree>
    <p:extLst>
      <p:ext uri="{BB962C8B-B14F-4D97-AF65-F5344CB8AC3E}">
        <p14:creationId xmlns:p14="http://schemas.microsoft.com/office/powerpoint/2010/main" val="389536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BIG DATA EVOLUTION -SUMMARY</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78037098"/>
              </p:ext>
            </p:extLst>
          </p:nvPr>
        </p:nvGraphicFramePr>
        <p:xfrm>
          <a:off x="1081824" y="1519705"/>
          <a:ext cx="8809150" cy="4056848"/>
        </p:xfrm>
        <a:graphic>
          <a:graphicData uri="http://schemas.openxmlformats.org/drawingml/2006/table">
            <a:tbl>
              <a:tblPr>
                <a:tableStyleId>{3C2FFA5D-87B4-456A-9821-1D502468CF0F}</a:tableStyleId>
              </a:tblPr>
              <a:tblGrid>
                <a:gridCol w="1761830"/>
                <a:gridCol w="1761830"/>
                <a:gridCol w="1761830"/>
                <a:gridCol w="1761830"/>
                <a:gridCol w="1761830"/>
              </a:tblGrid>
              <a:tr h="516264">
                <a:tc>
                  <a:txBody>
                    <a:bodyPr/>
                    <a:lstStyle/>
                    <a:p>
                      <a:r>
                        <a:rPr lang="en-US" sz="1400" dirty="0"/>
                        <a:t>Period</a:t>
                      </a:r>
                    </a:p>
                  </a:txBody>
                  <a:tcPr marL="70572" marR="70572" marT="35286" marB="35286" anchor="ctr">
                    <a:solidFill>
                      <a:srgbClr val="FFFF00"/>
                    </a:solidFill>
                  </a:tcPr>
                </a:tc>
                <a:tc>
                  <a:txBody>
                    <a:bodyPr/>
                    <a:lstStyle/>
                    <a:p>
                      <a:r>
                        <a:rPr lang="en-US" sz="1400" dirty="0"/>
                        <a:t>Technology</a:t>
                      </a:r>
                    </a:p>
                  </a:txBody>
                  <a:tcPr marL="70572" marR="70572" marT="35286" marB="35286" anchor="ctr">
                    <a:solidFill>
                      <a:srgbClr val="FFFF00"/>
                    </a:solidFill>
                  </a:tcPr>
                </a:tc>
                <a:tc>
                  <a:txBody>
                    <a:bodyPr/>
                    <a:lstStyle/>
                    <a:p>
                      <a:r>
                        <a:rPr lang="en-US" sz="1400" dirty="0"/>
                        <a:t>Data Type</a:t>
                      </a:r>
                    </a:p>
                  </a:txBody>
                  <a:tcPr marL="70572" marR="70572" marT="35286" marB="35286" anchor="ctr">
                    <a:solidFill>
                      <a:srgbClr val="FFFF00"/>
                    </a:solidFill>
                  </a:tcPr>
                </a:tc>
                <a:tc>
                  <a:txBody>
                    <a:bodyPr/>
                    <a:lstStyle/>
                    <a:p>
                      <a:r>
                        <a:rPr lang="en-US" sz="1400" dirty="0"/>
                        <a:t>Limitation</a:t>
                      </a:r>
                    </a:p>
                  </a:txBody>
                  <a:tcPr marL="70572" marR="70572" marT="35286" marB="35286" anchor="ctr">
                    <a:solidFill>
                      <a:srgbClr val="FFFF00"/>
                    </a:solidFill>
                  </a:tcPr>
                </a:tc>
                <a:tc>
                  <a:txBody>
                    <a:bodyPr/>
                    <a:lstStyle/>
                    <a:p>
                      <a:r>
                        <a:rPr lang="en-US" sz="1400" dirty="0"/>
                        <a:t>Real-Time Example</a:t>
                      </a:r>
                    </a:p>
                  </a:txBody>
                  <a:tcPr marL="70572" marR="70572" marT="35286" marB="35286" anchor="ctr">
                    <a:solidFill>
                      <a:srgbClr val="FFFF00"/>
                    </a:solidFill>
                  </a:tcPr>
                </a:tc>
              </a:tr>
              <a:tr h="516264">
                <a:tc>
                  <a:txBody>
                    <a:bodyPr/>
                    <a:lstStyle/>
                    <a:p>
                      <a:r>
                        <a:rPr lang="en-US" sz="1400" dirty="0"/>
                        <a:t>1960–1980</a:t>
                      </a:r>
                    </a:p>
                  </a:txBody>
                  <a:tcPr marL="70572" marR="70572" marT="35286" marB="35286" anchor="ctr"/>
                </a:tc>
                <a:tc>
                  <a:txBody>
                    <a:bodyPr/>
                    <a:lstStyle/>
                    <a:p>
                      <a:r>
                        <a:rPr lang="en-US" sz="1400"/>
                        <a:t>Files &amp; Mainframes</a:t>
                      </a:r>
                    </a:p>
                  </a:txBody>
                  <a:tcPr marL="70572" marR="70572" marT="35286" marB="35286" anchor="ctr"/>
                </a:tc>
                <a:tc>
                  <a:txBody>
                    <a:bodyPr/>
                    <a:lstStyle/>
                    <a:p>
                      <a:r>
                        <a:rPr lang="en-US" sz="1400" dirty="0"/>
                        <a:t>Structured</a:t>
                      </a:r>
                    </a:p>
                  </a:txBody>
                  <a:tcPr marL="70572" marR="70572" marT="35286" marB="35286" anchor="ctr"/>
                </a:tc>
                <a:tc>
                  <a:txBody>
                    <a:bodyPr/>
                    <a:lstStyle/>
                    <a:p>
                      <a:r>
                        <a:rPr lang="en-US" sz="1400" dirty="0"/>
                        <a:t>Small storage</a:t>
                      </a:r>
                    </a:p>
                  </a:txBody>
                  <a:tcPr marL="70572" marR="70572" marT="35286" marB="35286" anchor="ctr"/>
                </a:tc>
                <a:tc>
                  <a:txBody>
                    <a:bodyPr/>
                    <a:lstStyle/>
                    <a:p>
                      <a:r>
                        <a:rPr lang="en-US" sz="1400"/>
                        <a:t>Payroll System</a:t>
                      </a:r>
                    </a:p>
                  </a:txBody>
                  <a:tcPr marL="70572" marR="70572" marT="35286" marB="35286" anchor="ctr"/>
                </a:tc>
              </a:tr>
              <a:tr h="516264">
                <a:tc>
                  <a:txBody>
                    <a:bodyPr/>
                    <a:lstStyle/>
                    <a:p>
                      <a:r>
                        <a:rPr lang="en-US" sz="1400" dirty="0"/>
                        <a:t>1980–2000</a:t>
                      </a:r>
                    </a:p>
                  </a:txBody>
                  <a:tcPr marL="70572" marR="70572" marT="35286" marB="35286" anchor="ctr"/>
                </a:tc>
                <a:tc>
                  <a:txBody>
                    <a:bodyPr/>
                    <a:lstStyle/>
                    <a:p>
                      <a:r>
                        <a:rPr lang="en-US" sz="1400" dirty="0"/>
                        <a:t>RDBMS</a:t>
                      </a:r>
                    </a:p>
                  </a:txBody>
                  <a:tcPr marL="70572" marR="70572" marT="35286" marB="35286" anchor="ctr"/>
                </a:tc>
                <a:tc>
                  <a:txBody>
                    <a:bodyPr/>
                    <a:lstStyle/>
                    <a:p>
                      <a:r>
                        <a:rPr lang="en-US" sz="1400" dirty="0"/>
                        <a:t>Structured</a:t>
                      </a:r>
                    </a:p>
                  </a:txBody>
                  <a:tcPr marL="70572" marR="70572" marT="35286" marB="35286" anchor="ctr"/>
                </a:tc>
                <a:tc>
                  <a:txBody>
                    <a:bodyPr/>
                    <a:lstStyle/>
                    <a:p>
                      <a:r>
                        <a:rPr lang="en-US" sz="1400"/>
                        <a:t>Cannot handle massive data</a:t>
                      </a:r>
                    </a:p>
                  </a:txBody>
                  <a:tcPr marL="70572" marR="70572" marT="35286" marB="35286" anchor="ctr"/>
                </a:tc>
                <a:tc>
                  <a:txBody>
                    <a:bodyPr/>
                    <a:lstStyle/>
                    <a:p>
                      <a:r>
                        <a:rPr lang="en-US" sz="1400"/>
                        <a:t>Bank Database</a:t>
                      </a:r>
                    </a:p>
                  </a:txBody>
                  <a:tcPr marL="70572" marR="70572" marT="35286" marB="35286" anchor="ctr"/>
                </a:tc>
              </a:tr>
              <a:tr h="516264">
                <a:tc>
                  <a:txBody>
                    <a:bodyPr/>
                    <a:lstStyle/>
                    <a:p>
                      <a:r>
                        <a:rPr lang="en-US" sz="1400"/>
                        <a:t>2000–2005</a:t>
                      </a:r>
                    </a:p>
                  </a:txBody>
                  <a:tcPr marL="70572" marR="70572" marT="35286" marB="35286" anchor="ctr"/>
                </a:tc>
                <a:tc>
                  <a:txBody>
                    <a:bodyPr/>
                    <a:lstStyle/>
                    <a:p>
                      <a:r>
                        <a:rPr lang="en-US" sz="1400" dirty="0"/>
                        <a:t>Internet</a:t>
                      </a:r>
                    </a:p>
                  </a:txBody>
                  <a:tcPr marL="70572" marR="70572" marT="35286" marB="35286" anchor="ctr"/>
                </a:tc>
                <a:tc>
                  <a:txBody>
                    <a:bodyPr/>
                    <a:lstStyle/>
                    <a:p>
                      <a:r>
                        <a:rPr lang="en-US" sz="1400"/>
                        <a:t>Semi-structured</a:t>
                      </a:r>
                    </a:p>
                  </a:txBody>
                  <a:tcPr marL="70572" marR="70572" marT="35286" marB="35286" anchor="ctr"/>
                </a:tc>
                <a:tc>
                  <a:txBody>
                    <a:bodyPr/>
                    <a:lstStyle/>
                    <a:p>
                      <a:r>
                        <a:rPr lang="en-US" sz="1400"/>
                        <a:t>Rapid growth</a:t>
                      </a:r>
                    </a:p>
                  </a:txBody>
                  <a:tcPr marL="70572" marR="70572" marT="35286" marB="35286" anchor="ctr"/>
                </a:tc>
                <a:tc>
                  <a:txBody>
                    <a:bodyPr/>
                    <a:lstStyle/>
                    <a:p>
                      <a:r>
                        <a:rPr lang="en-US" sz="1400"/>
                        <a:t>Google Search</a:t>
                      </a:r>
                    </a:p>
                  </a:txBody>
                  <a:tcPr marL="70572" marR="70572" marT="35286" marB="35286" anchor="ctr"/>
                </a:tc>
              </a:tr>
              <a:tr h="737764">
                <a:tc>
                  <a:txBody>
                    <a:bodyPr/>
                    <a:lstStyle/>
                    <a:p>
                      <a:r>
                        <a:rPr lang="en-US" sz="1400"/>
                        <a:t>2005–2010</a:t>
                      </a:r>
                    </a:p>
                  </a:txBody>
                  <a:tcPr marL="70572" marR="70572" marT="35286" marB="35286" anchor="ctr"/>
                </a:tc>
                <a:tc>
                  <a:txBody>
                    <a:bodyPr/>
                    <a:lstStyle/>
                    <a:p>
                      <a:r>
                        <a:rPr lang="en-US" sz="1400"/>
                        <a:t>Hadoop</a:t>
                      </a:r>
                    </a:p>
                  </a:txBody>
                  <a:tcPr marL="70572" marR="70572" marT="35286" marB="35286" anchor="ctr"/>
                </a:tc>
                <a:tc>
                  <a:txBody>
                    <a:bodyPr/>
                    <a:lstStyle/>
                    <a:p>
                      <a:r>
                        <a:rPr lang="en-US" sz="1400" dirty="0"/>
                        <a:t>Structured + Unstructured</a:t>
                      </a:r>
                    </a:p>
                  </a:txBody>
                  <a:tcPr marL="70572" marR="70572" marT="35286" marB="35286" anchor="ctr"/>
                </a:tc>
                <a:tc>
                  <a:txBody>
                    <a:bodyPr/>
                    <a:lstStyle/>
                    <a:p>
                      <a:r>
                        <a:rPr lang="en-US" sz="1400" dirty="0"/>
                        <a:t>Distributed computing introduced</a:t>
                      </a:r>
                    </a:p>
                  </a:txBody>
                  <a:tcPr marL="70572" marR="70572" marT="35286" marB="35286" anchor="ctr"/>
                </a:tc>
                <a:tc>
                  <a:txBody>
                    <a:bodyPr/>
                    <a:lstStyle/>
                    <a:p>
                      <a:r>
                        <a:rPr lang="en-US" sz="1400"/>
                        <a:t>Yahoo</a:t>
                      </a:r>
                    </a:p>
                  </a:txBody>
                  <a:tcPr marL="70572" marR="70572" marT="35286" marB="35286" anchor="ctr"/>
                </a:tc>
              </a:tr>
              <a:tr h="516264">
                <a:tc>
                  <a:txBody>
                    <a:bodyPr/>
                    <a:lstStyle/>
                    <a:p>
                      <a:r>
                        <a:rPr lang="en-US" sz="1400"/>
                        <a:t>2010–2020</a:t>
                      </a:r>
                    </a:p>
                  </a:txBody>
                  <a:tcPr marL="70572" marR="70572" marT="35286" marB="35286" anchor="ctr"/>
                </a:tc>
                <a:tc>
                  <a:txBody>
                    <a:bodyPr/>
                    <a:lstStyle/>
                    <a:p>
                      <a:r>
                        <a:rPr lang="en-US" sz="1400"/>
                        <a:t>Social Media</a:t>
                      </a:r>
                    </a:p>
                  </a:txBody>
                  <a:tcPr marL="70572" marR="70572" marT="35286" marB="35286" anchor="ctr"/>
                </a:tc>
                <a:tc>
                  <a:txBody>
                    <a:bodyPr/>
                    <a:lstStyle/>
                    <a:p>
                      <a:r>
                        <a:rPr lang="en-US" sz="1400"/>
                        <a:t>Images, Videos, Text</a:t>
                      </a:r>
                    </a:p>
                  </a:txBody>
                  <a:tcPr marL="70572" marR="70572" marT="35286" marB="35286" anchor="ctr"/>
                </a:tc>
                <a:tc>
                  <a:txBody>
                    <a:bodyPr/>
                    <a:lstStyle/>
                    <a:p>
                      <a:r>
                        <a:rPr lang="en-US" sz="1400" dirty="0"/>
                        <a:t>Huge data generation</a:t>
                      </a:r>
                    </a:p>
                  </a:txBody>
                  <a:tcPr marL="70572" marR="70572" marT="35286" marB="35286" anchor="ctr"/>
                </a:tc>
                <a:tc>
                  <a:txBody>
                    <a:bodyPr/>
                    <a:lstStyle/>
                    <a:p>
                      <a:r>
                        <a:rPr lang="en-US" sz="1400" dirty="0"/>
                        <a:t>Facebook, YouTube</a:t>
                      </a:r>
                    </a:p>
                  </a:txBody>
                  <a:tcPr marL="70572" marR="70572" marT="35286" marB="35286" anchor="ctr"/>
                </a:tc>
              </a:tr>
              <a:tr h="737764">
                <a:tc>
                  <a:txBody>
                    <a:bodyPr/>
                    <a:lstStyle/>
                    <a:p>
                      <a:r>
                        <a:rPr lang="en-US" sz="1400"/>
                        <a:t>2020–Present</a:t>
                      </a:r>
                    </a:p>
                  </a:txBody>
                  <a:tcPr marL="70572" marR="70572" marT="35286" marB="35286" anchor="ctr"/>
                </a:tc>
                <a:tc>
                  <a:txBody>
                    <a:bodyPr/>
                    <a:lstStyle/>
                    <a:p>
                      <a:r>
                        <a:rPr lang="en-US" sz="1400"/>
                        <a:t>Cloud + AI + IoT</a:t>
                      </a:r>
                    </a:p>
                  </a:txBody>
                  <a:tcPr marL="70572" marR="70572" marT="35286" marB="35286" anchor="ctr"/>
                </a:tc>
                <a:tc>
                  <a:txBody>
                    <a:bodyPr/>
                    <a:lstStyle/>
                    <a:p>
                      <a:r>
                        <a:rPr lang="en-US" sz="1400"/>
                        <a:t>All formats</a:t>
                      </a:r>
                    </a:p>
                  </a:txBody>
                  <a:tcPr marL="70572" marR="70572" marT="35286" marB="35286" anchor="ctr"/>
                </a:tc>
                <a:tc>
                  <a:txBody>
                    <a:bodyPr/>
                    <a:lstStyle/>
                    <a:p>
                      <a:r>
                        <a:rPr lang="en-US" sz="1400"/>
                        <a:t>Real-time analytics needed</a:t>
                      </a:r>
                    </a:p>
                  </a:txBody>
                  <a:tcPr marL="70572" marR="70572" marT="35286" marB="35286" anchor="ctr"/>
                </a:tc>
                <a:tc>
                  <a:txBody>
                    <a:bodyPr/>
                    <a:lstStyle/>
                    <a:p>
                      <a:r>
                        <a:rPr lang="en-US" sz="1400" dirty="0"/>
                        <a:t>Netflix, Smart Cities</a:t>
                      </a:r>
                    </a:p>
                  </a:txBody>
                  <a:tcPr marL="70572" marR="70572" marT="35286" marB="35286" anchor="ctr"/>
                </a:tc>
              </a:tr>
            </a:tbl>
          </a:graphicData>
        </a:graphic>
      </p:graphicFrame>
    </p:spTree>
    <p:extLst>
      <p:ext uri="{BB962C8B-B14F-4D97-AF65-F5344CB8AC3E}">
        <p14:creationId xmlns:p14="http://schemas.microsoft.com/office/powerpoint/2010/main" val="2575235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BIG DATA?</a:t>
            </a:r>
            <a:endParaRPr lang="en-US" dirty="0"/>
          </a:p>
        </p:txBody>
      </p:sp>
      <p:sp>
        <p:nvSpPr>
          <p:cNvPr id="3" name="Content Placeholder 2"/>
          <p:cNvSpPr>
            <a:spLocks noGrp="1"/>
          </p:cNvSpPr>
          <p:nvPr>
            <p:ph idx="1"/>
          </p:nvPr>
        </p:nvSpPr>
        <p:spPr>
          <a:xfrm>
            <a:off x="677334" y="1493949"/>
            <a:ext cx="8596668" cy="4547413"/>
          </a:xfrm>
        </p:spPr>
        <p:txBody>
          <a:bodyPr>
            <a:normAutofit/>
          </a:bodyPr>
          <a:lstStyle/>
          <a:p>
            <a:r>
              <a:rPr lang="en-US" dirty="0"/>
              <a:t>Big Data is a collection of extremely large datasets that grow exponentially and cannot be stored, managed, processed, or analyzed efficiently using traditional database management systems</a:t>
            </a:r>
            <a:r>
              <a:rPr lang="en-US" dirty="0" smtClean="0"/>
              <a:t>.</a:t>
            </a:r>
          </a:p>
          <a:p>
            <a:r>
              <a:rPr lang="en-US" dirty="0" smtClean="0"/>
              <a:t> </a:t>
            </a:r>
            <a:r>
              <a:rPr lang="en-US" dirty="0"/>
              <a:t>Big Data includes structured, semi-structured, and unstructured data generated at high speed from various sources</a:t>
            </a:r>
            <a:r>
              <a:rPr lang="en-US" dirty="0" smtClean="0"/>
              <a:t>.</a:t>
            </a:r>
          </a:p>
          <a:p>
            <a:r>
              <a:rPr lang="en-US" dirty="0"/>
              <a:t>Big Data is data that is too large, too fast, and too complex for traditional software to process efficiently. Therefore, special technologies like Hadoop, Spark, and NoSQL databases are required</a:t>
            </a:r>
            <a:r>
              <a:rPr lang="en-US" dirty="0" smtClean="0"/>
              <a:t>.</a:t>
            </a:r>
          </a:p>
          <a:p>
            <a:r>
              <a:rPr lang="en-US" dirty="0"/>
              <a:t>For example:</a:t>
            </a:r>
          </a:p>
          <a:p>
            <a:pPr lvl="1"/>
            <a:r>
              <a:rPr lang="en-US" dirty="0"/>
              <a:t>Millions of Google searches </a:t>
            </a:r>
          </a:p>
          <a:p>
            <a:pPr lvl="1"/>
            <a:r>
              <a:rPr lang="en-US" dirty="0"/>
              <a:t>Billions of WhatsApp messages </a:t>
            </a:r>
          </a:p>
          <a:p>
            <a:pPr lvl="1"/>
            <a:r>
              <a:rPr lang="en-US" dirty="0"/>
              <a:t>YouTube video uploads </a:t>
            </a:r>
          </a:p>
          <a:p>
            <a:pPr lvl="1"/>
            <a:r>
              <a:rPr lang="en-US" dirty="0"/>
              <a:t>Sensor readings from IoT devices</a:t>
            </a:r>
          </a:p>
          <a:p>
            <a:endParaRPr lang="en-US" dirty="0"/>
          </a:p>
        </p:txBody>
      </p:sp>
    </p:spTree>
    <p:extLst>
      <p:ext uri="{BB962C8B-B14F-4D97-AF65-F5344CB8AC3E}">
        <p14:creationId xmlns:p14="http://schemas.microsoft.com/office/powerpoint/2010/main" val="34913672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Data in Big Data</a:t>
            </a:r>
          </a:p>
        </p:txBody>
      </p:sp>
      <p:sp>
        <p:nvSpPr>
          <p:cNvPr id="3" name="Content Placeholder 2"/>
          <p:cNvSpPr>
            <a:spLocks noGrp="1"/>
          </p:cNvSpPr>
          <p:nvPr>
            <p:ph idx="1"/>
          </p:nvPr>
        </p:nvSpPr>
        <p:spPr/>
        <p:txBody>
          <a:bodyPr/>
          <a:lstStyle/>
          <a:p>
            <a:r>
              <a:rPr lang="en-US" b="1" dirty="0"/>
              <a:t>1. Structured Data</a:t>
            </a:r>
          </a:p>
          <a:p>
            <a:r>
              <a:rPr lang="en-US" dirty="0"/>
              <a:t>Data stored in rows and columns.</a:t>
            </a:r>
          </a:p>
          <a:p>
            <a:r>
              <a:rPr lang="en-US" b="1" dirty="0"/>
              <a:t>Examples</a:t>
            </a:r>
          </a:p>
          <a:p>
            <a:pPr lvl="1"/>
            <a:r>
              <a:rPr lang="en-US" dirty="0"/>
              <a:t>Banking database </a:t>
            </a:r>
          </a:p>
          <a:p>
            <a:pPr lvl="1"/>
            <a:r>
              <a:rPr lang="en-US" dirty="0"/>
              <a:t>Student database </a:t>
            </a:r>
          </a:p>
          <a:p>
            <a:pPr lvl="1"/>
            <a:r>
              <a:rPr lang="en-US" dirty="0"/>
              <a:t>Employee records</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651207030"/>
              </p:ext>
            </p:extLst>
          </p:nvPr>
        </p:nvGraphicFramePr>
        <p:xfrm>
          <a:off x="999835" y="4765856"/>
          <a:ext cx="8596311" cy="731520"/>
        </p:xfrm>
        <a:graphic>
          <a:graphicData uri="http://schemas.openxmlformats.org/drawingml/2006/table">
            <a:tbl>
              <a:tblPr>
                <a:tableStyleId>{69C7853C-536D-4A76-A0AE-DD22124D55A5}</a:tableStyleId>
              </a:tblPr>
              <a:tblGrid>
                <a:gridCol w="2865437"/>
                <a:gridCol w="2865437"/>
                <a:gridCol w="2865437"/>
              </a:tblGrid>
              <a:tr h="0">
                <a:tc>
                  <a:txBody>
                    <a:bodyPr/>
                    <a:lstStyle/>
                    <a:p>
                      <a:r>
                        <a:rPr lang="en-US"/>
                        <a:t>Roll No</a:t>
                      </a:r>
                    </a:p>
                  </a:txBody>
                  <a:tcPr anchor="ctr"/>
                </a:tc>
                <a:tc>
                  <a:txBody>
                    <a:bodyPr/>
                    <a:lstStyle/>
                    <a:p>
                      <a:r>
                        <a:rPr lang="en-US"/>
                        <a:t>Name</a:t>
                      </a:r>
                    </a:p>
                  </a:txBody>
                  <a:tcPr anchor="ctr"/>
                </a:tc>
                <a:tc>
                  <a:txBody>
                    <a:bodyPr/>
                    <a:lstStyle/>
                    <a:p>
                      <a:r>
                        <a:rPr lang="en-US"/>
                        <a:t>CGPA</a:t>
                      </a:r>
                    </a:p>
                  </a:txBody>
                  <a:tcPr anchor="ctr"/>
                </a:tc>
              </a:tr>
              <a:tr h="0">
                <a:tc>
                  <a:txBody>
                    <a:bodyPr/>
                    <a:lstStyle/>
                    <a:p>
                      <a:r>
                        <a:rPr lang="en-US"/>
                        <a:t>101</a:t>
                      </a:r>
                    </a:p>
                  </a:txBody>
                  <a:tcPr anchor="ctr"/>
                </a:tc>
                <a:tc>
                  <a:txBody>
                    <a:bodyPr/>
                    <a:lstStyle/>
                    <a:p>
                      <a:r>
                        <a:rPr lang="en-US"/>
                        <a:t>Anita</a:t>
                      </a:r>
                    </a:p>
                  </a:txBody>
                  <a:tcPr anchor="ctr"/>
                </a:tc>
                <a:tc>
                  <a:txBody>
                    <a:bodyPr/>
                    <a:lstStyle/>
                    <a:p>
                      <a:r>
                        <a:rPr lang="en-US" dirty="0"/>
                        <a:t>8.9</a:t>
                      </a:r>
                    </a:p>
                  </a:txBody>
                  <a:tcPr anchor="ctr"/>
                </a:tc>
              </a:tr>
            </a:tbl>
          </a:graphicData>
        </a:graphic>
      </p:graphicFrame>
    </p:spTree>
    <p:extLst>
      <p:ext uri="{BB962C8B-B14F-4D97-AF65-F5344CB8AC3E}">
        <p14:creationId xmlns:p14="http://schemas.microsoft.com/office/powerpoint/2010/main" val="3074074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66671"/>
            <a:ext cx="8596668" cy="5474692"/>
          </a:xfrm>
        </p:spPr>
        <p:txBody>
          <a:bodyPr/>
          <a:lstStyle/>
          <a:p>
            <a:pPr marL="0" indent="0">
              <a:buNone/>
            </a:pPr>
            <a:r>
              <a:rPr lang="en-US" b="1" dirty="0"/>
              <a:t>2. Semi-Structured Data</a:t>
            </a:r>
          </a:p>
          <a:p>
            <a:r>
              <a:rPr lang="en-US" dirty="0"/>
              <a:t>Contains tags but does not follow a fixed table structure.</a:t>
            </a:r>
          </a:p>
          <a:p>
            <a:r>
              <a:rPr lang="en-US" dirty="0"/>
              <a:t>Examples</a:t>
            </a:r>
          </a:p>
          <a:p>
            <a:r>
              <a:rPr lang="en-US" dirty="0"/>
              <a:t>XML </a:t>
            </a:r>
          </a:p>
          <a:p>
            <a:r>
              <a:rPr lang="en-US" dirty="0"/>
              <a:t>JSON </a:t>
            </a:r>
          </a:p>
          <a:p>
            <a:r>
              <a:rPr lang="en-US" dirty="0"/>
              <a:t>Emails </a:t>
            </a:r>
          </a:p>
          <a:p>
            <a:r>
              <a:rPr lang="en-US" dirty="0" smtClean="0"/>
              <a:t>Example</a:t>
            </a:r>
          </a:p>
          <a:p>
            <a:r>
              <a:rPr lang="en-US" dirty="0"/>
              <a:t>{</a:t>
            </a:r>
          </a:p>
          <a:p>
            <a:r>
              <a:rPr lang="en-US" dirty="0"/>
              <a:t> "</a:t>
            </a:r>
            <a:r>
              <a:rPr lang="en-US" dirty="0" err="1"/>
              <a:t>Name":"Ravi</a:t>
            </a:r>
            <a:r>
              <a:rPr lang="en-US" dirty="0"/>
              <a:t>",</a:t>
            </a:r>
          </a:p>
          <a:p>
            <a:r>
              <a:rPr lang="en-US" dirty="0"/>
              <a:t> "Age":21,</a:t>
            </a:r>
          </a:p>
          <a:p>
            <a:r>
              <a:rPr lang="en-US" dirty="0"/>
              <a:t> "</a:t>
            </a:r>
            <a:r>
              <a:rPr lang="en-US" dirty="0" err="1"/>
              <a:t>Department":"CSE</a:t>
            </a:r>
            <a:r>
              <a:rPr lang="en-US" dirty="0"/>
              <a:t>"</a:t>
            </a:r>
          </a:p>
          <a:p>
            <a:r>
              <a:rPr lang="en-US" dirty="0"/>
              <a:t>}</a:t>
            </a:r>
          </a:p>
          <a:p>
            <a:endParaRPr lang="en-US" dirty="0"/>
          </a:p>
        </p:txBody>
      </p:sp>
    </p:spTree>
    <p:extLst>
      <p:ext uri="{BB962C8B-B14F-4D97-AF65-F5344CB8AC3E}">
        <p14:creationId xmlns:p14="http://schemas.microsoft.com/office/powerpoint/2010/main" val="41357635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605307"/>
            <a:ext cx="8596668" cy="5436055"/>
          </a:xfrm>
        </p:spPr>
        <p:txBody>
          <a:bodyPr/>
          <a:lstStyle/>
          <a:p>
            <a:pPr marL="0" indent="0">
              <a:buNone/>
            </a:pPr>
            <a:r>
              <a:rPr lang="en-US" b="1" dirty="0"/>
              <a:t>3. Unstructured Data</a:t>
            </a:r>
          </a:p>
          <a:p>
            <a:r>
              <a:rPr lang="en-US" dirty="0"/>
              <a:t>No predefined format.</a:t>
            </a:r>
          </a:p>
          <a:p>
            <a:pPr marL="0" indent="0">
              <a:buNone/>
            </a:pPr>
            <a:r>
              <a:rPr lang="en-US" dirty="0" smtClean="0"/>
              <a:t>Examples</a:t>
            </a:r>
            <a:endParaRPr lang="en-US" dirty="0"/>
          </a:p>
          <a:p>
            <a:r>
              <a:rPr lang="en-US" dirty="0"/>
              <a:t>Images </a:t>
            </a:r>
          </a:p>
          <a:p>
            <a:r>
              <a:rPr lang="en-US" dirty="0"/>
              <a:t>Videos </a:t>
            </a:r>
          </a:p>
          <a:p>
            <a:r>
              <a:rPr lang="en-US" dirty="0"/>
              <a:t>CCTV footage </a:t>
            </a:r>
          </a:p>
          <a:p>
            <a:r>
              <a:rPr lang="en-US" dirty="0"/>
              <a:t>Audio recordings </a:t>
            </a:r>
          </a:p>
          <a:p>
            <a:r>
              <a:rPr lang="en-US" dirty="0"/>
              <a:t>Social media posts </a:t>
            </a:r>
          </a:p>
          <a:p>
            <a:r>
              <a:rPr lang="en-US" dirty="0"/>
              <a:t>Nearly </a:t>
            </a:r>
            <a:r>
              <a:rPr lang="en-US" b="1" dirty="0"/>
              <a:t>80–90% of the world's data</a:t>
            </a:r>
            <a:r>
              <a:rPr lang="en-US" dirty="0"/>
              <a:t> is unstructured.</a:t>
            </a:r>
          </a:p>
          <a:p>
            <a:endParaRPr lang="en-US" dirty="0"/>
          </a:p>
        </p:txBody>
      </p:sp>
    </p:spTree>
    <p:extLst>
      <p:ext uri="{BB962C8B-B14F-4D97-AF65-F5344CB8AC3E}">
        <p14:creationId xmlns:p14="http://schemas.microsoft.com/office/powerpoint/2010/main" val="29471588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CHARACTERISTICS OF BIG DATA – 5Vs</a:t>
            </a:r>
            <a:endParaRPr lang="en-US" dirty="0"/>
          </a:p>
        </p:txBody>
      </p:sp>
      <p:sp>
        <p:nvSpPr>
          <p:cNvPr id="3" name="Content Placeholder 2"/>
          <p:cNvSpPr>
            <a:spLocks noGrp="1"/>
          </p:cNvSpPr>
          <p:nvPr>
            <p:ph idx="1"/>
          </p:nvPr>
        </p:nvSpPr>
        <p:spPr>
          <a:xfrm>
            <a:off x="677334" y="2160589"/>
            <a:ext cx="9316672" cy="3880773"/>
          </a:xfrm>
        </p:spPr>
        <p:txBody>
          <a:bodyPr>
            <a:normAutofit/>
          </a:bodyPr>
          <a:lstStyle/>
          <a:p>
            <a:pPr marL="2743200" lvl="6" indent="0">
              <a:buNone/>
            </a:pPr>
            <a:r>
              <a:rPr lang="en-US" dirty="0"/>
              <a:t> </a:t>
            </a:r>
            <a:r>
              <a:rPr lang="en-US" dirty="0" smtClean="0"/>
              <a:t>                 </a:t>
            </a:r>
            <a:r>
              <a:rPr lang="en-US" sz="2800" b="1" dirty="0" smtClean="0"/>
              <a:t>BIG </a:t>
            </a:r>
            <a:r>
              <a:rPr lang="en-US" sz="2800" b="1" dirty="0"/>
              <a:t>DATA</a:t>
            </a:r>
          </a:p>
          <a:p>
            <a:pPr marL="2743200" lvl="6" indent="0">
              <a:buNone/>
            </a:pPr>
            <a:endParaRPr lang="en-US" dirty="0"/>
          </a:p>
          <a:p>
            <a:pPr marL="2743200" lvl="6" indent="0">
              <a:buNone/>
            </a:pPr>
            <a:r>
              <a:rPr lang="en-US" dirty="0"/>
              <a:t>                         │</a:t>
            </a:r>
          </a:p>
          <a:p>
            <a:pPr marL="514350" lvl="1" indent="0">
              <a:buNone/>
            </a:pPr>
            <a:r>
              <a:rPr lang="en-US" dirty="0"/>
              <a:t> </a:t>
            </a:r>
            <a:r>
              <a:rPr lang="en-US" dirty="0" smtClean="0"/>
              <a:t>┌──────────┬──────────┬──────────┬──────────┬</a:t>
            </a:r>
            <a:endParaRPr lang="en-US" dirty="0"/>
          </a:p>
          <a:p>
            <a:pPr marL="114300" indent="0">
              <a:buNone/>
            </a:pPr>
            <a:r>
              <a:rPr lang="en-US" dirty="0" smtClean="0"/>
              <a:t>Volume  		  </a:t>
            </a:r>
            <a:r>
              <a:rPr lang="en-US" dirty="0"/>
              <a:t>Velocity    </a:t>
            </a:r>
            <a:r>
              <a:rPr lang="en-US" dirty="0" smtClean="0"/>
              <a:t>		Variety   	Veracity    		Value</a:t>
            </a:r>
          </a:p>
          <a:p>
            <a:pPr marL="114300" indent="0">
              <a:buNone/>
            </a:pPr>
            <a:r>
              <a:rPr lang="en-US" dirty="0" smtClean="0"/>
              <a:t>Amount      			Speed      	Types    		Accuracy   		Business</a:t>
            </a:r>
          </a:p>
          <a:p>
            <a:pPr marL="114300" indent="0">
              <a:buNone/>
            </a:pPr>
            <a:r>
              <a:rPr lang="en-US" dirty="0" smtClean="0"/>
              <a:t>of </a:t>
            </a:r>
            <a:r>
              <a:rPr lang="en-US" dirty="0"/>
              <a:t>Data    </a:t>
            </a:r>
            <a:r>
              <a:rPr lang="en-US" dirty="0" smtClean="0"/>
              <a:t>			of </a:t>
            </a:r>
            <a:r>
              <a:rPr lang="en-US" dirty="0"/>
              <a:t>Data   </a:t>
            </a:r>
            <a:r>
              <a:rPr lang="en-US" dirty="0" smtClean="0"/>
              <a:t>	 </a:t>
            </a:r>
            <a:r>
              <a:rPr lang="en-US" dirty="0"/>
              <a:t>of Data  </a:t>
            </a:r>
            <a:r>
              <a:rPr lang="en-US" dirty="0" smtClean="0"/>
              <a:t>	 </a:t>
            </a:r>
            <a:r>
              <a:rPr lang="en-US" dirty="0"/>
              <a:t>of Data  </a:t>
            </a:r>
            <a:r>
              <a:rPr lang="en-US" dirty="0" smtClean="0"/>
              <a:t>	</a:t>
            </a:r>
            <a:r>
              <a:rPr lang="en-US" dirty="0"/>
              <a:t> </a:t>
            </a:r>
            <a:r>
              <a:rPr lang="en-US" dirty="0" smtClean="0"/>
              <a:t>      Benefits</a:t>
            </a:r>
            <a:endParaRPr lang="en-US" dirty="0"/>
          </a:p>
        </p:txBody>
      </p:sp>
    </p:spTree>
    <p:extLst>
      <p:ext uri="{BB962C8B-B14F-4D97-AF65-F5344CB8AC3E}">
        <p14:creationId xmlns:p14="http://schemas.microsoft.com/office/powerpoint/2010/main" val="42683284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15304244"/>
              </p:ext>
            </p:extLst>
          </p:nvPr>
        </p:nvGraphicFramePr>
        <p:xfrm>
          <a:off x="850004" y="141667"/>
          <a:ext cx="8525815" cy="6349558"/>
        </p:xfrm>
        <a:graphic>
          <a:graphicData uri="http://schemas.openxmlformats.org/drawingml/2006/table">
            <a:tbl>
              <a:tblPr>
                <a:tableStyleId>{69C7853C-536D-4A76-A0AE-DD22124D55A5}</a:tableStyleId>
              </a:tblPr>
              <a:tblGrid>
                <a:gridCol w="940160"/>
                <a:gridCol w="2470166"/>
                <a:gridCol w="1705163"/>
                <a:gridCol w="1705163"/>
                <a:gridCol w="1705163"/>
              </a:tblGrid>
              <a:tr h="477868">
                <a:tc>
                  <a:txBody>
                    <a:bodyPr/>
                    <a:lstStyle/>
                    <a:p>
                      <a:r>
                        <a:rPr lang="en-US" dirty="0"/>
                        <a:t>V</a:t>
                      </a:r>
                    </a:p>
                  </a:txBody>
                  <a:tcPr marL="49762" marR="49762" marT="24881" marB="24881" anchor="ctr">
                    <a:solidFill>
                      <a:srgbClr val="FFFF00"/>
                    </a:solidFill>
                  </a:tcPr>
                </a:tc>
                <a:tc>
                  <a:txBody>
                    <a:bodyPr/>
                    <a:lstStyle/>
                    <a:p>
                      <a:r>
                        <a:rPr lang="en-US" sz="1800" dirty="0"/>
                        <a:t>Meaning</a:t>
                      </a:r>
                    </a:p>
                  </a:txBody>
                  <a:tcPr marL="49762" marR="49762" marT="24881" marB="24881" anchor="ctr">
                    <a:solidFill>
                      <a:srgbClr val="FFFF00"/>
                    </a:solidFill>
                  </a:tcPr>
                </a:tc>
                <a:tc>
                  <a:txBody>
                    <a:bodyPr/>
                    <a:lstStyle/>
                    <a:p>
                      <a:r>
                        <a:rPr lang="en-US" sz="1800" dirty="0"/>
                        <a:t>Description</a:t>
                      </a:r>
                    </a:p>
                  </a:txBody>
                  <a:tcPr marL="49762" marR="49762" marT="24881" marB="24881" anchor="ctr">
                    <a:solidFill>
                      <a:srgbClr val="FFFF00"/>
                    </a:solidFill>
                  </a:tcPr>
                </a:tc>
                <a:tc>
                  <a:txBody>
                    <a:bodyPr/>
                    <a:lstStyle/>
                    <a:p>
                      <a:r>
                        <a:rPr lang="en-US" sz="1800" dirty="0"/>
                        <a:t>Real-Time Example</a:t>
                      </a:r>
                    </a:p>
                  </a:txBody>
                  <a:tcPr marL="49762" marR="49762" marT="24881" marB="24881" anchor="ctr">
                    <a:solidFill>
                      <a:srgbClr val="FFFF00"/>
                    </a:solidFill>
                  </a:tcPr>
                </a:tc>
                <a:tc>
                  <a:txBody>
                    <a:bodyPr/>
                    <a:lstStyle/>
                    <a:p>
                      <a:r>
                        <a:rPr lang="en-US" sz="1800" dirty="0"/>
                        <a:t>Applications</a:t>
                      </a:r>
                    </a:p>
                  </a:txBody>
                  <a:tcPr marL="49762" marR="49762" marT="24881" marB="24881" anchor="ctr">
                    <a:solidFill>
                      <a:srgbClr val="FFFF00"/>
                    </a:solidFill>
                  </a:tcPr>
                </a:tc>
              </a:tr>
              <a:tr h="888668">
                <a:tc>
                  <a:txBody>
                    <a:bodyPr/>
                    <a:lstStyle/>
                    <a:p>
                      <a:r>
                        <a:rPr lang="en-US" dirty="0"/>
                        <a:t>Volume</a:t>
                      </a:r>
                    </a:p>
                  </a:txBody>
                  <a:tcPr marL="49762" marR="49762" marT="24881" marB="24881" anchor="ctr">
                    <a:solidFill>
                      <a:srgbClr val="FFFF00"/>
                    </a:solidFill>
                  </a:tcPr>
                </a:tc>
                <a:tc>
                  <a:txBody>
                    <a:bodyPr/>
                    <a:lstStyle/>
                    <a:p>
                      <a:r>
                        <a:rPr lang="en-US" sz="1800" dirty="0"/>
                        <a:t>Amount of Data</a:t>
                      </a:r>
                    </a:p>
                  </a:txBody>
                  <a:tcPr marL="49762" marR="49762" marT="24881" marB="24881" anchor="ctr"/>
                </a:tc>
                <a:tc>
                  <a:txBody>
                    <a:bodyPr/>
                    <a:lstStyle/>
                    <a:p>
                      <a:r>
                        <a:rPr lang="en-US" sz="1800" dirty="0"/>
                        <a:t>Extremely large datasets generated daily</a:t>
                      </a:r>
                    </a:p>
                  </a:txBody>
                  <a:tcPr marL="49762" marR="49762" marT="24881" marB="24881" anchor="ctr"/>
                </a:tc>
                <a:tc>
                  <a:txBody>
                    <a:bodyPr/>
                    <a:lstStyle/>
                    <a:p>
                      <a:r>
                        <a:rPr lang="en-US" sz="1800"/>
                        <a:t>YouTube video uploads</a:t>
                      </a:r>
                    </a:p>
                  </a:txBody>
                  <a:tcPr marL="49762" marR="49762" marT="24881" marB="24881" anchor="ctr"/>
                </a:tc>
                <a:tc>
                  <a:txBody>
                    <a:bodyPr/>
                    <a:lstStyle/>
                    <a:p>
                      <a:r>
                        <a:rPr lang="en-US" sz="1800"/>
                        <a:t>Social Media, Banking, Research</a:t>
                      </a:r>
                    </a:p>
                  </a:txBody>
                  <a:tcPr marL="49762" marR="49762" marT="24881" marB="24881" anchor="ctr"/>
                </a:tc>
              </a:tr>
              <a:tr h="1094068">
                <a:tc>
                  <a:txBody>
                    <a:bodyPr/>
                    <a:lstStyle/>
                    <a:p>
                      <a:r>
                        <a:rPr lang="en-US" dirty="0"/>
                        <a:t>Velocity</a:t>
                      </a:r>
                    </a:p>
                  </a:txBody>
                  <a:tcPr marL="49762" marR="49762" marT="24881" marB="24881" anchor="ctr">
                    <a:solidFill>
                      <a:srgbClr val="FFFF00"/>
                    </a:solidFill>
                  </a:tcPr>
                </a:tc>
                <a:tc>
                  <a:txBody>
                    <a:bodyPr/>
                    <a:lstStyle/>
                    <a:p>
                      <a:r>
                        <a:rPr lang="en-US" sz="1800"/>
                        <a:t>Speed of Data</a:t>
                      </a:r>
                    </a:p>
                  </a:txBody>
                  <a:tcPr marL="49762" marR="49762" marT="24881" marB="24881" anchor="ctr"/>
                </a:tc>
                <a:tc>
                  <a:txBody>
                    <a:bodyPr/>
                    <a:lstStyle/>
                    <a:p>
                      <a:r>
                        <a:rPr lang="en-US" sz="1800"/>
                        <a:t>High-speed generation and processing of data</a:t>
                      </a:r>
                    </a:p>
                  </a:txBody>
                  <a:tcPr marL="49762" marR="49762" marT="24881" marB="24881" anchor="ctr"/>
                </a:tc>
                <a:tc>
                  <a:txBody>
                    <a:bodyPr/>
                    <a:lstStyle/>
                    <a:p>
                      <a:r>
                        <a:rPr lang="en-US" sz="1800"/>
                        <a:t>Google Maps traffic updates</a:t>
                      </a:r>
                    </a:p>
                  </a:txBody>
                  <a:tcPr marL="49762" marR="49762" marT="24881" marB="24881" anchor="ctr"/>
                </a:tc>
                <a:tc>
                  <a:txBody>
                    <a:bodyPr/>
                    <a:lstStyle/>
                    <a:p>
                      <a:r>
                        <a:rPr lang="en-US" sz="1800"/>
                        <a:t>Stock Market, Banking, IoT</a:t>
                      </a:r>
                    </a:p>
                  </a:txBody>
                  <a:tcPr marL="49762" marR="49762" marT="24881" marB="24881" anchor="ctr"/>
                </a:tc>
              </a:tr>
              <a:tr h="1299468">
                <a:tc>
                  <a:txBody>
                    <a:bodyPr/>
                    <a:lstStyle/>
                    <a:p>
                      <a:r>
                        <a:rPr lang="en-US" dirty="0"/>
                        <a:t>Variety</a:t>
                      </a:r>
                    </a:p>
                  </a:txBody>
                  <a:tcPr marL="49762" marR="49762" marT="24881" marB="24881" anchor="ctr">
                    <a:solidFill>
                      <a:srgbClr val="FFFF00"/>
                    </a:solidFill>
                  </a:tcPr>
                </a:tc>
                <a:tc>
                  <a:txBody>
                    <a:bodyPr/>
                    <a:lstStyle/>
                    <a:p>
                      <a:r>
                        <a:rPr lang="en-US" sz="1800" dirty="0"/>
                        <a:t>Different Types of Data</a:t>
                      </a:r>
                    </a:p>
                  </a:txBody>
                  <a:tcPr marL="49762" marR="49762" marT="24881" marB="24881" anchor="ctr"/>
                </a:tc>
                <a:tc>
                  <a:txBody>
                    <a:bodyPr/>
                    <a:lstStyle/>
                    <a:p>
                      <a:r>
                        <a:rPr lang="en-US" sz="1800"/>
                        <a:t>Structured, semi-structured, and unstructured data</a:t>
                      </a:r>
                    </a:p>
                  </a:txBody>
                  <a:tcPr marL="49762" marR="49762" marT="24881" marB="24881" anchor="ctr"/>
                </a:tc>
                <a:tc>
                  <a:txBody>
                    <a:bodyPr/>
                    <a:lstStyle/>
                    <a:p>
                      <a:r>
                        <a:rPr lang="en-US" sz="1800"/>
                        <a:t>Hospital records (text, images, reports)</a:t>
                      </a:r>
                    </a:p>
                  </a:txBody>
                  <a:tcPr marL="49762" marR="49762" marT="24881" marB="24881" anchor="ctr"/>
                </a:tc>
                <a:tc>
                  <a:txBody>
                    <a:bodyPr/>
                    <a:lstStyle/>
                    <a:p>
                      <a:r>
                        <a:rPr lang="en-US" sz="1800"/>
                        <a:t>Healthcare, E-commerce</a:t>
                      </a:r>
                    </a:p>
                  </a:txBody>
                  <a:tcPr marL="49762" marR="49762" marT="24881" marB="24881" anchor="ctr"/>
                </a:tc>
              </a:tr>
              <a:tr h="888668">
                <a:tc>
                  <a:txBody>
                    <a:bodyPr/>
                    <a:lstStyle/>
                    <a:p>
                      <a:r>
                        <a:rPr lang="en-US" dirty="0"/>
                        <a:t>Veracity</a:t>
                      </a:r>
                    </a:p>
                  </a:txBody>
                  <a:tcPr marL="49762" marR="49762" marT="24881" marB="24881" anchor="ctr">
                    <a:solidFill>
                      <a:srgbClr val="FFFF00"/>
                    </a:solidFill>
                  </a:tcPr>
                </a:tc>
                <a:tc>
                  <a:txBody>
                    <a:bodyPr/>
                    <a:lstStyle/>
                    <a:p>
                      <a:r>
                        <a:rPr lang="en-US" sz="1800"/>
                        <a:t>Data Quality</a:t>
                      </a:r>
                    </a:p>
                  </a:txBody>
                  <a:tcPr marL="49762" marR="49762" marT="24881" marB="24881" anchor="ctr"/>
                </a:tc>
                <a:tc>
                  <a:txBody>
                    <a:bodyPr/>
                    <a:lstStyle/>
                    <a:p>
                      <a:r>
                        <a:rPr lang="en-US" sz="1800"/>
                        <a:t>Accuracy, consistency, and reliability of data</a:t>
                      </a:r>
                    </a:p>
                  </a:txBody>
                  <a:tcPr marL="49762" marR="49762" marT="24881" marB="24881" anchor="ctr"/>
                </a:tc>
                <a:tc>
                  <a:txBody>
                    <a:bodyPr/>
                    <a:lstStyle/>
                    <a:p>
                      <a:r>
                        <a:rPr lang="en-US" sz="1800"/>
                        <a:t>Duplicate customer records</a:t>
                      </a:r>
                    </a:p>
                  </a:txBody>
                  <a:tcPr marL="49762" marR="49762" marT="24881" marB="24881" anchor="ctr"/>
                </a:tc>
                <a:tc>
                  <a:txBody>
                    <a:bodyPr/>
                    <a:lstStyle/>
                    <a:p>
                      <a:r>
                        <a:rPr lang="en-US" sz="1800" dirty="0"/>
                        <a:t>Banking, CRM, Government</a:t>
                      </a:r>
                    </a:p>
                  </a:txBody>
                  <a:tcPr marL="49762" marR="49762" marT="24881" marB="24881" anchor="ctr"/>
                </a:tc>
              </a:tr>
              <a:tr h="888668">
                <a:tc>
                  <a:txBody>
                    <a:bodyPr/>
                    <a:lstStyle/>
                    <a:p>
                      <a:r>
                        <a:rPr lang="en-US" dirty="0"/>
                        <a:t>Value</a:t>
                      </a:r>
                    </a:p>
                  </a:txBody>
                  <a:tcPr marL="49762" marR="49762" marT="24881" marB="24881" anchor="ctr">
                    <a:solidFill>
                      <a:srgbClr val="FFFF00"/>
                    </a:solidFill>
                  </a:tcPr>
                </a:tc>
                <a:tc>
                  <a:txBody>
                    <a:bodyPr/>
                    <a:lstStyle/>
                    <a:p>
                      <a:r>
                        <a:rPr lang="en-US" sz="1800"/>
                        <a:t>Business Benefit</a:t>
                      </a:r>
                    </a:p>
                  </a:txBody>
                  <a:tcPr marL="49762" marR="49762" marT="24881" marB="24881" anchor="ctr"/>
                </a:tc>
                <a:tc>
                  <a:txBody>
                    <a:bodyPr/>
                    <a:lstStyle/>
                    <a:p>
                      <a:r>
                        <a:rPr lang="en-US" sz="1800"/>
                        <a:t>Extracting useful insights for better decisions</a:t>
                      </a:r>
                    </a:p>
                  </a:txBody>
                  <a:tcPr marL="49762" marR="49762" marT="24881" marB="24881" anchor="ctr"/>
                </a:tc>
                <a:tc>
                  <a:txBody>
                    <a:bodyPr/>
                    <a:lstStyle/>
                    <a:p>
                      <a:r>
                        <a:rPr lang="en-US" sz="1800"/>
                        <a:t>Amazon product recommendations</a:t>
                      </a:r>
                    </a:p>
                  </a:txBody>
                  <a:tcPr marL="49762" marR="49762" marT="24881" marB="24881" anchor="ctr"/>
                </a:tc>
                <a:tc>
                  <a:txBody>
                    <a:bodyPr/>
                    <a:lstStyle/>
                    <a:p>
                      <a:r>
                        <a:rPr lang="en-US" sz="1800" dirty="0"/>
                        <a:t>Business Intelligence, Marketing</a:t>
                      </a:r>
                    </a:p>
                  </a:txBody>
                  <a:tcPr marL="49762" marR="49762" marT="24881" marB="24881" anchor="ctr"/>
                </a:tc>
              </a:tr>
            </a:tbl>
          </a:graphicData>
        </a:graphic>
      </p:graphicFrame>
    </p:spTree>
    <p:extLst>
      <p:ext uri="{BB962C8B-B14F-4D97-AF65-F5344CB8AC3E}">
        <p14:creationId xmlns:p14="http://schemas.microsoft.com/office/powerpoint/2010/main" val="26508014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CHALLENGES WITH BIG DATA</a:t>
            </a:r>
            <a:endParaRPr lang="en-US" dirty="0"/>
          </a:p>
        </p:txBody>
      </p:sp>
      <p:pic>
        <p:nvPicPr>
          <p:cNvPr id="4" name="Content Placeholder 3"/>
          <p:cNvPicPr>
            <a:picLocks noGrp="1" noChangeAspect="1"/>
          </p:cNvPicPr>
          <p:nvPr>
            <p:ph idx="1"/>
          </p:nvPr>
        </p:nvPicPr>
        <p:blipFill>
          <a:blip r:embed="rId2"/>
          <a:stretch>
            <a:fillRect/>
          </a:stretch>
        </p:blipFill>
        <p:spPr>
          <a:xfrm>
            <a:off x="0" y="2081833"/>
            <a:ext cx="9896918" cy="2554561"/>
          </a:xfrm>
          <a:prstGeom prst="rect">
            <a:avLst/>
          </a:prstGeom>
        </p:spPr>
      </p:pic>
    </p:spTree>
    <p:extLst>
      <p:ext uri="{BB962C8B-B14F-4D97-AF65-F5344CB8AC3E}">
        <p14:creationId xmlns:p14="http://schemas.microsoft.com/office/powerpoint/2010/main" val="617794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386366"/>
            <a:ext cx="8968942" cy="6362163"/>
          </a:xfrm>
        </p:spPr>
        <p:txBody>
          <a:bodyPr>
            <a:normAutofit/>
          </a:bodyPr>
          <a:lstStyle/>
          <a:p>
            <a:pPr>
              <a:lnSpc>
                <a:spcPct val="150000"/>
              </a:lnSpc>
            </a:pPr>
            <a:r>
              <a:rPr lang="en-US" b="1" dirty="0"/>
              <a:t>1. Data Storage Challenge</a:t>
            </a:r>
            <a:endParaRPr lang="en-US" dirty="0"/>
          </a:p>
          <a:p>
            <a:pPr>
              <a:lnSpc>
                <a:spcPct val="150000"/>
              </a:lnSpc>
            </a:pPr>
            <a:r>
              <a:rPr lang="en-US" dirty="0"/>
              <a:t>One of the most significant challenges in Big Data is </a:t>
            </a:r>
            <a:r>
              <a:rPr lang="en-US" b="1" dirty="0"/>
              <a:t>data storage</a:t>
            </a:r>
            <a:r>
              <a:rPr lang="en-US" dirty="0"/>
              <a:t>. Modern organizations generate enormous amounts of data every second, making it impossible for traditional databases to store and manage such large datasets efficiently. As businesses expand, the volume of data grows from gigabytes to terabytes, petabytes, and even </a:t>
            </a:r>
            <a:r>
              <a:rPr lang="en-US" dirty="0" err="1"/>
              <a:t>exabytes</a:t>
            </a:r>
            <a:r>
              <a:rPr lang="en-US" dirty="0"/>
              <a:t>. Managing this rapidly increasing data requires distributed storage systems capable of storing data across multiple servers.</a:t>
            </a:r>
          </a:p>
          <a:p>
            <a:pPr>
              <a:lnSpc>
                <a:spcPct val="150000"/>
              </a:lnSpc>
            </a:pPr>
            <a:r>
              <a:rPr lang="en-US" dirty="0"/>
              <a:t>For example, </a:t>
            </a:r>
            <a:r>
              <a:rPr lang="en-US" b="1" dirty="0"/>
              <a:t>YouTube</a:t>
            </a:r>
            <a:r>
              <a:rPr lang="en-US" dirty="0"/>
              <a:t> receives hundreds of hours of video uploads every minute. Along with videos, it stores user comments, likes, subscriptions, thumbnails, and viewing history. Storing such an enormous amount of multimedia data on a single server is impossible. Therefore, YouTube uses distributed cloud storage and data centers spread across different geographical locations.</a:t>
            </a:r>
          </a:p>
          <a:p>
            <a:pPr>
              <a:lnSpc>
                <a:spcPct val="150000"/>
              </a:lnSpc>
            </a:pPr>
            <a:endParaRPr lang="en-US" dirty="0"/>
          </a:p>
        </p:txBody>
      </p:sp>
    </p:spTree>
    <p:extLst>
      <p:ext uri="{BB962C8B-B14F-4D97-AF65-F5344CB8AC3E}">
        <p14:creationId xmlns:p14="http://schemas.microsoft.com/office/powerpoint/2010/main" val="21621173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This challenge is addressed using technologies such as </a:t>
            </a:r>
            <a:r>
              <a:rPr lang="en-US" b="1" dirty="0"/>
              <a:t>Hadoop Distributed File System (HDFS)</a:t>
            </a:r>
            <a:r>
              <a:rPr lang="en-US" dirty="0"/>
              <a:t>, cloud storage services, distributed databases, and data compression techniques.</a:t>
            </a:r>
          </a:p>
          <a:p>
            <a:r>
              <a:rPr lang="en-US" b="1" dirty="0"/>
              <a:t>Applications</a:t>
            </a:r>
            <a:endParaRPr lang="en-US" dirty="0"/>
          </a:p>
          <a:p>
            <a:pPr lvl="0"/>
            <a:r>
              <a:rPr lang="en-US" dirty="0"/>
              <a:t>YouTube</a:t>
            </a:r>
          </a:p>
          <a:p>
            <a:pPr lvl="0"/>
            <a:r>
              <a:rPr lang="en-US" dirty="0"/>
              <a:t>Netflix</a:t>
            </a:r>
          </a:p>
          <a:p>
            <a:pPr lvl="0"/>
            <a:r>
              <a:rPr lang="en-US" dirty="0"/>
              <a:t>Facebook</a:t>
            </a:r>
          </a:p>
          <a:p>
            <a:pPr lvl="0"/>
            <a:r>
              <a:rPr lang="en-US" dirty="0"/>
              <a:t>Google Photos</a:t>
            </a:r>
          </a:p>
          <a:p>
            <a:pPr lvl="0"/>
            <a:r>
              <a:rPr lang="en-US" dirty="0"/>
              <a:t>Amazon Web Services (AWS)</a:t>
            </a:r>
          </a:p>
          <a:p>
            <a:endParaRPr lang="en-US" dirty="0"/>
          </a:p>
        </p:txBody>
      </p:sp>
    </p:spTree>
    <p:extLst>
      <p:ext uri="{BB962C8B-B14F-4D97-AF65-F5344CB8AC3E}">
        <p14:creationId xmlns:p14="http://schemas.microsoft.com/office/powerpoint/2010/main" val="31857129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206062"/>
            <a:ext cx="8596668" cy="6439437"/>
          </a:xfrm>
        </p:spPr>
        <p:txBody>
          <a:bodyPr>
            <a:normAutofit/>
          </a:bodyPr>
          <a:lstStyle/>
          <a:p>
            <a:pPr>
              <a:lnSpc>
                <a:spcPct val="150000"/>
              </a:lnSpc>
            </a:pPr>
            <a:r>
              <a:rPr lang="en-US" b="1" dirty="0"/>
              <a:t>2. Data Processing Challenge</a:t>
            </a:r>
            <a:endParaRPr lang="en-US" dirty="0"/>
          </a:p>
          <a:p>
            <a:pPr>
              <a:lnSpc>
                <a:spcPct val="150000"/>
              </a:lnSpc>
            </a:pPr>
            <a:r>
              <a:rPr lang="en-US" dirty="0"/>
              <a:t>Processing Big Data is another major challenge because traditional processors cannot efficiently analyze massive datasets within a reasonable time. Organizations require fast processing techniques to analyze data and generate meaningful insights. Processing petabytes of data using a single computer may take several days or even weeks.</a:t>
            </a:r>
          </a:p>
          <a:p>
            <a:pPr>
              <a:lnSpc>
                <a:spcPct val="150000"/>
              </a:lnSpc>
            </a:pPr>
            <a:r>
              <a:rPr lang="en-US" dirty="0"/>
              <a:t>For instance, </a:t>
            </a:r>
            <a:r>
              <a:rPr lang="en-US" b="1" dirty="0"/>
              <a:t>Amazon</a:t>
            </a:r>
            <a:r>
              <a:rPr lang="en-US" dirty="0"/>
              <a:t> processes millions of customer searches, purchases, payments, product reviews, and recommendation requests every second. If all these operations were processed on a single server, customers would experience significant delays. Instead, Amazon distributes its computational workload across thousands of servers using parallel processing technologies.</a:t>
            </a:r>
          </a:p>
          <a:p>
            <a:pPr>
              <a:lnSpc>
                <a:spcPct val="150000"/>
              </a:lnSpc>
            </a:pPr>
            <a:endParaRPr lang="en-US" dirty="0"/>
          </a:p>
        </p:txBody>
      </p:sp>
    </p:spTree>
    <p:extLst>
      <p:ext uri="{BB962C8B-B14F-4D97-AF65-F5344CB8AC3E}">
        <p14:creationId xmlns:p14="http://schemas.microsoft.com/office/powerpoint/2010/main" val="17129829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Frameworks such as </a:t>
            </a:r>
            <a:r>
              <a:rPr lang="en-US" b="1" dirty="0"/>
              <a:t>Hadoop MapReduce</a:t>
            </a:r>
            <a:r>
              <a:rPr lang="en-US" dirty="0"/>
              <a:t>, </a:t>
            </a:r>
            <a:r>
              <a:rPr lang="en-US" b="1" dirty="0"/>
              <a:t>Apache Spark</a:t>
            </a:r>
            <a:r>
              <a:rPr lang="en-US" dirty="0"/>
              <a:t>, and distributed computing platforms divide the workload into smaller tasks and process them simultaneously, greatly reducing execution time.</a:t>
            </a:r>
          </a:p>
          <a:p>
            <a:r>
              <a:rPr lang="en-US" b="1" dirty="0"/>
              <a:t>Applications</a:t>
            </a:r>
            <a:endParaRPr lang="en-US" dirty="0"/>
          </a:p>
          <a:p>
            <a:pPr lvl="0"/>
            <a:r>
              <a:rPr lang="en-US" dirty="0"/>
              <a:t>E-commerce</a:t>
            </a:r>
          </a:p>
          <a:p>
            <a:pPr lvl="0"/>
            <a:r>
              <a:rPr lang="en-US" dirty="0"/>
              <a:t>Banking</a:t>
            </a:r>
          </a:p>
          <a:p>
            <a:pPr lvl="0"/>
            <a:r>
              <a:rPr lang="en-US" dirty="0"/>
              <a:t>Scientific Research</a:t>
            </a:r>
          </a:p>
          <a:p>
            <a:pPr lvl="0"/>
            <a:r>
              <a:rPr lang="en-US" dirty="0"/>
              <a:t>Weather Forecasting</a:t>
            </a:r>
          </a:p>
          <a:p>
            <a:pPr lvl="0"/>
            <a:r>
              <a:rPr lang="en-US" dirty="0"/>
              <a:t>Search Engines</a:t>
            </a:r>
          </a:p>
          <a:p>
            <a:endParaRPr lang="en-US" dirty="0"/>
          </a:p>
        </p:txBody>
      </p:sp>
      <p:pic>
        <p:nvPicPr>
          <p:cNvPr id="4" name="Picture 3"/>
          <p:cNvPicPr>
            <a:picLocks noChangeAspect="1"/>
          </p:cNvPicPr>
          <p:nvPr/>
        </p:nvPicPr>
        <p:blipFill>
          <a:blip r:embed="rId2"/>
          <a:stretch>
            <a:fillRect/>
          </a:stretch>
        </p:blipFill>
        <p:spPr>
          <a:xfrm>
            <a:off x="5945228" y="3178898"/>
            <a:ext cx="2619741" cy="2457793"/>
          </a:xfrm>
          <a:prstGeom prst="rect">
            <a:avLst/>
          </a:prstGeom>
        </p:spPr>
      </p:pic>
    </p:spTree>
    <p:extLst>
      <p:ext uri="{BB962C8B-B14F-4D97-AF65-F5344CB8AC3E}">
        <p14:creationId xmlns:p14="http://schemas.microsoft.com/office/powerpoint/2010/main" val="11296164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90153"/>
            <a:ext cx="8596668" cy="6767848"/>
          </a:xfrm>
        </p:spPr>
        <p:txBody>
          <a:bodyPr>
            <a:normAutofit fontScale="85000" lnSpcReduction="20000"/>
          </a:bodyPr>
          <a:lstStyle/>
          <a:p>
            <a:pPr>
              <a:lnSpc>
                <a:spcPct val="160000"/>
              </a:lnSpc>
            </a:pPr>
            <a:r>
              <a:rPr lang="en-US" b="1" dirty="0"/>
              <a:t>3. Data Integration Challenge</a:t>
            </a:r>
            <a:endParaRPr lang="en-US" dirty="0"/>
          </a:p>
          <a:p>
            <a:pPr>
              <a:lnSpc>
                <a:spcPct val="160000"/>
              </a:lnSpc>
            </a:pPr>
            <a:r>
              <a:rPr lang="en-US" dirty="0"/>
              <a:t>Organizations receive data from numerous heterogeneous sources. Integrating these different datasets into a single unified system is a complex task because each source stores information in different formats and structures. Data integration ensures that information from multiple systems can be analyzed together to support informed decision-making.</a:t>
            </a:r>
          </a:p>
          <a:p>
            <a:pPr>
              <a:lnSpc>
                <a:spcPct val="160000"/>
              </a:lnSpc>
            </a:pPr>
            <a:r>
              <a:rPr lang="en-US" dirty="0"/>
              <a:t>Consider a </a:t>
            </a:r>
            <a:r>
              <a:rPr lang="en-US" b="1" dirty="0"/>
              <a:t>hospital</a:t>
            </a:r>
            <a:r>
              <a:rPr lang="en-US" dirty="0"/>
              <a:t>, where patient information originates from laboratory systems, pharmacy databases, radiology departments, billing systems, insurance providers, and wearable medical devices. Since each system stores information differently, combining these datasets into a single patient record becomes challenging.</a:t>
            </a:r>
          </a:p>
          <a:p>
            <a:pPr>
              <a:lnSpc>
                <a:spcPct val="160000"/>
              </a:lnSpc>
            </a:pPr>
            <a:r>
              <a:rPr lang="en-US" dirty="0"/>
              <a:t>To overcome this issue, organizations use </a:t>
            </a:r>
            <a:r>
              <a:rPr lang="en-US" b="1" dirty="0"/>
              <a:t>ETL (Extract, Transform, Load)</a:t>
            </a:r>
            <a:r>
              <a:rPr lang="en-US" dirty="0"/>
              <a:t> processes, data integration platforms, and data warehousing techniques.</a:t>
            </a:r>
          </a:p>
          <a:p>
            <a:pPr>
              <a:lnSpc>
                <a:spcPct val="160000"/>
              </a:lnSpc>
            </a:pPr>
            <a:r>
              <a:rPr lang="en-US" b="1" dirty="0"/>
              <a:t>Applications</a:t>
            </a:r>
            <a:endParaRPr lang="en-US" dirty="0"/>
          </a:p>
          <a:p>
            <a:pPr lvl="0">
              <a:lnSpc>
                <a:spcPct val="160000"/>
              </a:lnSpc>
            </a:pPr>
            <a:r>
              <a:rPr lang="en-US" dirty="0"/>
              <a:t>Healthcare</a:t>
            </a:r>
          </a:p>
          <a:p>
            <a:pPr lvl="0">
              <a:lnSpc>
                <a:spcPct val="160000"/>
              </a:lnSpc>
            </a:pPr>
            <a:r>
              <a:rPr lang="en-US" dirty="0"/>
              <a:t>Banking</a:t>
            </a:r>
          </a:p>
          <a:p>
            <a:pPr lvl="0">
              <a:lnSpc>
                <a:spcPct val="160000"/>
              </a:lnSpc>
            </a:pPr>
            <a:r>
              <a:rPr lang="en-US" dirty="0"/>
              <a:t>Government Services</a:t>
            </a:r>
          </a:p>
          <a:p>
            <a:pPr lvl="0">
              <a:lnSpc>
                <a:spcPct val="160000"/>
              </a:lnSpc>
            </a:pPr>
            <a:r>
              <a:rPr lang="en-US" dirty="0"/>
              <a:t>Enterprise Resource Planning (ERP)</a:t>
            </a:r>
          </a:p>
          <a:p>
            <a:pPr lvl="0">
              <a:lnSpc>
                <a:spcPct val="160000"/>
              </a:lnSpc>
            </a:pPr>
            <a:r>
              <a:rPr lang="en-US" dirty="0"/>
              <a:t>Business Intelligence</a:t>
            </a:r>
          </a:p>
          <a:p>
            <a:pPr>
              <a:lnSpc>
                <a:spcPct val="160000"/>
              </a:lnSpc>
            </a:pPr>
            <a:endParaRPr lang="en-US" dirty="0"/>
          </a:p>
        </p:txBody>
      </p:sp>
    </p:spTree>
    <p:extLst>
      <p:ext uri="{BB962C8B-B14F-4D97-AF65-F5344CB8AC3E}">
        <p14:creationId xmlns:p14="http://schemas.microsoft.com/office/powerpoint/2010/main" val="15209941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02277"/>
            <a:ext cx="8596668" cy="5539086"/>
          </a:xfrm>
        </p:spPr>
        <p:txBody>
          <a:bodyPr>
            <a:normAutofit lnSpcReduction="10000"/>
          </a:bodyPr>
          <a:lstStyle/>
          <a:p>
            <a:r>
              <a:rPr lang="en-US" b="1" dirty="0"/>
              <a:t>4. Data Quality Challenge</a:t>
            </a:r>
            <a:endParaRPr lang="en-US" dirty="0"/>
          </a:p>
          <a:p>
            <a:r>
              <a:rPr lang="en-US" dirty="0"/>
              <a:t>The quality of Big Data directly affects the accuracy of analytical results. Big Data often contains duplicate records, missing values, inconsistent formats, incorrect entries, and outdated information. Poor-quality data leads to inaccurate predictions and poor business decisions.</a:t>
            </a:r>
          </a:p>
          <a:p>
            <a:r>
              <a:rPr lang="en-US" dirty="0"/>
              <a:t>For example, an online shopping company may have duplicate customer records where one record contains the name "Ravi" while another contains "Ravi Kumar," although both belong to the same person. Similarly, incorrect addresses or missing phone numbers can affect product delivery and customer satisfaction.</a:t>
            </a:r>
          </a:p>
          <a:p>
            <a:r>
              <a:rPr lang="en-US" dirty="0"/>
              <a:t>Organizations improve data quality through </a:t>
            </a:r>
            <a:r>
              <a:rPr lang="en-US" b="1" dirty="0"/>
              <a:t>data cleaning</a:t>
            </a:r>
            <a:r>
              <a:rPr lang="en-US" dirty="0"/>
              <a:t>, validation, standardization, and deduplication techniques.</a:t>
            </a:r>
          </a:p>
          <a:p>
            <a:r>
              <a:rPr lang="en-US" b="1" dirty="0"/>
              <a:t>Applications</a:t>
            </a:r>
            <a:endParaRPr lang="en-US" dirty="0"/>
          </a:p>
          <a:p>
            <a:pPr lvl="0"/>
            <a:r>
              <a:rPr lang="en-US" dirty="0"/>
              <a:t>Customer Relationship Management (CRM)</a:t>
            </a:r>
          </a:p>
          <a:p>
            <a:pPr lvl="0"/>
            <a:r>
              <a:rPr lang="en-US" dirty="0"/>
              <a:t>Healthcare</a:t>
            </a:r>
          </a:p>
          <a:p>
            <a:pPr lvl="0"/>
            <a:r>
              <a:rPr lang="en-US" dirty="0"/>
              <a:t>Government Census</a:t>
            </a:r>
          </a:p>
          <a:p>
            <a:pPr lvl="0"/>
            <a:r>
              <a:rPr lang="en-US" dirty="0"/>
              <a:t>Banking</a:t>
            </a:r>
          </a:p>
          <a:p>
            <a:endParaRPr lang="en-US" dirty="0"/>
          </a:p>
        </p:txBody>
      </p:sp>
    </p:spTree>
    <p:extLst>
      <p:ext uri="{BB962C8B-B14F-4D97-AF65-F5344CB8AC3E}">
        <p14:creationId xmlns:p14="http://schemas.microsoft.com/office/powerpoint/2010/main" val="21510487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40913" y="655478"/>
            <a:ext cx="8783392" cy="5391541"/>
          </a:xfrm>
          <a:prstGeom prst="rect">
            <a:avLst/>
          </a:prstGeom>
        </p:spPr>
        <p:txBody>
          <a:bodyPr wrap="square">
            <a:spAutoFit/>
          </a:bodyPr>
          <a:lstStyle/>
          <a:p>
            <a:pPr>
              <a:lnSpc>
                <a:spcPct val="107000"/>
              </a:lnSpc>
              <a:spcAft>
                <a:spcPts val="800"/>
              </a:spcAft>
            </a:pPr>
            <a:r>
              <a:rPr lang="en-US" sz="3600" b="1" kern="1800" dirty="0">
                <a:latin typeface="Times New Roman" panose="02020603050405020304" pitchFamily="18" charset="0"/>
                <a:ea typeface="Times New Roman" panose="02020603050405020304" pitchFamily="18" charset="0"/>
                <a:cs typeface="Times New Roman" panose="02020603050405020304" pitchFamily="18" charset="0"/>
              </a:rPr>
              <a:t>5. Security and Privacy Challenge</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Big Data systems store vast amounts of sensitive and confidential information, making security one of the most critical challenges. Unauthorized access, cyberattacks, data breaches, and identity theft can cause severe financial and reputational damage.</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For example, banks store customer account details, credit card information, transaction history,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Aadhaar</a:t>
            </a:r>
            <a:r>
              <a:rPr lang="en-US" dirty="0">
                <a:latin typeface="Times New Roman" panose="02020603050405020304" pitchFamily="18" charset="0"/>
                <a:ea typeface="Times New Roman" panose="02020603050405020304" pitchFamily="18" charset="0"/>
                <a:cs typeface="Times New Roman" panose="02020603050405020304" pitchFamily="18" charset="0"/>
              </a:rPr>
              <a:t> or PAN details, and loan records. If cybercriminals gain access to this information, millions of customers could be affected.</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Organizations use encryption, authentication, authorization, firewalls, intrusion detection systems, and cybersecurity frameworks to protect sensitive data.</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Applications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Online Banking</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Healthcare</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Government Portals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Insurance Companies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416360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15155"/>
            <a:ext cx="8596668" cy="5526207"/>
          </a:xfrm>
        </p:spPr>
        <p:txBody>
          <a:bodyPr>
            <a:normAutofit/>
          </a:bodyPr>
          <a:lstStyle/>
          <a:p>
            <a:pPr marL="0" indent="0">
              <a:buNone/>
            </a:pPr>
            <a:r>
              <a:rPr lang="en-US" b="1" dirty="0"/>
              <a:t>6. Scalability Challenge</a:t>
            </a:r>
          </a:p>
          <a:p>
            <a:r>
              <a:rPr lang="en-US" dirty="0"/>
              <a:t>As organizations continue to grow, their data also grows continuously. Big Data systems must be capable of handling increasing workloads without compromising performance. This ability is known as scalability.</a:t>
            </a:r>
          </a:p>
          <a:p>
            <a:r>
              <a:rPr lang="en-US" dirty="0"/>
              <a:t>For example, during festivals or major shopping events such as Amazon Prime Day or Flipkart Big Billion Days, millions of customers simultaneously browse products and place orders. The infrastructure automatically adds additional servers to accommodate the increased workload.</a:t>
            </a:r>
          </a:p>
          <a:p>
            <a:r>
              <a:rPr lang="en-US" dirty="0"/>
              <a:t>Cloud computing platforms and Hadoop clusters enable horizontal scaling by adding more servers whenever required.</a:t>
            </a:r>
          </a:p>
          <a:p>
            <a:r>
              <a:rPr lang="en-US" dirty="0"/>
              <a:t>Applications</a:t>
            </a:r>
          </a:p>
          <a:p>
            <a:pPr marL="0" indent="0">
              <a:buNone/>
            </a:pPr>
            <a:r>
              <a:rPr lang="en-US" dirty="0"/>
              <a:t>•	Cloud Computing</a:t>
            </a:r>
          </a:p>
          <a:p>
            <a:pPr marL="0" indent="0">
              <a:buNone/>
            </a:pPr>
            <a:r>
              <a:rPr lang="en-US" dirty="0"/>
              <a:t>•	E-commerce</a:t>
            </a:r>
          </a:p>
          <a:p>
            <a:pPr marL="0" indent="0">
              <a:buNone/>
            </a:pPr>
            <a:r>
              <a:rPr lang="en-US" dirty="0"/>
              <a:t>•	Video Streaming</a:t>
            </a:r>
          </a:p>
          <a:p>
            <a:pPr marL="0" indent="0">
              <a:buNone/>
            </a:pPr>
            <a:r>
              <a:rPr lang="en-US" dirty="0"/>
              <a:t>•	Social </a:t>
            </a:r>
            <a:r>
              <a:rPr lang="en-US" dirty="0" smtClean="0"/>
              <a:t>Media</a:t>
            </a:r>
            <a:endParaRPr lang="en-US" dirty="0"/>
          </a:p>
          <a:p>
            <a:endParaRPr lang="en-US" dirty="0"/>
          </a:p>
        </p:txBody>
      </p:sp>
    </p:spTree>
    <p:extLst>
      <p:ext uri="{BB962C8B-B14F-4D97-AF65-F5344CB8AC3E}">
        <p14:creationId xmlns:p14="http://schemas.microsoft.com/office/powerpoint/2010/main" val="18913726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53793"/>
            <a:ext cx="8596668" cy="5487570"/>
          </a:xfrm>
        </p:spPr>
        <p:txBody>
          <a:bodyPr>
            <a:normAutofit lnSpcReduction="10000"/>
          </a:bodyPr>
          <a:lstStyle/>
          <a:p>
            <a:r>
              <a:rPr lang="en-US" b="1" dirty="0"/>
              <a:t>7. Real-Time Data Processing Challenge</a:t>
            </a:r>
            <a:endParaRPr lang="en-US" dirty="0"/>
          </a:p>
          <a:p>
            <a:r>
              <a:rPr lang="en-US" dirty="0"/>
              <a:t>Many modern applications require immediate analysis of continuously generated data. Delayed processing may lead to incorrect decisions or missed opportunities. Therefore, real-time analytics has become an essential requirement for Big Data systems.</a:t>
            </a:r>
          </a:p>
          <a:p>
            <a:r>
              <a:rPr lang="en-US" dirty="0"/>
              <a:t>A good example is </a:t>
            </a:r>
            <a:r>
              <a:rPr lang="en-US" b="1" dirty="0"/>
              <a:t>Google Maps</a:t>
            </a:r>
            <a:r>
              <a:rPr lang="en-US" dirty="0"/>
              <a:t>, which continuously collects GPS coordinates and vehicle speeds from millions of smartphones. This information is processed instantly to estimate traffic congestion and suggest the fastest routes to users.</a:t>
            </a:r>
          </a:p>
          <a:p>
            <a:r>
              <a:rPr lang="en-US" dirty="0"/>
              <a:t>Technologies such as Apache Spark Streaming, Apache Kafka, and Apache </a:t>
            </a:r>
            <a:r>
              <a:rPr lang="en-US" dirty="0" err="1"/>
              <a:t>Flink</a:t>
            </a:r>
            <a:r>
              <a:rPr lang="en-US" dirty="0"/>
              <a:t> support real-time processing.</a:t>
            </a:r>
          </a:p>
          <a:p>
            <a:r>
              <a:rPr lang="en-US" b="1" dirty="0"/>
              <a:t>Applications</a:t>
            </a:r>
            <a:endParaRPr lang="en-US" dirty="0"/>
          </a:p>
          <a:p>
            <a:pPr lvl="0"/>
            <a:r>
              <a:rPr lang="en-US" dirty="0"/>
              <a:t>Stock Market Analysis</a:t>
            </a:r>
          </a:p>
          <a:p>
            <a:pPr lvl="0"/>
            <a:r>
              <a:rPr lang="en-US" dirty="0"/>
              <a:t>Traffic Monitoring</a:t>
            </a:r>
          </a:p>
          <a:p>
            <a:pPr lvl="0"/>
            <a:r>
              <a:rPr lang="en-US" dirty="0"/>
              <a:t>Fraud Detection</a:t>
            </a:r>
          </a:p>
          <a:p>
            <a:pPr lvl="0"/>
            <a:r>
              <a:rPr lang="en-US" dirty="0"/>
              <a:t>Smart Cities</a:t>
            </a:r>
          </a:p>
          <a:p>
            <a:pPr lvl="0"/>
            <a:r>
              <a:rPr lang="en-US" dirty="0"/>
              <a:t>Emergency Response Systems</a:t>
            </a:r>
          </a:p>
          <a:p>
            <a:endParaRPr lang="en-US" dirty="0"/>
          </a:p>
        </p:txBody>
      </p:sp>
    </p:spTree>
    <p:extLst>
      <p:ext uri="{BB962C8B-B14F-4D97-AF65-F5344CB8AC3E}">
        <p14:creationId xmlns:p14="http://schemas.microsoft.com/office/powerpoint/2010/main" val="25239546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3" y="-87086"/>
            <a:ext cx="9047237" cy="6742089"/>
          </a:xfrm>
        </p:spPr>
        <p:txBody>
          <a:bodyPr>
            <a:noAutofit/>
          </a:bodyPr>
          <a:lstStyle/>
          <a:p>
            <a:pPr marL="0" indent="0">
              <a:lnSpc>
                <a:spcPct val="160000"/>
              </a:lnSpc>
              <a:buNone/>
            </a:pPr>
            <a:r>
              <a:rPr lang="en-US" sz="1600" b="1" dirty="0"/>
              <a:t>8. Data Visualization Challenge</a:t>
            </a:r>
          </a:p>
          <a:p>
            <a:pPr>
              <a:lnSpc>
                <a:spcPct val="160000"/>
              </a:lnSpc>
            </a:pPr>
            <a:r>
              <a:rPr lang="en-US" sz="1600" dirty="0"/>
              <a:t>Although Big Data contains valuable insights, understanding millions of records in raw form is impossible. Data visualization converts complex datasets into charts, graphs, dashboards, and maps that help decision-makers quickly understand trends and patterns.</a:t>
            </a:r>
          </a:p>
          <a:p>
            <a:pPr>
              <a:lnSpc>
                <a:spcPct val="160000"/>
              </a:lnSpc>
            </a:pPr>
            <a:r>
              <a:rPr lang="en-US" sz="1600" dirty="0"/>
              <a:t>During the COVID-19 pandemic, governments displayed daily infection rates, vaccination statistics, and recovery trends using interactive dashboards instead of raw tables. These visualizations enabled authorities and citizens to understand the situation more effectively.</a:t>
            </a:r>
          </a:p>
          <a:p>
            <a:pPr>
              <a:lnSpc>
                <a:spcPct val="160000"/>
              </a:lnSpc>
            </a:pPr>
            <a:r>
              <a:rPr lang="en-US" sz="1600" dirty="0"/>
              <a:t>Popular visualization tools include Tableau, Microsoft Power BI, and Google Looker Studio.</a:t>
            </a:r>
          </a:p>
          <a:p>
            <a:pPr>
              <a:lnSpc>
                <a:spcPct val="160000"/>
              </a:lnSpc>
            </a:pPr>
            <a:r>
              <a:rPr lang="en-US" sz="1600" dirty="0"/>
              <a:t>Applications</a:t>
            </a:r>
          </a:p>
          <a:p>
            <a:pPr marL="0" indent="0">
              <a:lnSpc>
                <a:spcPct val="160000"/>
              </a:lnSpc>
              <a:buNone/>
            </a:pPr>
            <a:r>
              <a:rPr lang="en-US" sz="1600" dirty="0"/>
              <a:t>•	Business Intelligence</a:t>
            </a:r>
          </a:p>
          <a:p>
            <a:pPr marL="0" indent="0">
              <a:lnSpc>
                <a:spcPct val="160000"/>
              </a:lnSpc>
              <a:buNone/>
            </a:pPr>
            <a:r>
              <a:rPr lang="en-US" sz="1600" dirty="0"/>
              <a:t>•	Sales Analytics</a:t>
            </a:r>
          </a:p>
          <a:p>
            <a:pPr marL="0" indent="0">
              <a:lnSpc>
                <a:spcPct val="160000"/>
              </a:lnSpc>
              <a:buNone/>
            </a:pPr>
            <a:r>
              <a:rPr lang="en-US" sz="1600" dirty="0"/>
              <a:t>•	Healthcare Dashboards</a:t>
            </a:r>
          </a:p>
          <a:p>
            <a:pPr marL="0" indent="0">
              <a:lnSpc>
                <a:spcPct val="160000"/>
              </a:lnSpc>
              <a:buNone/>
            </a:pPr>
            <a:r>
              <a:rPr lang="en-US" sz="1600" dirty="0"/>
              <a:t>•	Government </a:t>
            </a:r>
            <a:r>
              <a:rPr lang="en-US" sz="1600" dirty="0" smtClean="0"/>
              <a:t>Reporting</a:t>
            </a:r>
            <a:endParaRPr lang="en-US" sz="1600" dirty="0"/>
          </a:p>
          <a:p>
            <a:pPr>
              <a:lnSpc>
                <a:spcPct val="160000"/>
              </a:lnSpc>
            </a:pPr>
            <a:endParaRPr lang="en-US" sz="1600" dirty="0"/>
          </a:p>
        </p:txBody>
      </p:sp>
    </p:spTree>
    <p:extLst>
      <p:ext uri="{BB962C8B-B14F-4D97-AF65-F5344CB8AC3E}">
        <p14:creationId xmlns:p14="http://schemas.microsoft.com/office/powerpoint/2010/main" val="370654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377371"/>
            <a:ext cx="8596668" cy="5663991"/>
          </a:xfrm>
        </p:spPr>
        <p:txBody>
          <a:bodyPr>
            <a:normAutofit/>
          </a:bodyPr>
          <a:lstStyle/>
          <a:p>
            <a:r>
              <a:rPr lang="en-US" b="1" dirty="0"/>
              <a:t>9. Cost Challenge</a:t>
            </a:r>
            <a:endParaRPr lang="en-US" dirty="0"/>
          </a:p>
          <a:p>
            <a:r>
              <a:rPr lang="en-US" dirty="0"/>
              <a:t>Implementing and maintaining Big Data infrastructure requires substantial investment in storage, networking, processing power, software licenses, cloud services, and skilled professionals. Organizations must carefully manage these costs while ensuring high performance.</a:t>
            </a:r>
          </a:p>
          <a:p>
            <a:r>
              <a:rPr lang="en-US" dirty="0"/>
              <a:t>For example, </a:t>
            </a:r>
            <a:r>
              <a:rPr lang="en-US" b="1" dirty="0"/>
              <a:t>Netflix</a:t>
            </a:r>
            <a:r>
              <a:rPr lang="en-US" dirty="0"/>
              <a:t> stores petabytes of movies, customer preferences, recommendation data, and streaming logs. Running thousands of cloud servers continuously involves considerable operational expenditure.</a:t>
            </a:r>
          </a:p>
          <a:p>
            <a:r>
              <a:rPr lang="en-US" dirty="0"/>
              <a:t>Cloud computing reduces infrastructure costs through flexible </a:t>
            </a:r>
            <a:r>
              <a:rPr lang="en-US" b="1" dirty="0"/>
              <a:t>pay-as-you-use</a:t>
            </a:r>
            <a:r>
              <a:rPr lang="en-US" dirty="0"/>
              <a:t> pricing models.</a:t>
            </a:r>
          </a:p>
          <a:p>
            <a:r>
              <a:rPr lang="en-US" b="1" dirty="0"/>
              <a:t>Applications</a:t>
            </a:r>
            <a:endParaRPr lang="en-US" dirty="0"/>
          </a:p>
          <a:p>
            <a:pPr lvl="0"/>
            <a:r>
              <a:rPr lang="en-US" dirty="0"/>
              <a:t>Cloud Data Centers</a:t>
            </a:r>
          </a:p>
          <a:p>
            <a:pPr lvl="0"/>
            <a:r>
              <a:rPr lang="en-US" dirty="0"/>
              <a:t>Enterprise Analytics</a:t>
            </a:r>
          </a:p>
          <a:p>
            <a:r>
              <a:rPr lang="en-US" dirty="0"/>
              <a:t>Multimedia Streaming Platforms</a:t>
            </a:r>
          </a:p>
        </p:txBody>
      </p:sp>
    </p:spTree>
    <p:extLst>
      <p:ext uri="{BB962C8B-B14F-4D97-AF65-F5344CB8AC3E}">
        <p14:creationId xmlns:p14="http://schemas.microsoft.com/office/powerpoint/2010/main" val="29863805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59657"/>
            <a:ext cx="8596668" cy="5881706"/>
          </a:xfrm>
        </p:spPr>
        <p:txBody>
          <a:bodyPr>
            <a:noAutofit/>
          </a:bodyPr>
          <a:lstStyle/>
          <a:p>
            <a:pPr marL="0" indent="0">
              <a:lnSpc>
                <a:spcPct val="160000"/>
              </a:lnSpc>
              <a:buNone/>
            </a:pPr>
            <a:r>
              <a:rPr lang="en-US" sz="1400" b="1" dirty="0"/>
              <a:t>10. Shortage of Skilled Professionals</a:t>
            </a:r>
          </a:p>
          <a:p>
            <a:pPr>
              <a:lnSpc>
                <a:spcPct val="160000"/>
              </a:lnSpc>
            </a:pPr>
            <a:r>
              <a:rPr lang="en-US" sz="1400" dirty="0"/>
              <a:t>Another major challenge is the shortage of professionals who possess expertise in Big Data technologies. Organizations require skilled data engineers, data scientists, cloud architects, machine learning engineers, and cybersecurity specialists to manage complex Big Data environments.</a:t>
            </a:r>
          </a:p>
          <a:p>
            <a:pPr>
              <a:lnSpc>
                <a:spcPct val="160000"/>
              </a:lnSpc>
            </a:pPr>
            <a:r>
              <a:rPr lang="en-US" sz="1400" dirty="0"/>
              <a:t>For example, a bank implementing AI-based fraud detection needs professionals who understand Hadoop, Spark, machine learning algorithms, cloud platforms, and cybersecurity. The limited availability of such experts often delays project implementation.</a:t>
            </a:r>
          </a:p>
          <a:p>
            <a:pPr>
              <a:lnSpc>
                <a:spcPct val="160000"/>
              </a:lnSpc>
            </a:pPr>
            <a:r>
              <a:rPr lang="en-US" sz="1400" dirty="0"/>
              <a:t>Organizations overcome this challenge through employee training, certification programs, and partnerships with educational institutions.</a:t>
            </a:r>
          </a:p>
          <a:p>
            <a:pPr>
              <a:lnSpc>
                <a:spcPct val="160000"/>
              </a:lnSpc>
            </a:pPr>
            <a:r>
              <a:rPr lang="en-US" sz="1400" b="1" dirty="0"/>
              <a:t>Applications</a:t>
            </a:r>
          </a:p>
          <a:p>
            <a:pPr marL="0" indent="0">
              <a:lnSpc>
                <a:spcPct val="160000"/>
              </a:lnSpc>
              <a:buNone/>
            </a:pPr>
            <a:r>
              <a:rPr lang="en-US" sz="1400" dirty="0"/>
              <a:t>•	Banking</a:t>
            </a:r>
          </a:p>
          <a:p>
            <a:pPr marL="0" indent="0">
              <a:lnSpc>
                <a:spcPct val="160000"/>
              </a:lnSpc>
              <a:buNone/>
            </a:pPr>
            <a:r>
              <a:rPr lang="en-US" sz="1400" dirty="0"/>
              <a:t>•	Healthcare</a:t>
            </a:r>
          </a:p>
          <a:p>
            <a:pPr marL="0" indent="0">
              <a:lnSpc>
                <a:spcPct val="160000"/>
              </a:lnSpc>
              <a:buNone/>
            </a:pPr>
            <a:r>
              <a:rPr lang="en-US" sz="1400" dirty="0"/>
              <a:t>•	Manufacturing</a:t>
            </a:r>
          </a:p>
          <a:p>
            <a:pPr marL="0" indent="0">
              <a:lnSpc>
                <a:spcPct val="160000"/>
              </a:lnSpc>
              <a:buNone/>
            </a:pPr>
            <a:r>
              <a:rPr lang="en-US" sz="1400" dirty="0"/>
              <a:t>•	Information Technology</a:t>
            </a:r>
          </a:p>
          <a:p>
            <a:pPr marL="0" indent="0">
              <a:lnSpc>
                <a:spcPct val="160000"/>
              </a:lnSpc>
              <a:buNone/>
            </a:pPr>
            <a:r>
              <a:rPr lang="en-US" sz="1400" dirty="0"/>
              <a:t>•	Telecommunications</a:t>
            </a:r>
          </a:p>
          <a:p>
            <a:pPr>
              <a:lnSpc>
                <a:spcPct val="160000"/>
              </a:lnSpc>
            </a:pPr>
            <a:endParaRPr lang="en-US" sz="1400" dirty="0"/>
          </a:p>
        </p:txBody>
      </p:sp>
    </p:spTree>
    <p:extLst>
      <p:ext uri="{BB962C8B-B14F-4D97-AF65-F5344CB8AC3E}">
        <p14:creationId xmlns:p14="http://schemas.microsoft.com/office/powerpoint/2010/main" val="15330191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Aptitude Question -4</a:t>
            </a:r>
            <a:endParaRPr lang="en-US" dirty="0"/>
          </a:p>
        </p:txBody>
      </p:sp>
      <p:sp>
        <p:nvSpPr>
          <p:cNvPr id="3" name="Content Placeholder 2"/>
          <p:cNvSpPr>
            <a:spLocks noGrp="1"/>
          </p:cNvSpPr>
          <p:nvPr>
            <p:ph idx="1"/>
          </p:nvPr>
        </p:nvSpPr>
        <p:spPr/>
        <p:txBody>
          <a:bodyPr/>
          <a:lstStyle/>
          <a:p>
            <a:r>
              <a:rPr lang="en-US" dirty="0"/>
              <a:t>A company's revenue increased by </a:t>
            </a:r>
            <a:r>
              <a:rPr lang="en-US" b="1" dirty="0"/>
              <a:t>25%</a:t>
            </a:r>
            <a:r>
              <a:rPr lang="en-US" dirty="0"/>
              <a:t> in the first year, decreased by </a:t>
            </a:r>
            <a:r>
              <a:rPr lang="en-US" b="1" dirty="0"/>
              <a:t>20%</a:t>
            </a:r>
            <a:r>
              <a:rPr lang="en-US" dirty="0"/>
              <a:t> in the second year, increased by </a:t>
            </a:r>
            <a:r>
              <a:rPr lang="en-US" b="1" dirty="0"/>
              <a:t>40%</a:t>
            </a:r>
            <a:r>
              <a:rPr lang="en-US" dirty="0"/>
              <a:t> in the third year, and finally decreased by </a:t>
            </a:r>
            <a:r>
              <a:rPr lang="en-US" b="1" dirty="0"/>
              <a:t>30%</a:t>
            </a:r>
            <a:r>
              <a:rPr lang="en-US" dirty="0"/>
              <a:t> in the fourth year.</a:t>
            </a:r>
          </a:p>
          <a:p>
            <a:r>
              <a:rPr lang="en-US" dirty="0"/>
              <a:t>If the initial revenue was ₹8 crore, what is the final revenue? What is the overall percentage change?</a:t>
            </a:r>
          </a:p>
          <a:p>
            <a:endParaRPr lang="en-US" dirty="0"/>
          </a:p>
        </p:txBody>
      </p:sp>
    </p:spTree>
    <p:extLst>
      <p:ext uri="{BB962C8B-B14F-4D97-AF65-F5344CB8AC3E}">
        <p14:creationId xmlns:p14="http://schemas.microsoft.com/office/powerpoint/2010/main" val="29253618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a:xfrm>
            <a:off x="677334" y="1352551"/>
            <a:ext cx="9400116" cy="4688812"/>
          </a:xfrm>
        </p:spPr>
        <p:txBody>
          <a:bodyPr>
            <a:normAutofit lnSpcReduction="10000"/>
          </a:bodyPr>
          <a:lstStyle/>
          <a:p>
            <a:r>
              <a:rPr lang="en-US" dirty="0"/>
              <a:t>Successive percentage changes can be combined using multiplication factors:</a:t>
            </a:r>
          </a:p>
          <a:p>
            <a:r>
              <a:rPr lang="en-US" dirty="0"/>
              <a:t>Increase by </a:t>
            </a:r>
            <a:r>
              <a:rPr lang="en-US" b="1" dirty="0"/>
              <a:t>25%</a:t>
            </a:r>
            <a:r>
              <a:rPr lang="en-US" dirty="0"/>
              <a:t> → × </a:t>
            </a:r>
            <a:r>
              <a:rPr lang="en-US" b="1" dirty="0"/>
              <a:t>1.25</a:t>
            </a:r>
            <a:r>
              <a:rPr lang="en-US" dirty="0"/>
              <a:t> </a:t>
            </a:r>
          </a:p>
          <a:p>
            <a:r>
              <a:rPr lang="en-US" dirty="0"/>
              <a:t>Decrease by </a:t>
            </a:r>
            <a:r>
              <a:rPr lang="en-US" b="1" dirty="0"/>
              <a:t>20%</a:t>
            </a:r>
            <a:r>
              <a:rPr lang="en-US" dirty="0"/>
              <a:t> → × </a:t>
            </a:r>
            <a:r>
              <a:rPr lang="en-US" b="1" dirty="0"/>
              <a:t>0.80</a:t>
            </a:r>
            <a:r>
              <a:rPr lang="en-US" dirty="0"/>
              <a:t> </a:t>
            </a:r>
          </a:p>
          <a:p>
            <a:r>
              <a:rPr lang="en-US" dirty="0"/>
              <a:t>Increase by </a:t>
            </a:r>
            <a:r>
              <a:rPr lang="en-US" b="1" dirty="0"/>
              <a:t>40%</a:t>
            </a:r>
            <a:r>
              <a:rPr lang="en-US" dirty="0"/>
              <a:t> → × </a:t>
            </a:r>
            <a:r>
              <a:rPr lang="en-US" b="1" dirty="0"/>
              <a:t>1.40</a:t>
            </a:r>
            <a:r>
              <a:rPr lang="en-US" dirty="0"/>
              <a:t> </a:t>
            </a:r>
          </a:p>
          <a:p>
            <a:r>
              <a:rPr lang="en-US" dirty="0"/>
              <a:t>Decrease by </a:t>
            </a:r>
            <a:r>
              <a:rPr lang="en-US" b="1" dirty="0"/>
              <a:t>30%</a:t>
            </a:r>
            <a:r>
              <a:rPr lang="en-US" dirty="0"/>
              <a:t> → × </a:t>
            </a:r>
            <a:r>
              <a:rPr lang="en-US" b="1" dirty="0"/>
              <a:t>0.70</a:t>
            </a:r>
            <a:r>
              <a:rPr lang="en-US" dirty="0"/>
              <a:t> </a:t>
            </a:r>
          </a:p>
          <a:p>
            <a:r>
              <a:rPr lang="en-US" dirty="0"/>
              <a:t>Overall multiplier:</a:t>
            </a:r>
          </a:p>
          <a:p>
            <a:r>
              <a:rPr lang="en-US" dirty="0" smtClean="0"/>
              <a:t>1.25×0.80×1.40×0.70 </a:t>
            </a:r>
            <a:r>
              <a:rPr lang="en-US" dirty="0"/>
              <a:t>=</a:t>
            </a:r>
            <a:r>
              <a:rPr lang="en-US" dirty="0" smtClean="0"/>
              <a:t>0.98</a:t>
            </a:r>
          </a:p>
          <a:p>
            <a:r>
              <a:rPr lang="en-US" dirty="0" smtClean="0"/>
              <a:t> </a:t>
            </a:r>
            <a:r>
              <a:rPr lang="en-US" dirty="0"/>
              <a:t>Final revenue:</a:t>
            </a:r>
          </a:p>
          <a:p>
            <a:r>
              <a:rPr lang="en-US" dirty="0"/>
              <a:t>8×0.98=₹7.84 </a:t>
            </a:r>
            <a:r>
              <a:rPr lang="en-US" dirty="0" smtClean="0"/>
              <a:t>crores</a:t>
            </a:r>
          </a:p>
          <a:p>
            <a:r>
              <a:rPr lang="en-US" dirty="0" smtClean="0"/>
              <a:t> </a:t>
            </a:r>
            <a:r>
              <a:rPr lang="en-US" dirty="0"/>
              <a:t>Since the multiplier is </a:t>
            </a:r>
            <a:r>
              <a:rPr lang="en-US" b="1" dirty="0"/>
              <a:t>0.98</a:t>
            </a:r>
            <a:r>
              <a:rPr lang="en-US" dirty="0"/>
              <a:t>, the company retains </a:t>
            </a:r>
            <a:r>
              <a:rPr lang="en-US" b="1" dirty="0"/>
              <a:t>98%</a:t>
            </a:r>
            <a:r>
              <a:rPr lang="en-US" dirty="0"/>
              <a:t> of its original revenue.</a:t>
            </a:r>
          </a:p>
          <a:p>
            <a:r>
              <a:rPr lang="en-US" dirty="0"/>
              <a:t>Therefore, the net change is:</a:t>
            </a:r>
          </a:p>
          <a:p>
            <a:r>
              <a:rPr lang="en-US" dirty="0"/>
              <a:t>100%−98%=2% </a:t>
            </a:r>
            <a:r>
              <a:rPr lang="en-US" dirty="0" smtClean="0"/>
              <a:t>decrease</a:t>
            </a:r>
            <a:endParaRPr lang="en-US" dirty="0"/>
          </a:p>
        </p:txBody>
      </p:sp>
    </p:spTree>
    <p:extLst>
      <p:ext uri="{BB962C8B-B14F-4D97-AF65-F5344CB8AC3E}">
        <p14:creationId xmlns:p14="http://schemas.microsoft.com/office/powerpoint/2010/main" val="37370856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APTITUDE QUESTION</a:t>
            </a:r>
            <a:endParaRPr lang="en-US" dirty="0"/>
          </a:p>
        </p:txBody>
      </p:sp>
      <p:sp>
        <p:nvSpPr>
          <p:cNvPr id="3" name="Content Placeholder 2"/>
          <p:cNvSpPr>
            <a:spLocks noGrp="1"/>
          </p:cNvSpPr>
          <p:nvPr>
            <p:ph idx="1"/>
          </p:nvPr>
        </p:nvSpPr>
        <p:spPr/>
        <p:txBody>
          <a:bodyPr/>
          <a:lstStyle/>
          <a:p>
            <a:r>
              <a:rPr lang="en-US" dirty="0"/>
              <a:t>The population of a city consists of</a:t>
            </a:r>
          </a:p>
          <a:p>
            <a:r>
              <a:rPr lang="en-US" dirty="0"/>
              <a:t>40% children, </a:t>
            </a:r>
          </a:p>
          <a:p>
            <a:r>
              <a:rPr lang="en-US" dirty="0"/>
              <a:t>35% adults, </a:t>
            </a:r>
          </a:p>
          <a:p>
            <a:r>
              <a:rPr lang="en-US" dirty="0"/>
              <a:t>remaining senior citizens. </a:t>
            </a:r>
          </a:p>
          <a:p>
            <a:r>
              <a:rPr lang="en-US" dirty="0"/>
              <a:t>The number of children increases by </a:t>
            </a:r>
            <a:r>
              <a:rPr lang="en-US" b="1" dirty="0"/>
              <a:t>15%</a:t>
            </a:r>
            <a:r>
              <a:rPr lang="en-US" dirty="0"/>
              <a:t>, adults decrease by </a:t>
            </a:r>
            <a:r>
              <a:rPr lang="en-US" b="1" dirty="0"/>
              <a:t>10%</a:t>
            </a:r>
            <a:r>
              <a:rPr lang="en-US" dirty="0"/>
              <a:t>, and senior citizens increase by </a:t>
            </a:r>
            <a:r>
              <a:rPr lang="en-US" b="1" dirty="0"/>
              <a:t>20%</a:t>
            </a:r>
            <a:r>
              <a:rPr lang="en-US" dirty="0"/>
              <a:t>.</a:t>
            </a:r>
          </a:p>
          <a:p>
            <a:r>
              <a:rPr lang="en-US" dirty="0"/>
              <a:t>If the final population becomes </a:t>
            </a:r>
            <a:r>
              <a:rPr lang="en-US" b="1" dirty="0"/>
              <a:t>11,07,000</a:t>
            </a:r>
            <a:r>
              <a:rPr lang="en-US" dirty="0"/>
              <a:t>, find the original population.</a:t>
            </a:r>
          </a:p>
          <a:p>
            <a:endParaRPr lang="en-US" dirty="0"/>
          </a:p>
        </p:txBody>
      </p:sp>
    </p:spTree>
    <p:extLst>
      <p:ext uri="{BB962C8B-B14F-4D97-AF65-F5344CB8AC3E}">
        <p14:creationId xmlns:p14="http://schemas.microsoft.com/office/powerpoint/2010/main" val="40699742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buNone/>
            </a:pPr>
            <a:r>
              <a:rPr lang="en-US" b="1" dirty="0"/>
              <a:t>Overall growth factor</a:t>
            </a:r>
          </a:p>
          <a:p>
            <a:pPr marL="0" indent="0">
              <a:buNone/>
            </a:pPr>
            <a:r>
              <a:rPr lang="en-US" dirty="0"/>
              <a:t>=(40%×1.15)+(35%×0.90)+(25%×1.20</a:t>
            </a:r>
            <a:r>
              <a:rPr lang="en-US" dirty="0" smtClean="0"/>
              <a:t>)</a:t>
            </a:r>
          </a:p>
          <a:p>
            <a:pPr marL="0" indent="0">
              <a:buNone/>
            </a:pPr>
            <a:r>
              <a:rPr lang="en-US" dirty="0" smtClean="0"/>
              <a:t>=</a:t>
            </a:r>
            <a:r>
              <a:rPr lang="en-US" dirty="0"/>
              <a:t>46%+31.5%+30</a:t>
            </a:r>
            <a:r>
              <a:rPr lang="en-US" dirty="0" smtClean="0"/>
              <a:t>%</a:t>
            </a:r>
          </a:p>
          <a:p>
            <a:pPr marL="0" indent="0">
              <a:buNone/>
            </a:pPr>
            <a:r>
              <a:rPr lang="en-US" dirty="0" smtClean="0"/>
              <a:t>=107.5%</a:t>
            </a:r>
          </a:p>
          <a:p>
            <a:pPr marL="0" indent="0">
              <a:buNone/>
            </a:pPr>
            <a:r>
              <a:rPr lang="en-US" dirty="0" smtClean="0"/>
              <a:t>Thus</a:t>
            </a:r>
            <a:r>
              <a:rPr lang="en-US" dirty="0"/>
              <a:t>,</a:t>
            </a:r>
          </a:p>
          <a:p>
            <a:pPr marL="0" indent="0">
              <a:buNone/>
            </a:pPr>
            <a:r>
              <a:rPr lang="en-US" dirty="0"/>
              <a:t>Final Population=107.5% of </a:t>
            </a:r>
            <a:r>
              <a:rPr lang="en-US" dirty="0" smtClean="0"/>
              <a:t>Original</a:t>
            </a:r>
          </a:p>
          <a:p>
            <a:pPr marL="0" indent="0">
              <a:buNone/>
            </a:pPr>
            <a:r>
              <a:rPr lang="en-US" dirty="0" smtClean="0"/>
              <a:t>1.075x=11,07,000</a:t>
            </a:r>
          </a:p>
          <a:p>
            <a:pPr marL="0" indent="0">
              <a:buNone/>
            </a:pPr>
            <a:r>
              <a:rPr lang="en-US" dirty="0" smtClean="0"/>
              <a:t>x=11,07,000/1.075</a:t>
            </a:r>
            <a:r>
              <a:rPr lang="en-US" dirty="0"/>
              <a:t>≈</a:t>
            </a:r>
            <a:r>
              <a:rPr lang="en-US" dirty="0" smtClean="0"/>
              <a:t>10,29,767</a:t>
            </a:r>
          </a:p>
          <a:p>
            <a:pPr marL="0" indent="0">
              <a:buNone/>
            </a:pPr>
            <a:r>
              <a:rPr lang="en-US" dirty="0"/>
              <a:t>Original Population: ≈10,29,767	​ (approximately 10.30 lakh</a:t>
            </a:r>
            <a:r>
              <a:rPr lang="en-US" dirty="0" smtClean="0"/>
              <a:t>)</a:t>
            </a:r>
          </a:p>
          <a:p>
            <a:pPr marL="0" indent="0">
              <a:buNone/>
            </a:pPr>
            <a:r>
              <a:rPr lang="en-US" dirty="0" smtClean="0"/>
              <a:t>Final </a:t>
            </a:r>
            <a:r>
              <a:rPr lang="en-US" dirty="0"/>
              <a:t>Population: 11,07,000</a:t>
            </a:r>
          </a:p>
        </p:txBody>
      </p:sp>
    </p:spTree>
    <p:extLst>
      <p:ext uri="{BB962C8B-B14F-4D97-AF65-F5344CB8AC3E}">
        <p14:creationId xmlns:p14="http://schemas.microsoft.com/office/powerpoint/2010/main" val="32027860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APTITUDE QUESTONS ON PROPORTION</a:t>
            </a:r>
            <a:endParaRPr lang="en-US" dirty="0"/>
          </a:p>
        </p:txBody>
      </p:sp>
      <p:sp>
        <p:nvSpPr>
          <p:cNvPr id="3" name="Content Placeholder 2"/>
          <p:cNvSpPr>
            <a:spLocks noGrp="1"/>
          </p:cNvSpPr>
          <p:nvPr>
            <p:ph idx="1"/>
          </p:nvPr>
        </p:nvSpPr>
        <p:spPr/>
        <p:txBody>
          <a:bodyPr/>
          <a:lstStyle/>
          <a:p>
            <a:r>
              <a:rPr lang="en-US" dirty="0"/>
              <a:t>A software development company has three categories of employees: Developers, Testers, and Business Analysts. Initially, the ratio of these employees is </a:t>
            </a:r>
            <a:r>
              <a:rPr lang="en-US" b="1" dirty="0"/>
              <a:t>8 : 5 : 3</a:t>
            </a:r>
            <a:r>
              <a:rPr lang="en-US" dirty="0"/>
              <a:t>.</a:t>
            </a:r>
          </a:p>
          <a:p>
            <a:r>
              <a:rPr lang="en-US" dirty="0"/>
              <a:t>To meet the demand of a new project, the company recruits:</a:t>
            </a:r>
          </a:p>
          <a:p>
            <a:r>
              <a:rPr lang="en-US" dirty="0"/>
              <a:t>80 Developers </a:t>
            </a:r>
          </a:p>
          <a:p>
            <a:r>
              <a:rPr lang="en-US" dirty="0"/>
              <a:t>50 Testers </a:t>
            </a:r>
          </a:p>
          <a:p>
            <a:r>
              <a:rPr lang="en-US" dirty="0"/>
              <a:t>30 Analysts </a:t>
            </a:r>
          </a:p>
          <a:p>
            <a:r>
              <a:rPr lang="en-US" dirty="0"/>
              <a:t>After recruitment, the ratio becomes </a:t>
            </a:r>
            <a:r>
              <a:rPr lang="en-US" b="1" dirty="0"/>
              <a:t>12 : 8 : 5</a:t>
            </a:r>
            <a:r>
              <a:rPr lang="en-US" dirty="0"/>
              <a:t>.</a:t>
            </a:r>
          </a:p>
          <a:p>
            <a:r>
              <a:rPr lang="en-US" dirty="0"/>
              <a:t>Determine the original number of employees in the company.</a:t>
            </a:r>
          </a:p>
          <a:p>
            <a:endParaRPr lang="en-US" dirty="0"/>
          </a:p>
        </p:txBody>
      </p:sp>
    </p:spTree>
    <p:extLst>
      <p:ext uri="{BB962C8B-B14F-4D97-AF65-F5344CB8AC3E}">
        <p14:creationId xmlns:p14="http://schemas.microsoft.com/office/powerpoint/2010/main" val="22693644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412125"/>
            <a:ext cx="8596668" cy="5629238"/>
          </a:xfrm>
        </p:spPr>
        <p:txBody>
          <a:bodyPr>
            <a:normAutofit/>
          </a:bodyPr>
          <a:lstStyle/>
          <a:p>
            <a:pPr marL="0" indent="0">
              <a:buNone/>
            </a:pPr>
            <a:r>
              <a:rPr lang="en-US" b="1" dirty="0"/>
              <a:t>Solution</a:t>
            </a:r>
          </a:p>
          <a:p>
            <a:pPr marL="0" indent="0">
              <a:buNone/>
            </a:pPr>
            <a:r>
              <a:rPr lang="en-US" dirty="0"/>
              <a:t>Let the original numbers be:</a:t>
            </a:r>
          </a:p>
          <a:p>
            <a:pPr marL="0" indent="0">
              <a:buNone/>
            </a:pPr>
            <a:r>
              <a:rPr lang="en-US" dirty="0"/>
              <a:t>Developers = 8x </a:t>
            </a:r>
          </a:p>
          <a:p>
            <a:pPr marL="0" indent="0">
              <a:buNone/>
            </a:pPr>
            <a:r>
              <a:rPr lang="en-US" dirty="0"/>
              <a:t>Testers = 5x </a:t>
            </a:r>
          </a:p>
          <a:p>
            <a:pPr marL="0" indent="0">
              <a:buNone/>
            </a:pPr>
            <a:r>
              <a:rPr lang="en-US" dirty="0"/>
              <a:t>Analysts = 3x </a:t>
            </a:r>
          </a:p>
          <a:p>
            <a:pPr marL="0" indent="0">
              <a:buNone/>
            </a:pPr>
            <a:r>
              <a:rPr lang="en-US" dirty="0"/>
              <a:t>After recruitment:</a:t>
            </a:r>
          </a:p>
          <a:p>
            <a:pPr marL="0" indent="0">
              <a:buNone/>
            </a:pPr>
            <a:r>
              <a:rPr lang="en-US" dirty="0" smtClean="0"/>
              <a:t>8x+80/12=5x+50/8</a:t>
            </a:r>
          </a:p>
          <a:p>
            <a:pPr marL="0" indent="0">
              <a:buNone/>
            </a:pPr>
            <a:r>
              <a:rPr lang="en-US" dirty="0" smtClean="0"/>
              <a:t>Cross </a:t>
            </a:r>
            <a:r>
              <a:rPr lang="en-US" dirty="0"/>
              <a:t>multiplying,</a:t>
            </a:r>
          </a:p>
          <a:p>
            <a:pPr marL="0" indent="0">
              <a:buNone/>
            </a:pPr>
            <a:r>
              <a:rPr lang="en-US" smtClean="0"/>
              <a:t>x=10 </a:t>
            </a:r>
          </a:p>
          <a:p>
            <a:pPr marL="0" indent="0">
              <a:buNone/>
            </a:pPr>
            <a:r>
              <a:rPr lang="en-US" smtClean="0"/>
              <a:t>Original </a:t>
            </a:r>
            <a:r>
              <a:rPr lang="en-US" dirty="0"/>
              <a:t>employees</a:t>
            </a:r>
          </a:p>
          <a:p>
            <a:pPr marL="0" indent="0">
              <a:buNone/>
            </a:pPr>
            <a:r>
              <a:rPr lang="en-US" dirty="0"/>
              <a:t>= (8+5+3)×10</a:t>
            </a:r>
          </a:p>
          <a:p>
            <a:pPr marL="0" indent="0">
              <a:buNone/>
            </a:pPr>
            <a:r>
              <a:rPr lang="en-US" dirty="0"/>
              <a:t>= </a:t>
            </a:r>
            <a:r>
              <a:rPr lang="en-US" b="1" dirty="0"/>
              <a:t>160 employees</a:t>
            </a:r>
            <a:endParaRPr lang="en-US" dirty="0"/>
          </a:p>
          <a:p>
            <a:pPr marL="0" indent="0">
              <a:buNone/>
            </a:pPr>
            <a:r>
              <a:rPr lang="en-US" b="1" dirty="0"/>
              <a:t>Answer: 160</a:t>
            </a:r>
            <a:endParaRPr lang="en-US" dirty="0"/>
          </a:p>
          <a:p>
            <a:pPr marL="0" indent="0">
              <a:buNone/>
            </a:pPr>
            <a:endParaRPr lang="en-US" dirty="0"/>
          </a:p>
        </p:txBody>
      </p:sp>
    </p:spTree>
    <p:extLst>
      <p:ext uri="{BB962C8B-B14F-4D97-AF65-F5344CB8AC3E}">
        <p14:creationId xmlns:p14="http://schemas.microsoft.com/office/powerpoint/2010/main" val="34839401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TRADITIONAL BUSINESS INTELLIGENCE</a:t>
            </a:r>
            <a:endParaRPr lang="en-US" dirty="0"/>
          </a:p>
        </p:txBody>
      </p:sp>
      <p:sp>
        <p:nvSpPr>
          <p:cNvPr id="3" name="Content Placeholder 2"/>
          <p:cNvSpPr>
            <a:spLocks noGrp="1"/>
          </p:cNvSpPr>
          <p:nvPr>
            <p:ph idx="1"/>
          </p:nvPr>
        </p:nvSpPr>
        <p:spPr>
          <a:xfrm>
            <a:off x="677333" y="1493949"/>
            <a:ext cx="9432581" cy="4547413"/>
          </a:xfrm>
        </p:spPr>
        <p:txBody>
          <a:bodyPr>
            <a:normAutofit/>
          </a:bodyPr>
          <a:lstStyle/>
          <a:p>
            <a:pPr algn="just"/>
            <a:r>
              <a:rPr lang="en-US" dirty="0"/>
              <a:t>Traditional Business Intelligence (BI) refers to a collection of technologies, applications, and practices used to collect, integrate, analyze, and present structured business information. BI primarily works with historical data stored in relational databases and data warehouses. It transforms raw transactional data into meaningful reports and dashboards that assist managers in strategic planning.</a:t>
            </a:r>
          </a:p>
          <a:p>
            <a:pPr algn="just"/>
            <a:r>
              <a:rPr lang="en-US" dirty="0"/>
              <a:t>Traditional BI systems answer questions such as:</a:t>
            </a:r>
          </a:p>
          <a:p>
            <a:pPr algn="just"/>
            <a:r>
              <a:rPr lang="en-US" dirty="0"/>
              <a:t>What happened last month? </a:t>
            </a:r>
          </a:p>
          <a:p>
            <a:pPr algn="just"/>
            <a:r>
              <a:rPr lang="en-US" dirty="0"/>
              <a:t>Which product generated the highest sales? </a:t>
            </a:r>
          </a:p>
          <a:p>
            <a:pPr algn="just"/>
            <a:r>
              <a:rPr lang="en-US" dirty="0"/>
              <a:t>Which region achieved maximum profit? </a:t>
            </a:r>
          </a:p>
          <a:p>
            <a:pPr algn="just"/>
            <a:r>
              <a:rPr lang="en-US" dirty="0"/>
              <a:t>What is the quarterly revenue? </a:t>
            </a:r>
          </a:p>
          <a:p>
            <a:pPr algn="just"/>
            <a:r>
              <a:rPr lang="en-US" dirty="0"/>
              <a:t>BI mainly focuses on </a:t>
            </a:r>
            <a:r>
              <a:rPr lang="en-US" b="1" dirty="0"/>
              <a:t>descriptive analytics</a:t>
            </a:r>
            <a:r>
              <a:rPr lang="en-US" dirty="0"/>
              <a:t>, helping organizations understand past business performance rather than predicting future outcomes.</a:t>
            </a:r>
          </a:p>
          <a:p>
            <a:pPr algn="just"/>
            <a:endParaRPr lang="en-US" dirty="0"/>
          </a:p>
        </p:txBody>
      </p:sp>
    </p:spTree>
    <p:extLst>
      <p:ext uri="{BB962C8B-B14F-4D97-AF65-F5344CB8AC3E}">
        <p14:creationId xmlns:p14="http://schemas.microsoft.com/office/powerpoint/2010/main" val="35436739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520910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Traditional BI</a:t>
            </a:r>
          </a:p>
        </p:txBody>
      </p:sp>
      <p:sp>
        <p:nvSpPr>
          <p:cNvPr id="3" name="Content Placeholder 2"/>
          <p:cNvSpPr>
            <a:spLocks noGrp="1"/>
          </p:cNvSpPr>
          <p:nvPr>
            <p:ph idx="1"/>
          </p:nvPr>
        </p:nvSpPr>
        <p:spPr>
          <a:xfrm>
            <a:off x="677334" y="1545465"/>
            <a:ext cx="9471218" cy="4495897"/>
          </a:xfrm>
        </p:spPr>
        <p:txBody>
          <a:bodyPr>
            <a:normAutofit/>
          </a:bodyPr>
          <a:lstStyle/>
          <a:p>
            <a:r>
              <a:rPr lang="en-US" b="1" dirty="0"/>
              <a:t>1. Structured Data</a:t>
            </a:r>
          </a:p>
          <a:p>
            <a:r>
              <a:rPr lang="en-US" dirty="0"/>
              <a:t>Traditional BI primarily handles structured data stored in rows and columns inside relational databases.</a:t>
            </a:r>
          </a:p>
          <a:p>
            <a:pPr marL="0" indent="0">
              <a:buNone/>
            </a:pPr>
            <a:r>
              <a:rPr lang="en-US" dirty="0"/>
              <a:t>Examples include:</a:t>
            </a:r>
          </a:p>
          <a:p>
            <a:r>
              <a:rPr lang="en-US" dirty="0"/>
              <a:t>Customer records </a:t>
            </a:r>
          </a:p>
          <a:p>
            <a:r>
              <a:rPr lang="en-US" dirty="0"/>
              <a:t>Employee salary details </a:t>
            </a:r>
          </a:p>
          <a:p>
            <a:r>
              <a:rPr lang="en-US" dirty="0"/>
              <a:t>Sales transactions </a:t>
            </a:r>
          </a:p>
          <a:p>
            <a:r>
              <a:rPr lang="en-US" dirty="0"/>
              <a:t>Banking records </a:t>
            </a:r>
          </a:p>
          <a:p>
            <a:r>
              <a:rPr lang="en-US" dirty="0"/>
              <a:t>Inventory details </a:t>
            </a:r>
          </a:p>
          <a:p>
            <a:r>
              <a:rPr lang="en-US" dirty="0"/>
              <a:t>Since the data follows predefined schemas, querying and reporting become straightforward.</a:t>
            </a:r>
          </a:p>
          <a:p>
            <a:endParaRPr lang="en-US" dirty="0"/>
          </a:p>
        </p:txBody>
      </p:sp>
    </p:spTree>
    <p:extLst>
      <p:ext uri="{BB962C8B-B14F-4D97-AF65-F5344CB8AC3E}">
        <p14:creationId xmlns:p14="http://schemas.microsoft.com/office/powerpoint/2010/main" val="18259554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334851"/>
            <a:ext cx="8596668" cy="5706511"/>
          </a:xfrm>
        </p:spPr>
        <p:txBody>
          <a:bodyPr/>
          <a:lstStyle/>
          <a:p>
            <a:pPr marL="0" indent="0">
              <a:buNone/>
            </a:pPr>
            <a:r>
              <a:rPr lang="en-US" b="1" dirty="0"/>
              <a:t>2. Historical Data Analysis</a:t>
            </a:r>
          </a:p>
          <a:p>
            <a:r>
              <a:rPr lang="en-US" dirty="0"/>
              <a:t>BI analyzes previously stored business data to understand historical trends.</a:t>
            </a:r>
          </a:p>
          <a:p>
            <a:pPr marL="0" indent="0">
              <a:buNone/>
            </a:pPr>
            <a:r>
              <a:rPr lang="en-US" dirty="0"/>
              <a:t>Example:</a:t>
            </a:r>
          </a:p>
          <a:p>
            <a:r>
              <a:rPr lang="en-US" dirty="0"/>
              <a:t>A retail company studies the sales data of the last five years to determine seasonal demand for air conditioners during summer</a:t>
            </a:r>
            <a:r>
              <a:rPr lang="en-US" dirty="0" smtClean="0"/>
              <a:t>.</a:t>
            </a:r>
          </a:p>
          <a:p>
            <a:pPr marL="0" indent="0">
              <a:buNone/>
            </a:pPr>
            <a:r>
              <a:rPr lang="en-US" b="1" dirty="0"/>
              <a:t>3. Batch Processing</a:t>
            </a:r>
          </a:p>
          <a:p>
            <a:r>
              <a:rPr lang="en-US" dirty="0"/>
              <a:t>Traditional BI systems update reports periodically.</a:t>
            </a:r>
          </a:p>
          <a:p>
            <a:pPr marL="0" indent="0">
              <a:buNone/>
            </a:pPr>
            <a:r>
              <a:rPr lang="en-US" dirty="0"/>
              <a:t>For example:</a:t>
            </a:r>
          </a:p>
          <a:p>
            <a:r>
              <a:rPr lang="en-US" dirty="0"/>
              <a:t>Daily reports </a:t>
            </a:r>
          </a:p>
          <a:p>
            <a:r>
              <a:rPr lang="en-US" dirty="0"/>
              <a:t>Weekly reports </a:t>
            </a:r>
          </a:p>
          <a:p>
            <a:r>
              <a:rPr lang="en-US" dirty="0"/>
              <a:t>Monthly reports </a:t>
            </a:r>
          </a:p>
          <a:p>
            <a:r>
              <a:rPr lang="en-US" dirty="0"/>
              <a:t>Quarterly reports </a:t>
            </a:r>
          </a:p>
          <a:p>
            <a:r>
              <a:rPr lang="en-US" dirty="0"/>
              <a:t>Real-time processing is generally not supported</a:t>
            </a:r>
          </a:p>
          <a:p>
            <a:pPr marL="0" indent="0">
              <a:buNone/>
            </a:pPr>
            <a:endParaRPr lang="en-US" dirty="0"/>
          </a:p>
          <a:p>
            <a:endParaRPr lang="en-US" dirty="0"/>
          </a:p>
        </p:txBody>
      </p:sp>
    </p:spTree>
    <p:extLst>
      <p:ext uri="{BB962C8B-B14F-4D97-AF65-F5344CB8AC3E}">
        <p14:creationId xmlns:p14="http://schemas.microsoft.com/office/powerpoint/2010/main" val="34741012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92429"/>
            <a:ext cx="8596668" cy="5448934"/>
          </a:xfrm>
        </p:spPr>
        <p:txBody>
          <a:bodyPr/>
          <a:lstStyle/>
          <a:p>
            <a:pPr marL="0" indent="0">
              <a:buNone/>
            </a:pPr>
            <a:r>
              <a:rPr lang="en-US" b="1" dirty="0"/>
              <a:t>4. Data Warehouse Centric</a:t>
            </a:r>
          </a:p>
          <a:p>
            <a:pPr marL="0" indent="0">
              <a:buNone/>
            </a:pPr>
            <a:r>
              <a:rPr lang="en-US" dirty="0"/>
              <a:t>All operational data from multiple departments are cleaned, integrated, and stored inside a centralized Data Warehouse before analysis.</a:t>
            </a:r>
          </a:p>
          <a:p>
            <a:pPr marL="0" indent="0">
              <a:buNone/>
            </a:pPr>
            <a:r>
              <a:rPr lang="en-US" b="1" dirty="0"/>
              <a:t>5. Standard Reports</a:t>
            </a:r>
          </a:p>
          <a:p>
            <a:r>
              <a:rPr lang="en-US" dirty="0"/>
              <a:t>Traditional BI generates predefined reports such as:</a:t>
            </a:r>
          </a:p>
          <a:p>
            <a:r>
              <a:rPr lang="en-US" dirty="0"/>
              <a:t>Profit and Loss Statement </a:t>
            </a:r>
          </a:p>
          <a:p>
            <a:r>
              <a:rPr lang="en-US" dirty="0"/>
              <a:t>Monthly Sales Report </a:t>
            </a:r>
          </a:p>
          <a:p>
            <a:r>
              <a:rPr lang="en-US" dirty="0"/>
              <a:t>Inventory Status </a:t>
            </a:r>
          </a:p>
          <a:p>
            <a:r>
              <a:rPr lang="en-US" dirty="0"/>
              <a:t>Employee Attendance Report</a:t>
            </a:r>
          </a:p>
          <a:p>
            <a:pPr marL="0" indent="0">
              <a:buNone/>
            </a:pPr>
            <a:endParaRPr lang="en-US" dirty="0"/>
          </a:p>
        </p:txBody>
      </p:sp>
    </p:spTree>
    <p:extLst>
      <p:ext uri="{BB962C8B-B14F-4D97-AF65-F5344CB8AC3E}">
        <p14:creationId xmlns:p14="http://schemas.microsoft.com/office/powerpoint/2010/main" val="1140924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631065"/>
            <a:ext cx="8596668" cy="5410297"/>
          </a:xfrm>
        </p:spPr>
        <p:txBody>
          <a:bodyPr>
            <a:normAutofit lnSpcReduction="10000"/>
          </a:bodyPr>
          <a:lstStyle/>
          <a:p>
            <a:r>
              <a:rPr lang="en-US" b="1" dirty="0"/>
              <a:t>Real-Time Example 1: Banking</a:t>
            </a:r>
          </a:p>
          <a:p>
            <a:r>
              <a:rPr lang="en-US" dirty="0"/>
              <a:t>A national bank stores customer transaction details inside an Oracle database.</a:t>
            </a:r>
          </a:p>
          <a:p>
            <a:r>
              <a:rPr lang="en-US" dirty="0"/>
              <a:t>Every night,</a:t>
            </a:r>
          </a:p>
          <a:p>
            <a:r>
              <a:rPr lang="en-US" dirty="0"/>
              <a:t>ATM transactions </a:t>
            </a:r>
          </a:p>
          <a:p>
            <a:r>
              <a:rPr lang="en-US" dirty="0"/>
              <a:t>Branch transactions </a:t>
            </a:r>
          </a:p>
          <a:p>
            <a:r>
              <a:rPr lang="en-US" dirty="0"/>
              <a:t>Online banking transactions </a:t>
            </a:r>
          </a:p>
          <a:p>
            <a:r>
              <a:rPr lang="en-US" dirty="0"/>
              <a:t>are transferred into a Data Warehouse.</a:t>
            </a:r>
          </a:p>
          <a:p>
            <a:r>
              <a:rPr lang="en-US" dirty="0"/>
              <a:t>Managers receive daily reports showing:</a:t>
            </a:r>
          </a:p>
          <a:p>
            <a:r>
              <a:rPr lang="en-US" dirty="0"/>
              <a:t>Total deposits </a:t>
            </a:r>
          </a:p>
          <a:p>
            <a:r>
              <a:rPr lang="en-US" dirty="0"/>
              <a:t>Total withdrawals </a:t>
            </a:r>
          </a:p>
          <a:p>
            <a:r>
              <a:rPr lang="en-US" dirty="0"/>
              <a:t>Branch-wise revenue </a:t>
            </a:r>
          </a:p>
          <a:p>
            <a:r>
              <a:rPr lang="en-US" dirty="0"/>
              <a:t>Loan recovery statistics </a:t>
            </a:r>
          </a:p>
          <a:p>
            <a:r>
              <a:rPr lang="en-US" dirty="0"/>
              <a:t>Since the reports analyze yesterday's transactions, this is an example of Traditional BI.</a:t>
            </a:r>
          </a:p>
          <a:p>
            <a:endParaRPr lang="en-US" dirty="0"/>
          </a:p>
        </p:txBody>
      </p:sp>
    </p:spTree>
    <p:extLst>
      <p:ext uri="{BB962C8B-B14F-4D97-AF65-F5344CB8AC3E}">
        <p14:creationId xmlns:p14="http://schemas.microsoft.com/office/powerpoint/2010/main" val="28808703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914401"/>
            <a:ext cx="8596668" cy="5126962"/>
          </a:xfrm>
        </p:spPr>
        <p:txBody>
          <a:bodyPr>
            <a:normAutofit/>
          </a:bodyPr>
          <a:lstStyle/>
          <a:p>
            <a:r>
              <a:rPr lang="en-US" b="1" dirty="0"/>
              <a:t>Real-Time Example 2: Supermarket</a:t>
            </a:r>
          </a:p>
          <a:p>
            <a:r>
              <a:rPr lang="en-US" dirty="0"/>
              <a:t>A supermarket chain stores:</a:t>
            </a:r>
          </a:p>
          <a:p>
            <a:r>
              <a:rPr lang="en-US" dirty="0"/>
              <a:t>Daily sales </a:t>
            </a:r>
          </a:p>
          <a:p>
            <a:r>
              <a:rPr lang="en-US" dirty="0"/>
              <a:t>Inventory </a:t>
            </a:r>
          </a:p>
          <a:p>
            <a:r>
              <a:rPr lang="en-US" dirty="0"/>
              <a:t>Customer purchases </a:t>
            </a:r>
          </a:p>
          <a:p>
            <a:r>
              <a:rPr lang="en-US" dirty="0"/>
              <a:t>At the end of every month, management analyzes:</a:t>
            </a:r>
          </a:p>
          <a:p>
            <a:r>
              <a:rPr lang="en-US" dirty="0"/>
              <a:t>Best-selling products </a:t>
            </a:r>
          </a:p>
          <a:p>
            <a:r>
              <a:rPr lang="en-US" dirty="0"/>
              <a:t>Least-selling products </a:t>
            </a:r>
          </a:p>
          <a:p>
            <a:r>
              <a:rPr lang="en-US" dirty="0"/>
              <a:t>Monthly revenue </a:t>
            </a:r>
          </a:p>
          <a:p>
            <a:r>
              <a:rPr lang="en-US" dirty="0"/>
              <a:t>Supplier performance </a:t>
            </a:r>
          </a:p>
          <a:p>
            <a:r>
              <a:rPr lang="en-US" dirty="0"/>
              <a:t>The analysis is performed using historical transactional data.</a:t>
            </a:r>
          </a:p>
          <a:p>
            <a:endParaRPr lang="en-US" dirty="0"/>
          </a:p>
        </p:txBody>
      </p:sp>
    </p:spTree>
    <p:extLst>
      <p:ext uri="{BB962C8B-B14F-4D97-AF65-F5344CB8AC3E}">
        <p14:creationId xmlns:p14="http://schemas.microsoft.com/office/powerpoint/2010/main" val="7941837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Limitations of Traditional BI</a:t>
            </a:r>
          </a:p>
        </p:txBody>
      </p:sp>
      <p:sp>
        <p:nvSpPr>
          <p:cNvPr id="3" name="Content Placeholder 2"/>
          <p:cNvSpPr>
            <a:spLocks noGrp="1"/>
          </p:cNvSpPr>
          <p:nvPr>
            <p:ph idx="1"/>
          </p:nvPr>
        </p:nvSpPr>
        <p:spPr>
          <a:xfrm>
            <a:off x="677334" y="1429555"/>
            <a:ext cx="8596668" cy="4611807"/>
          </a:xfrm>
        </p:spPr>
        <p:txBody>
          <a:bodyPr>
            <a:normAutofit lnSpcReduction="10000"/>
          </a:bodyPr>
          <a:lstStyle/>
          <a:p>
            <a:pPr marL="0" indent="0">
              <a:buNone/>
            </a:pPr>
            <a:r>
              <a:rPr lang="en-US" b="1" dirty="0" smtClean="0"/>
              <a:t>1.	Limited </a:t>
            </a:r>
            <a:r>
              <a:rPr lang="en-US" b="1" dirty="0"/>
              <a:t>Data Volume</a:t>
            </a:r>
          </a:p>
          <a:p>
            <a:r>
              <a:rPr lang="en-US" dirty="0"/>
              <a:t>Traditional BI performs efficiently with gigabytes or terabytes of structured data.</a:t>
            </a:r>
          </a:p>
          <a:p>
            <a:r>
              <a:rPr lang="en-US" dirty="0"/>
              <a:t>However, modern organizations generate petabytes of information daily</a:t>
            </a:r>
            <a:r>
              <a:rPr lang="en-US" dirty="0" smtClean="0"/>
              <a:t>.</a:t>
            </a:r>
          </a:p>
          <a:p>
            <a:pPr marL="0" indent="0">
              <a:buNone/>
            </a:pPr>
            <a:r>
              <a:rPr lang="en-US" b="1" dirty="0" smtClean="0"/>
              <a:t>2. Structured </a:t>
            </a:r>
            <a:r>
              <a:rPr lang="en-US" b="1" dirty="0"/>
              <a:t>Data Only</a:t>
            </a:r>
          </a:p>
          <a:p>
            <a:r>
              <a:rPr lang="en-US" dirty="0"/>
              <a:t>Traditional BI cannot efficiently analyze:</a:t>
            </a:r>
          </a:p>
          <a:p>
            <a:r>
              <a:rPr lang="en-US" dirty="0"/>
              <a:t>Images </a:t>
            </a:r>
          </a:p>
          <a:p>
            <a:r>
              <a:rPr lang="en-US" dirty="0"/>
              <a:t>Videos </a:t>
            </a:r>
          </a:p>
          <a:p>
            <a:r>
              <a:rPr lang="en-US" dirty="0"/>
              <a:t>Audio files </a:t>
            </a:r>
          </a:p>
          <a:p>
            <a:r>
              <a:rPr lang="en-US" dirty="0"/>
              <a:t>Social media posts </a:t>
            </a:r>
          </a:p>
          <a:p>
            <a:r>
              <a:rPr lang="en-US" dirty="0"/>
              <a:t>Sensor data </a:t>
            </a:r>
          </a:p>
          <a:p>
            <a:r>
              <a:rPr lang="en-US" dirty="0"/>
              <a:t>GPS information</a:t>
            </a:r>
          </a:p>
          <a:p>
            <a:endParaRPr lang="en-US" dirty="0"/>
          </a:p>
          <a:p>
            <a:endParaRPr lang="en-US" dirty="0"/>
          </a:p>
        </p:txBody>
      </p:sp>
    </p:spTree>
    <p:extLst>
      <p:ext uri="{BB962C8B-B14F-4D97-AF65-F5344CB8AC3E}">
        <p14:creationId xmlns:p14="http://schemas.microsoft.com/office/powerpoint/2010/main" val="41958225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28035"/>
            <a:ext cx="8596668" cy="5513328"/>
          </a:xfrm>
        </p:spPr>
        <p:txBody>
          <a:bodyPr/>
          <a:lstStyle/>
          <a:p>
            <a:pPr marL="0" indent="0">
              <a:buNone/>
            </a:pPr>
            <a:r>
              <a:rPr lang="en-US" b="1" dirty="0" smtClean="0"/>
              <a:t>3.Slow </a:t>
            </a:r>
            <a:r>
              <a:rPr lang="en-US" b="1" dirty="0"/>
              <a:t>Processing</a:t>
            </a:r>
          </a:p>
          <a:p>
            <a:pPr marL="0" indent="0">
              <a:buNone/>
            </a:pPr>
            <a:r>
              <a:rPr lang="en-US" dirty="0"/>
              <a:t>Before </a:t>
            </a:r>
            <a:r>
              <a:rPr lang="en-US" dirty="0" err="1" smtClean="0"/>
              <a:t>analysis,Data</a:t>
            </a:r>
            <a:r>
              <a:rPr lang="en-US" dirty="0" smtClean="0"/>
              <a:t> </a:t>
            </a:r>
            <a:r>
              <a:rPr lang="en-US" dirty="0"/>
              <a:t>must be:</a:t>
            </a:r>
          </a:p>
          <a:p>
            <a:r>
              <a:rPr lang="en-US" dirty="0"/>
              <a:t>cleaned </a:t>
            </a:r>
          </a:p>
          <a:p>
            <a:r>
              <a:rPr lang="en-US" dirty="0"/>
              <a:t>transformed </a:t>
            </a:r>
          </a:p>
          <a:p>
            <a:r>
              <a:rPr lang="en-US" dirty="0"/>
              <a:t>loaded </a:t>
            </a:r>
          </a:p>
          <a:p>
            <a:r>
              <a:rPr lang="en-US" dirty="0"/>
              <a:t>into a Data Warehouse.</a:t>
            </a:r>
          </a:p>
          <a:p>
            <a:pPr marL="0" indent="0">
              <a:buNone/>
            </a:pPr>
            <a:r>
              <a:rPr lang="en-US" dirty="0"/>
              <a:t>This process consumes significant time</a:t>
            </a:r>
            <a:r>
              <a:rPr lang="en-US" dirty="0" smtClean="0"/>
              <a:t>.</a:t>
            </a:r>
          </a:p>
          <a:p>
            <a:pPr marL="0" indent="0">
              <a:buNone/>
            </a:pPr>
            <a:r>
              <a:rPr lang="en-US" dirty="0" smtClean="0"/>
              <a:t>4.</a:t>
            </a:r>
            <a:r>
              <a:rPr lang="en-US" b="1" dirty="0"/>
              <a:t> Limited Scalability</a:t>
            </a:r>
          </a:p>
          <a:p>
            <a:r>
              <a:rPr lang="en-US" dirty="0"/>
              <a:t>Increasing data size requires upgrading expensive hardware.</a:t>
            </a:r>
          </a:p>
          <a:p>
            <a:r>
              <a:rPr lang="en-US" dirty="0"/>
              <a:t>Scaling traditional databases becomes costly</a:t>
            </a:r>
            <a:r>
              <a:rPr lang="en-US" dirty="0" smtClean="0"/>
              <a:t>.</a:t>
            </a:r>
          </a:p>
          <a:p>
            <a:pPr marL="0" indent="0">
              <a:buNone/>
            </a:pPr>
            <a:r>
              <a:rPr lang="en-US" b="1" dirty="0" smtClean="0"/>
              <a:t>5.Lack </a:t>
            </a:r>
            <a:r>
              <a:rPr lang="en-US" b="1" dirty="0"/>
              <a:t>of Real-Time Analytics</a:t>
            </a:r>
          </a:p>
          <a:p>
            <a:r>
              <a:rPr lang="en-US" dirty="0"/>
              <a:t>Traditional BI mainly analyzes historical information.</a:t>
            </a:r>
          </a:p>
          <a:p>
            <a:r>
              <a:rPr lang="en-US" dirty="0"/>
              <a:t>It cannot instantly process continuously arriving streaming data.</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6826928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t>
            </a:r>
            <a:r>
              <a:rPr lang="en-US" b="1" dirty="0" smtClean="0"/>
              <a:t>ig Data Analytics</a:t>
            </a:r>
            <a:r>
              <a:rPr lang="en-US" b="1" dirty="0"/>
              <a:t/>
            </a:r>
            <a:br>
              <a:rPr lang="en-US" b="1" dirty="0"/>
            </a:br>
            <a:endParaRPr lang="en-US" dirty="0"/>
          </a:p>
        </p:txBody>
      </p:sp>
      <p:sp>
        <p:nvSpPr>
          <p:cNvPr id="3" name="Content Placeholder 2"/>
          <p:cNvSpPr>
            <a:spLocks noGrp="1"/>
          </p:cNvSpPr>
          <p:nvPr>
            <p:ph idx="1"/>
          </p:nvPr>
        </p:nvSpPr>
        <p:spPr/>
        <p:txBody>
          <a:bodyPr>
            <a:normAutofit fontScale="92500"/>
          </a:bodyPr>
          <a:lstStyle/>
          <a:p>
            <a:r>
              <a:rPr lang="en-US" dirty="0" smtClean="0"/>
              <a:t>Big </a:t>
            </a:r>
            <a:r>
              <a:rPr lang="en-US" dirty="0"/>
              <a:t>Data refers to extremely large, fast-growing, and complex datasets that cannot be efficiently processed using traditional database management systems.</a:t>
            </a:r>
          </a:p>
          <a:p>
            <a:r>
              <a:rPr lang="en-US" dirty="0"/>
              <a:t>Big Data includes structured, semi-structured, and unstructured information generated from multiple sources.</a:t>
            </a:r>
          </a:p>
          <a:p>
            <a:r>
              <a:rPr lang="en-US" dirty="0"/>
              <a:t>Instead of only understanding what happened in the past, Big Data Analytics helps organizations:</a:t>
            </a:r>
          </a:p>
          <a:p>
            <a:r>
              <a:rPr lang="en-US" dirty="0"/>
              <a:t>predict future events </a:t>
            </a:r>
          </a:p>
          <a:p>
            <a:r>
              <a:rPr lang="en-US" dirty="0"/>
              <a:t>optimize operations </a:t>
            </a:r>
          </a:p>
          <a:p>
            <a:r>
              <a:rPr lang="en-US" dirty="0"/>
              <a:t>detect fraud </a:t>
            </a:r>
          </a:p>
          <a:p>
            <a:r>
              <a:rPr lang="en-US" dirty="0"/>
              <a:t>personalize customer experiences </a:t>
            </a:r>
          </a:p>
          <a:p>
            <a:r>
              <a:rPr lang="en-US" dirty="0"/>
              <a:t>automate decision-making</a:t>
            </a:r>
          </a:p>
          <a:p>
            <a:endParaRPr lang="en-US" dirty="0"/>
          </a:p>
        </p:txBody>
      </p:sp>
    </p:spTree>
    <p:extLst>
      <p:ext uri="{BB962C8B-B14F-4D97-AF65-F5344CB8AC3E}">
        <p14:creationId xmlns:p14="http://schemas.microsoft.com/office/powerpoint/2010/main" val="9803748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952062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Characteristics of Big Data</a:t>
            </a:r>
            <a:br>
              <a:rPr lang="en-US" b="1" dirty="0"/>
            </a:br>
            <a:endParaRPr lang="en-US" dirty="0"/>
          </a:p>
        </p:txBody>
      </p:sp>
      <p:sp>
        <p:nvSpPr>
          <p:cNvPr id="3" name="Content Placeholder 2"/>
          <p:cNvSpPr>
            <a:spLocks noGrp="1"/>
          </p:cNvSpPr>
          <p:nvPr>
            <p:ph idx="1"/>
          </p:nvPr>
        </p:nvSpPr>
        <p:spPr/>
        <p:txBody>
          <a:bodyPr/>
          <a:lstStyle/>
          <a:p>
            <a:pPr marL="0" indent="0">
              <a:buNone/>
            </a:pPr>
            <a:r>
              <a:rPr lang="en-US" b="1" dirty="0" smtClean="0"/>
              <a:t>1</a:t>
            </a:r>
            <a:r>
              <a:rPr lang="en-US" b="1" dirty="0"/>
              <a:t>. Massive Data Volume</a:t>
            </a:r>
          </a:p>
          <a:p>
            <a:r>
              <a:rPr lang="en-US" dirty="0"/>
              <a:t>Organizations now generate:</a:t>
            </a:r>
          </a:p>
          <a:p>
            <a:r>
              <a:rPr lang="en-US" dirty="0"/>
              <a:t>Petabytes </a:t>
            </a:r>
          </a:p>
          <a:p>
            <a:r>
              <a:rPr lang="en-US" dirty="0" err="1"/>
              <a:t>Exabytes</a:t>
            </a:r>
            <a:r>
              <a:rPr lang="en-US" dirty="0"/>
              <a:t> </a:t>
            </a:r>
          </a:p>
          <a:p>
            <a:r>
              <a:rPr lang="en-US" dirty="0"/>
              <a:t>Zettabytes </a:t>
            </a:r>
            <a:r>
              <a:rPr lang="en-US" dirty="0" smtClean="0"/>
              <a:t> of </a:t>
            </a:r>
            <a:r>
              <a:rPr lang="en-US" dirty="0"/>
              <a:t>information every year.</a:t>
            </a:r>
          </a:p>
          <a:p>
            <a:pPr marL="0" indent="0">
              <a:buNone/>
            </a:pPr>
            <a:r>
              <a:rPr lang="en-US" dirty="0"/>
              <a:t>Example:</a:t>
            </a:r>
          </a:p>
          <a:p>
            <a:r>
              <a:rPr lang="en-US" dirty="0"/>
              <a:t>Facebook generates billions of posts, comments, images, and videos daily.</a:t>
            </a:r>
          </a:p>
          <a:p>
            <a:endParaRPr lang="en-US" dirty="0"/>
          </a:p>
        </p:txBody>
      </p:sp>
    </p:spTree>
    <p:extLst>
      <p:ext uri="{BB962C8B-B14F-4D97-AF65-F5344CB8AC3E}">
        <p14:creationId xmlns:p14="http://schemas.microsoft.com/office/powerpoint/2010/main" val="14829838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270457"/>
            <a:ext cx="8596668" cy="5770906"/>
          </a:xfrm>
        </p:spPr>
        <p:txBody>
          <a:bodyPr>
            <a:normAutofit/>
          </a:bodyPr>
          <a:lstStyle/>
          <a:p>
            <a:pPr marL="0" indent="0">
              <a:buNone/>
            </a:pPr>
            <a:r>
              <a:rPr lang="en-US" b="1" dirty="0"/>
              <a:t>2. Multiple Data Formats</a:t>
            </a:r>
          </a:p>
          <a:p>
            <a:pPr marL="0" indent="0">
              <a:buNone/>
            </a:pPr>
            <a:r>
              <a:rPr lang="en-US" dirty="0"/>
              <a:t>Big Data stores:</a:t>
            </a:r>
          </a:p>
          <a:p>
            <a:pPr marL="0" indent="0">
              <a:buNone/>
            </a:pPr>
            <a:r>
              <a:rPr lang="en-US" u="sng" dirty="0"/>
              <a:t>Structured Data</a:t>
            </a:r>
          </a:p>
          <a:p>
            <a:r>
              <a:rPr lang="en-US" dirty="0"/>
              <a:t>Banking records </a:t>
            </a:r>
          </a:p>
          <a:p>
            <a:pPr marL="0" indent="0">
              <a:buNone/>
            </a:pPr>
            <a:r>
              <a:rPr lang="en-US" u="sng" dirty="0"/>
              <a:t>Semi-Structured Data</a:t>
            </a:r>
          </a:p>
          <a:p>
            <a:r>
              <a:rPr lang="en-US" dirty="0"/>
              <a:t>XML </a:t>
            </a:r>
          </a:p>
          <a:p>
            <a:r>
              <a:rPr lang="en-US" dirty="0"/>
              <a:t>JSON </a:t>
            </a:r>
          </a:p>
          <a:p>
            <a:pPr marL="0" indent="0">
              <a:buNone/>
            </a:pPr>
            <a:r>
              <a:rPr lang="en-US" u="sng" dirty="0"/>
              <a:t>Unstructured Data</a:t>
            </a:r>
          </a:p>
          <a:p>
            <a:r>
              <a:rPr lang="en-US" dirty="0"/>
              <a:t>Videos </a:t>
            </a:r>
          </a:p>
          <a:p>
            <a:r>
              <a:rPr lang="en-US" dirty="0"/>
              <a:t>Images </a:t>
            </a:r>
          </a:p>
          <a:p>
            <a:r>
              <a:rPr lang="en-US" dirty="0"/>
              <a:t>Audio </a:t>
            </a:r>
          </a:p>
          <a:p>
            <a:r>
              <a:rPr lang="en-US" dirty="0"/>
              <a:t>Tweets</a:t>
            </a:r>
          </a:p>
          <a:p>
            <a:endParaRPr lang="en-US" dirty="0"/>
          </a:p>
        </p:txBody>
      </p:sp>
    </p:spTree>
    <p:extLst>
      <p:ext uri="{BB962C8B-B14F-4D97-AF65-F5344CB8AC3E}">
        <p14:creationId xmlns:p14="http://schemas.microsoft.com/office/powerpoint/2010/main" val="35975151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463639"/>
            <a:ext cx="8596668" cy="5577723"/>
          </a:xfrm>
        </p:spPr>
        <p:txBody>
          <a:bodyPr>
            <a:normAutofit lnSpcReduction="10000"/>
          </a:bodyPr>
          <a:lstStyle/>
          <a:p>
            <a:pPr marL="0" indent="0">
              <a:buNone/>
            </a:pPr>
            <a:r>
              <a:rPr lang="en-US" b="1" dirty="0"/>
              <a:t>3. High-Speed Data Generation</a:t>
            </a:r>
          </a:p>
          <a:p>
            <a:pPr marL="0" indent="0">
              <a:buNone/>
            </a:pPr>
            <a:r>
              <a:rPr lang="en-US" dirty="0"/>
              <a:t>Data continuously flows from:</a:t>
            </a:r>
          </a:p>
          <a:p>
            <a:r>
              <a:rPr lang="en-US" dirty="0"/>
              <a:t>IoT devices </a:t>
            </a:r>
          </a:p>
          <a:p>
            <a:r>
              <a:rPr lang="en-US" dirty="0"/>
              <a:t>Mobile applications </a:t>
            </a:r>
          </a:p>
          <a:p>
            <a:r>
              <a:rPr lang="en-US" dirty="0"/>
              <a:t>Social media </a:t>
            </a:r>
          </a:p>
          <a:p>
            <a:r>
              <a:rPr lang="en-US" dirty="0"/>
              <a:t>Smart watches </a:t>
            </a:r>
          </a:p>
          <a:p>
            <a:r>
              <a:rPr lang="en-US" dirty="0"/>
              <a:t>GPS devices </a:t>
            </a:r>
          </a:p>
          <a:p>
            <a:r>
              <a:rPr lang="en-US" dirty="0"/>
              <a:t>Analytics often occurs in real time.</a:t>
            </a:r>
          </a:p>
          <a:p>
            <a:pPr marL="0" indent="0">
              <a:buNone/>
            </a:pPr>
            <a:r>
              <a:rPr lang="en-US" b="1" dirty="0"/>
              <a:t>4. Distributed Storage</a:t>
            </a:r>
          </a:p>
          <a:p>
            <a:r>
              <a:rPr lang="en-US" dirty="0"/>
              <a:t>Instead of storing all information on one server,</a:t>
            </a:r>
          </a:p>
          <a:p>
            <a:r>
              <a:rPr lang="en-US" dirty="0"/>
              <a:t>Big Data stores information across hundreds or thousands of machines.</a:t>
            </a:r>
          </a:p>
          <a:p>
            <a:r>
              <a:rPr lang="en-US" dirty="0"/>
              <a:t>Technologies include:</a:t>
            </a:r>
          </a:p>
          <a:p>
            <a:r>
              <a:rPr lang="en-US" dirty="0"/>
              <a:t>Hadoop HDFS </a:t>
            </a:r>
          </a:p>
          <a:p>
            <a:r>
              <a:rPr lang="en-US" dirty="0"/>
              <a:t>Cloud Storage</a:t>
            </a:r>
          </a:p>
          <a:p>
            <a:pPr marL="0" indent="0">
              <a:buNone/>
            </a:pPr>
            <a:endParaRPr lang="en-US" dirty="0"/>
          </a:p>
        </p:txBody>
      </p:sp>
    </p:spTree>
    <p:extLst>
      <p:ext uri="{BB962C8B-B14F-4D97-AF65-F5344CB8AC3E}">
        <p14:creationId xmlns:p14="http://schemas.microsoft.com/office/powerpoint/2010/main" val="10999858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a:t>5. Parallel Processing</a:t>
            </a:r>
          </a:p>
          <a:p>
            <a:r>
              <a:rPr lang="en-US" dirty="0"/>
              <a:t>Big Data processing frameworks divide large jobs into smaller tasks executed simultaneously on multiple machines.</a:t>
            </a:r>
          </a:p>
          <a:p>
            <a:r>
              <a:rPr lang="en-US" dirty="0"/>
              <a:t>Technologies include:</a:t>
            </a:r>
          </a:p>
          <a:p>
            <a:r>
              <a:rPr lang="en-US" dirty="0"/>
              <a:t>Hadoop MapReduce </a:t>
            </a:r>
          </a:p>
          <a:p>
            <a:r>
              <a:rPr lang="en-US" dirty="0"/>
              <a:t>Apache Spark</a:t>
            </a:r>
          </a:p>
          <a:p>
            <a:endParaRPr lang="en-US" dirty="0"/>
          </a:p>
        </p:txBody>
      </p:sp>
    </p:spTree>
    <p:extLst>
      <p:ext uri="{BB962C8B-B14F-4D97-AF65-F5344CB8AC3E}">
        <p14:creationId xmlns:p14="http://schemas.microsoft.com/office/powerpoint/2010/main" val="36275996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206063"/>
            <a:ext cx="8596668" cy="5835300"/>
          </a:xfrm>
        </p:spPr>
        <p:txBody>
          <a:bodyPr>
            <a:normAutofit fontScale="85000" lnSpcReduction="10000"/>
          </a:bodyPr>
          <a:lstStyle/>
          <a:p>
            <a:r>
              <a:rPr lang="en-US" b="1" dirty="0"/>
              <a:t>Real-Time Example 1: Amazon</a:t>
            </a:r>
          </a:p>
          <a:p>
            <a:pPr marL="0" indent="0">
              <a:buNone/>
            </a:pPr>
            <a:r>
              <a:rPr lang="en-US" b="1" dirty="0"/>
              <a:t>Every second, Amazon collects:</a:t>
            </a:r>
          </a:p>
          <a:p>
            <a:r>
              <a:rPr lang="en-US" dirty="0"/>
              <a:t>Product searches </a:t>
            </a:r>
          </a:p>
          <a:p>
            <a:r>
              <a:rPr lang="en-US" dirty="0"/>
              <a:t>Purchase history </a:t>
            </a:r>
          </a:p>
          <a:p>
            <a:r>
              <a:rPr lang="en-US" dirty="0"/>
              <a:t>Cart items </a:t>
            </a:r>
          </a:p>
          <a:p>
            <a:r>
              <a:rPr lang="en-US" dirty="0"/>
              <a:t>Customer reviews </a:t>
            </a:r>
          </a:p>
          <a:p>
            <a:r>
              <a:rPr lang="en-US" dirty="0"/>
              <a:t>Click behavior </a:t>
            </a:r>
          </a:p>
          <a:p>
            <a:r>
              <a:rPr lang="en-US" dirty="0"/>
              <a:t>Delivery locations </a:t>
            </a:r>
          </a:p>
          <a:p>
            <a:pPr marL="0" indent="0">
              <a:buNone/>
            </a:pPr>
            <a:r>
              <a:rPr lang="en-US" b="1" dirty="0"/>
              <a:t>Machine learning analyzes this enormous data in real time to recommend products.</a:t>
            </a:r>
          </a:p>
          <a:p>
            <a:r>
              <a:rPr lang="en-US" b="1" dirty="0"/>
              <a:t>Example:</a:t>
            </a:r>
          </a:p>
          <a:p>
            <a:r>
              <a:rPr lang="en-US" dirty="0"/>
              <a:t>When a customer purchases a laptop,</a:t>
            </a:r>
          </a:p>
          <a:p>
            <a:r>
              <a:rPr lang="en-US" dirty="0"/>
              <a:t>Amazon immediately recommends:</a:t>
            </a:r>
          </a:p>
          <a:p>
            <a:r>
              <a:rPr lang="en-US" dirty="0"/>
              <a:t>Laptop bag </a:t>
            </a:r>
          </a:p>
          <a:p>
            <a:r>
              <a:rPr lang="en-US" dirty="0"/>
              <a:t>Wireless mouse </a:t>
            </a:r>
          </a:p>
          <a:p>
            <a:r>
              <a:rPr lang="en-US" dirty="0"/>
              <a:t>Keyboard </a:t>
            </a:r>
          </a:p>
          <a:p>
            <a:r>
              <a:rPr lang="en-US" dirty="0"/>
              <a:t>Antivirus software </a:t>
            </a:r>
          </a:p>
          <a:p>
            <a:r>
              <a:rPr lang="en-US" dirty="0"/>
              <a:t>This recommendation engine relies on Big Data Analytics.</a:t>
            </a:r>
          </a:p>
          <a:p>
            <a:endParaRPr lang="en-US" dirty="0"/>
          </a:p>
        </p:txBody>
      </p:sp>
    </p:spTree>
    <p:extLst>
      <p:ext uri="{BB962C8B-B14F-4D97-AF65-F5344CB8AC3E}">
        <p14:creationId xmlns:p14="http://schemas.microsoft.com/office/powerpoint/2010/main" val="37422671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Real-Time Example </a:t>
            </a:r>
            <a:r>
              <a:rPr lang="en-US" b="1" dirty="0" smtClean="0"/>
              <a:t>2: </a:t>
            </a:r>
            <a:r>
              <a:rPr lang="en-US" b="1" dirty="0"/>
              <a:t>Healthcare</a:t>
            </a:r>
          </a:p>
          <a:p>
            <a:r>
              <a:rPr lang="en-US" dirty="0"/>
              <a:t>Modern hospitals collect:</a:t>
            </a:r>
          </a:p>
          <a:p>
            <a:r>
              <a:rPr lang="en-US" dirty="0"/>
              <a:t>MRI images </a:t>
            </a:r>
          </a:p>
          <a:p>
            <a:r>
              <a:rPr lang="en-US" dirty="0"/>
              <a:t>CT scans </a:t>
            </a:r>
          </a:p>
          <a:p>
            <a:r>
              <a:rPr lang="en-US" dirty="0"/>
              <a:t>ECG signals </a:t>
            </a:r>
          </a:p>
          <a:p>
            <a:r>
              <a:rPr lang="en-US" dirty="0"/>
              <a:t>Patient history </a:t>
            </a:r>
          </a:p>
          <a:p>
            <a:r>
              <a:rPr lang="en-US" dirty="0"/>
              <a:t>Wearable sensor data </a:t>
            </a:r>
          </a:p>
          <a:p>
            <a:r>
              <a:rPr lang="en-US" dirty="0"/>
              <a:t>Big Data Analytics combines these diverse datasets to detect diseases earlier and assist doctors in diagnosis.</a:t>
            </a:r>
          </a:p>
          <a:p>
            <a:endParaRPr lang="en-US" dirty="0"/>
          </a:p>
        </p:txBody>
      </p:sp>
    </p:spTree>
    <p:extLst>
      <p:ext uri="{BB962C8B-B14F-4D97-AF65-F5344CB8AC3E}">
        <p14:creationId xmlns:p14="http://schemas.microsoft.com/office/powerpoint/2010/main" val="38015601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703757444"/>
              </p:ext>
            </p:extLst>
          </p:nvPr>
        </p:nvGraphicFramePr>
        <p:xfrm>
          <a:off x="-1" y="1"/>
          <a:ext cx="12039600" cy="6923490"/>
        </p:xfrm>
        <a:graphic>
          <a:graphicData uri="http://schemas.openxmlformats.org/drawingml/2006/table">
            <a:tbl>
              <a:tblPr>
                <a:tableStyleId>{3C2FFA5D-87B4-456A-9821-1D502468CF0F}</a:tableStyleId>
              </a:tblPr>
              <a:tblGrid>
                <a:gridCol w="4013200"/>
                <a:gridCol w="4013200"/>
                <a:gridCol w="4013200"/>
              </a:tblGrid>
              <a:tr h="430911">
                <a:tc>
                  <a:txBody>
                    <a:bodyPr/>
                    <a:lstStyle/>
                    <a:p>
                      <a:r>
                        <a:rPr lang="en-US" sz="2000" b="1" dirty="0"/>
                        <a:t>Feature</a:t>
                      </a:r>
                    </a:p>
                  </a:txBody>
                  <a:tcPr marL="41736" marR="41736" marT="20868" marB="20868" anchor="ctr">
                    <a:solidFill>
                      <a:srgbClr val="0070C0"/>
                    </a:solidFill>
                  </a:tcPr>
                </a:tc>
                <a:tc>
                  <a:txBody>
                    <a:bodyPr/>
                    <a:lstStyle/>
                    <a:p>
                      <a:r>
                        <a:rPr lang="en-US" sz="2000" b="1"/>
                        <a:t>Traditional Business Intelligence</a:t>
                      </a:r>
                    </a:p>
                  </a:txBody>
                  <a:tcPr marL="41736" marR="41736" marT="20868" marB="20868" anchor="ctr">
                    <a:solidFill>
                      <a:srgbClr val="0070C0"/>
                    </a:solidFill>
                  </a:tcPr>
                </a:tc>
                <a:tc>
                  <a:txBody>
                    <a:bodyPr/>
                    <a:lstStyle/>
                    <a:p>
                      <a:r>
                        <a:rPr lang="en-US" sz="2000" b="1" dirty="0"/>
                        <a:t>Big Data</a:t>
                      </a:r>
                    </a:p>
                  </a:txBody>
                  <a:tcPr marL="41736" marR="41736" marT="20868" marB="20868" anchor="ctr">
                    <a:solidFill>
                      <a:srgbClr val="0070C0"/>
                    </a:solidFill>
                  </a:tcPr>
                </a:tc>
              </a:tr>
              <a:tr h="326029">
                <a:tc>
                  <a:txBody>
                    <a:bodyPr/>
                    <a:lstStyle/>
                    <a:p>
                      <a:r>
                        <a:rPr lang="en-US" sz="2000"/>
                        <a:t>Data Size</a:t>
                      </a:r>
                    </a:p>
                  </a:txBody>
                  <a:tcPr marL="41736" marR="41736" marT="20868" marB="20868" anchor="ctr"/>
                </a:tc>
                <a:tc>
                  <a:txBody>
                    <a:bodyPr/>
                    <a:lstStyle/>
                    <a:p>
                      <a:r>
                        <a:rPr lang="en-US" sz="2000"/>
                        <a:t>GB to TB</a:t>
                      </a:r>
                    </a:p>
                  </a:txBody>
                  <a:tcPr marL="41736" marR="41736" marT="20868" marB="20868" anchor="ctr"/>
                </a:tc>
                <a:tc>
                  <a:txBody>
                    <a:bodyPr/>
                    <a:lstStyle/>
                    <a:p>
                      <a:r>
                        <a:rPr lang="en-US" sz="2000" dirty="0"/>
                        <a:t>TB to PB and beyond</a:t>
                      </a:r>
                    </a:p>
                  </a:txBody>
                  <a:tcPr marL="41736" marR="41736" marT="20868" marB="20868" anchor="ctr"/>
                </a:tc>
              </a:tr>
              <a:tr h="612793">
                <a:tc>
                  <a:txBody>
                    <a:bodyPr/>
                    <a:lstStyle/>
                    <a:p>
                      <a:r>
                        <a:rPr lang="en-US" sz="2000"/>
                        <a:t>Data Type</a:t>
                      </a:r>
                    </a:p>
                  </a:txBody>
                  <a:tcPr marL="41736" marR="41736" marT="20868" marB="20868" anchor="ctr"/>
                </a:tc>
                <a:tc>
                  <a:txBody>
                    <a:bodyPr/>
                    <a:lstStyle/>
                    <a:p>
                      <a:r>
                        <a:rPr lang="en-US" sz="2000"/>
                        <a:t>Structured</a:t>
                      </a:r>
                    </a:p>
                  </a:txBody>
                  <a:tcPr marL="41736" marR="41736" marT="20868" marB="20868" anchor="ctr"/>
                </a:tc>
                <a:tc>
                  <a:txBody>
                    <a:bodyPr/>
                    <a:lstStyle/>
                    <a:p>
                      <a:r>
                        <a:rPr lang="en-US" sz="2000" dirty="0"/>
                        <a:t>Structured, Semi-Structured, Unstructured</a:t>
                      </a:r>
                    </a:p>
                  </a:txBody>
                  <a:tcPr marL="41736" marR="41736" marT="20868" marB="20868" anchor="ctr"/>
                </a:tc>
              </a:tr>
              <a:tr h="430911">
                <a:tc>
                  <a:txBody>
                    <a:bodyPr/>
                    <a:lstStyle/>
                    <a:p>
                      <a:r>
                        <a:rPr lang="en-US" sz="2000" dirty="0"/>
                        <a:t>Storage</a:t>
                      </a:r>
                    </a:p>
                  </a:txBody>
                  <a:tcPr marL="41736" marR="41736" marT="20868" marB="20868" anchor="ctr"/>
                </a:tc>
                <a:tc>
                  <a:txBody>
                    <a:bodyPr/>
                    <a:lstStyle/>
                    <a:p>
                      <a:r>
                        <a:rPr lang="en-US" sz="2000"/>
                        <a:t>Relational Database</a:t>
                      </a:r>
                    </a:p>
                  </a:txBody>
                  <a:tcPr marL="41736" marR="41736" marT="20868" marB="20868" anchor="ctr"/>
                </a:tc>
                <a:tc>
                  <a:txBody>
                    <a:bodyPr/>
                    <a:lstStyle/>
                    <a:p>
                      <a:r>
                        <a:rPr lang="en-US" sz="2000" dirty="0"/>
                        <a:t>Hadoop HDFS, Cloud Storage</a:t>
                      </a:r>
                    </a:p>
                  </a:txBody>
                  <a:tcPr marL="41736" marR="41736" marT="20868" marB="20868" anchor="ctr"/>
                </a:tc>
              </a:tr>
              <a:tr h="430911">
                <a:tc>
                  <a:txBody>
                    <a:bodyPr/>
                    <a:lstStyle/>
                    <a:p>
                      <a:r>
                        <a:rPr lang="en-US" sz="2000" dirty="0"/>
                        <a:t>Processing</a:t>
                      </a:r>
                    </a:p>
                  </a:txBody>
                  <a:tcPr marL="41736" marR="41736" marT="20868" marB="20868" anchor="ctr"/>
                </a:tc>
                <a:tc>
                  <a:txBody>
                    <a:bodyPr/>
                    <a:lstStyle/>
                    <a:p>
                      <a:r>
                        <a:rPr lang="en-US" sz="2000"/>
                        <a:t>Batch Processing</a:t>
                      </a:r>
                    </a:p>
                  </a:txBody>
                  <a:tcPr marL="41736" marR="41736" marT="20868" marB="20868" anchor="ctr"/>
                </a:tc>
                <a:tc>
                  <a:txBody>
                    <a:bodyPr/>
                    <a:lstStyle/>
                    <a:p>
                      <a:r>
                        <a:rPr lang="en-US" sz="2000"/>
                        <a:t>Real-Time &amp; Batch Processing</a:t>
                      </a:r>
                    </a:p>
                  </a:txBody>
                  <a:tcPr marL="41736" marR="41736" marT="20868" marB="20868" anchor="ctr"/>
                </a:tc>
              </a:tr>
              <a:tr h="430911">
                <a:tc>
                  <a:txBody>
                    <a:bodyPr/>
                    <a:lstStyle/>
                    <a:p>
                      <a:r>
                        <a:rPr lang="en-US" sz="2000"/>
                        <a:t>Database</a:t>
                      </a:r>
                    </a:p>
                  </a:txBody>
                  <a:tcPr marL="41736" marR="41736" marT="20868" marB="20868" anchor="ctr"/>
                </a:tc>
                <a:tc>
                  <a:txBody>
                    <a:bodyPr/>
                    <a:lstStyle/>
                    <a:p>
                      <a:r>
                        <a:rPr lang="en-US" sz="2000" dirty="0"/>
                        <a:t>SQL Databases</a:t>
                      </a:r>
                    </a:p>
                  </a:txBody>
                  <a:tcPr marL="41736" marR="41736" marT="20868" marB="20868" anchor="ctr"/>
                </a:tc>
                <a:tc>
                  <a:txBody>
                    <a:bodyPr/>
                    <a:lstStyle/>
                    <a:p>
                      <a:r>
                        <a:rPr lang="en-US" sz="2000"/>
                        <a:t>NoSQL, Hadoop Ecosystem</a:t>
                      </a:r>
                    </a:p>
                  </a:txBody>
                  <a:tcPr marL="41736" marR="41736" marT="20868" marB="20868" anchor="ctr"/>
                </a:tc>
              </a:tr>
              <a:tr h="326029">
                <a:tc>
                  <a:txBody>
                    <a:bodyPr/>
                    <a:lstStyle/>
                    <a:p>
                      <a:r>
                        <a:rPr lang="en-US" sz="2000"/>
                        <a:t>Architecture</a:t>
                      </a:r>
                    </a:p>
                  </a:txBody>
                  <a:tcPr marL="41736" marR="41736" marT="20868" marB="20868" anchor="ctr"/>
                </a:tc>
                <a:tc>
                  <a:txBody>
                    <a:bodyPr/>
                    <a:lstStyle/>
                    <a:p>
                      <a:r>
                        <a:rPr lang="en-US" sz="2000"/>
                        <a:t>Centralized</a:t>
                      </a:r>
                    </a:p>
                  </a:txBody>
                  <a:tcPr marL="41736" marR="41736" marT="20868" marB="20868" anchor="ctr"/>
                </a:tc>
                <a:tc>
                  <a:txBody>
                    <a:bodyPr/>
                    <a:lstStyle/>
                    <a:p>
                      <a:r>
                        <a:rPr lang="en-US" sz="2000"/>
                        <a:t>Distributed</a:t>
                      </a:r>
                    </a:p>
                  </a:txBody>
                  <a:tcPr marL="41736" marR="41736" marT="20868" marB="20868" anchor="ctr"/>
                </a:tc>
              </a:tr>
              <a:tr h="326029">
                <a:tc>
                  <a:txBody>
                    <a:bodyPr/>
                    <a:lstStyle/>
                    <a:p>
                      <a:r>
                        <a:rPr lang="en-US" sz="2000"/>
                        <a:t>Scalability</a:t>
                      </a:r>
                    </a:p>
                  </a:txBody>
                  <a:tcPr marL="41736" marR="41736" marT="20868" marB="20868" anchor="ctr"/>
                </a:tc>
                <a:tc>
                  <a:txBody>
                    <a:bodyPr/>
                    <a:lstStyle/>
                    <a:p>
                      <a:r>
                        <a:rPr lang="en-US" sz="2000"/>
                        <a:t>Limited</a:t>
                      </a:r>
                    </a:p>
                  </a:txBody>
                  <a:tcPr marL="41736" marR="41736" marT="20868" marB="20868" anchor="ctr"/>
                </a:tc>
                <a:tc>
                  <a:txBody>
                    <a:bodyPr/>
                    <a:lstStyle/>
                    <a:p>
                      <a:r>
                        <a:rPr lang="en-US" sz="2000"/>
                        <a:t>Highly Scalable</a:t>
                      </a:r>
                    </a:p>
                  </a:txBody>
                  <a:tcPr marL="41736" marR="41736" marT="20868" marB="20868" anchor="ctr"/>
                </a:tc>
              </a:tr>
              <a:tr h="430911">
                <a:tc>
                  <a:txBody>
                    <a:bodyPr/>
                    <a:lstStyle/>
                    <a:p>
                      <a:r>
                        <a:rPr lang="en-US" sz="2000"/>
                        <a:t>Cost</a:t>
                      </a:r>
                    </a:p>
                  </a:txBody>
                  <a:tcPr marL="41736" marR="41736" marT="20868" marB="20868" anchor="ctr"/>
                </a:tc>
                <a:tc>
                  <a:txBody>
                    <a:bodyPr/>
                    <a:lstStyle/>
                    <a:p>
                      <a:r>
                        <a:rPr lang="en-US" sz="2000"/>
                        <a:t>High for scaling</a:t>
                      </a:r>
                    </a:p>
                  </a:txBody>
                  <a:tcPr marL="41736" marR="41736" marT="20868" marB="20868" anchor="ctr"/>
                </a:tc>
                <a:tc>
                  <a:txBody>
                    <a:bodyPr/>
                    <a:lstStyle/>
                    <a:p>
                      <a:r>
                        <a:rPr lang="en-US" sz="2000" dirty="0"/>
                        <a:t>Lower using commodity hardware</a:t>
                      </a:r>
                    </a:p>
                  </a:txBody>
                  <a:tcPr marL="41736" marR="41736" marT="20868" marB="20868" anchor="ctr"/>
                </a:tc>
              </a:tr>
              <a:tr h="612793">
                <a:tc>
                  <a:txBody>
                    <a:bodyPr/>
                    <a:lstStyle/>
                    <a:p>
                      <a:r>
                        <a:rPr lang="en-US" sz="2000"/>
                        <a:t>Analytics</a:t>
                      </a:r>
                    </a:p>
                  </a:txBody>
                  <a:tcPr marL="41736" marR="41736" marT="20868" marB="20868" anchor="ctr"/>
                </a:tc>
                <a:tc>
                  <a:txBody>
                    <a:bodyPr/>
                    <a:lstStyle/>
                    <a:p>
                      <a:r>
                        <a:rPr lang="en-US" sz="2000"/>
                        <a:t>Descriptive</a:t>
                      </a:r>
                    </a:p>
                  </a:txBody>
                  <a:tcPr marL="41736" marR="41736" marT="20868" marB="20868" anchor="ctr"/>
                </a:tc>
                <a:tc>
                  <a:txBody>
                    <a:bodyPr/>
                    <a:lstStyle/>
                    <a:p>
                      <a:r>
                        <a:rPr lang="en-US" sz="2000"/>
                        <a:t>Descriptive, Predictive, Prescriptive</a:t>
                      </a:r>
                    </a:p>
                  </a:txBody>
                  <a:tcPr marL="41736" marR="41736" marT="20868" marB="20868" anchor="ctr"/>
                </a:tc>
              </a:tr>
              <a:tr h="632560">
                <a:tc>
                  <a:txBody>
                    <a:bodyPr/>
                    <a:lstStyle/>
                    <a:p>
                      <a:r>
                        <a:rPr lang="en-US" sz="2000"/>
                        <a:t>Data Sources</a:t>
                      </a:r>
                    </a:p>
                  </a:txBody>
                  <a:tcPr marL="41736" marR="41736" marT="20868" marB="20868" anchor="ctr"/>
                </a:tc>
                <a:tc>
                  <a:txBody>
                    <a:bodyPr/>
                    <a:lstStyle/>
                    <a:p>
                      <a:r>
                        <a:rPr lang="en-US" sz="2000"/>
                        <a:t>ERP, CRM, Transactions</a:t>
                      </a:r>
                    </a:p>
                  </a:txBody>
                  <a:tcPr marL="41736" marR="41736" marT="20868" marB="20868" anchor="ctr"/>
                </a:tc>
                <a:tc>
                  <a:txBody>
                    <a:bodyPr/>
                    <a:lstStyle/>
                    <a:p>
                      <a:r>
                        <a:rPr lang="en-US" sz="2000"/>
                        <a:t>Social Media, IoT, Mobile Apps, Sensors, Videos, Logs</a:t>
                      </a:r>
                    </a:p>
                  </a:txBody>
                  <a:tcPr marL="41736" marR="41736" marT="20868" marB="20868" anchor="ctr"/>
                </a:tc>
              </a:tr>
              <a:tr h="430911">
                <a:tc>
                  <a:txBody>
                    <a:bodyPr/>
                    <a:lstStyle/>
                    <a:p>
                      <a:r>
                        <a:rPr lang="en-US" sz="2000"/>
                        <a:t>Query Speed</a:t>
                      </a:r>
                    </a:p>
                  </a:txBody>
                  <a:tcPr marL="41736" marR="41736" marT="20868" marB="20868" anchor="ctr"/>
                </a:tc>
                <a:tc>
                  <a:txBody>
                    <a:bodyPr/>
                    <a:lstStyle/>
                    <a:p>
                      <a:r>
                        <a:rPr lang="en-US" sz="2000"/>
                        <a:t>Moderate</a:t>
                      </a:r>
                    </a:p>
                  </a:txBody>
                  <a:tcPr marL="41736" marR="41736" marT="20868" marB="20868" anchor="ctr"/>
                </a:tc>
                <a:tc>
                  <a:txBody>
                    <a:bodyPr/>
                    <a:lstStyle/>
                    <a:p>
                      <a:r>
                        <a:rPr lang="en-US" sz="2000" dirty="0"/>
                        <a:t>Fast using distributed computing</a:t>
                      </a:r>
                    </a:p>
                  </a:txBody>
                  <a:tcPr marL="41736" marR="41736" marT="20868" marB="20868" anchor="ctr"/>
                </a:tc>
              </a:tr>
              <a:tr h="326029">
                <a:tc>
                  <a:txBody>
                    <a:bodyPr/>
                    <a:lstStyle/>
                    <a:p>
                      <a:r>
                        <a:rPr lang="en-US" sz="2000"/>
                        <a:t>Flexibility</a:t>
                      </a:r>
                    </a:p>
                  </a:txBody>
                  <a:tcPr marL="41736" marR="41736" marT="20868" marB="20868" anchor="ctr"/>
                </a:tc>
                <a:tc>
                  <a:txBody>
                    <a:bodyPr/>
                    <a:lstStyle/>
                    <a:p>
                      <a:r>
                        <a:rPr lang="en-US" sz="2000"/>
                        <a:t>Low</a:t>
                      </a:r>
                    </a:p>
                  </a:txBody>
                  <a:tcPr marL="41736" marR="41736" marT="20868" marB="20868" anchor="ctr"/>
                </a:tc>
                <a:tc>
                  <a:txBody>
                    <a:bodyPr/>
                    <a:lstStyle/>
                    <a:p>
                      <a:r>
                        <a:rPr lang="en-US" sz="2000"/>
                        <a:t>Very High</a:t>
                      </a:r>
                    </a:p>
                  </a:txBody>
                  <a:tcPr marL="41736" marR="41736" marT="20868" marB="20868" anchor="ctr"/>
                </a:tc>
              </a:tr>
              <a:tr h="612793">
                <a:tc>
                  <a:txBody>
                    <a:bodyPr/>
                    <a:lstStyle/>
                    <a:p>
                      <a:r>
                        <a:rPr lang="en-US" sz="2000"/>
                        <a:t>Fault Tolerance</a:t>
                      </a:r>
                    </a:p>
                  </a:txBody>
                  <a:tcPr marL="41736" marR="41736" marT="20868" marB="20868" anchor="ctr"/>
                </a:tc>
                <a:tc>
                  <a:txBody>
                    <a:bodyPr/>
                    <a:lstStyle/>
                    <a:p>
                      <a:r>
                        <a:rPr lang="en-US" sz="2000"/>
                        <a:t>Limited</a:t>
                      </a:r>
                    </a:p>
                  </a:txBody>
                  <a:tcPr marL="41736" marR="41736" marT="20868" marB="20868" anchor="ctr"/>
                </a:tc>
                <a:tc>
                  <a:txBody>
                    <a:bodyPr/>
                    <a:lstStyle/>
                    <a:p>
                      <a:r>
                        <a:rPr lang="en-US" sz="2000"/>
                        <a:t>High (data replicated across nodes)</a:t>
                      </a:r>
                    </a:p>
                  </a:txBody>
                  <a:tcPr marL="41736" marR="41736" marT="20868" marB="20868" anchor="ctr"/>
                </a:tc>
              </a:tr>
              <a:tr h="326029">
                <a:tc>
                  <a:txBody>
                    <a:bodyPr/>
                    <a:lstStyle/>
                    <a:p>
                      <a:r>
                        <a:rPr lang="en-US" sz="2000"/>
                        <a:t>Decision Making</a:t>
                      </a:r>
                    </a:p>
                  </a:txBody>
                  <a:tcPr marL="41736" marR="41736" marT="20868" marB="20868" anchor="ctr"/>
                </a:tc>
                <a:tc>
                  <a:txBody>
                    <a:bodyPr/>
                    <a:lstStyle/>
                    <a:p>
                      <a:r>
                        <a:rPr lang="en-US" sz="2000"/>
                        <a:t>Historical</a:t>
                      </a:r>
                    </a:p>
                  </a:txBody>
                  <a:tcPr marL="41736" marR="41736" marT="20868" marB="20868" anchor="ctr"/>
                </a:tc>
                <a:tc>
                  <a:txBody>
                    <a:bodyPr/>
                    <a:lstStyle/>
                    <a:p>
                      <a:r>
                        <a:rPr lang="en-US" sz="2000" dirty="0"/>
                        <a:t>Real-Time and Predictive</a:t>
                      </a:r>
                    </a:p>
                  </a:txBody>
                  <a:tcPr marL="41736" marR="41736" marT="20868" marB="20868" anchor="ctr"/>
                </a:tc>
              </a:tr>
            </a:tbl>
          </a:graphicData>
        </a:graphic>
      </p:graphicFrame>
    </p:spTree>
    <p:extLst>
      <p:ext uri="{BB962C8B-B14F-4D97-AF65-F5344CB8AC3E}">
        <p14:creationId xmlns:p14="http://schemas.microsoft.com/office/powerpoint/2010/main" val="35689373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Coexistence of Both Systems</a:t>
            </a:r>
          </a:p>
        </p:txBody>
      </p:sp>
      <p:sp>
        <p:nvSpPr>
          <p:cNvPr id="3" name="Content Placeholder 2"/>
          <p:cNvSpPr>
            <a:spLocks noGrp="1"/>
          </p:cNvSpPr>
          <p:nvPr>
            <p:ph idx="1"/>
          </p:nvPr>
        </p:nvSpPr>
        <p:spPr>
          <a:xfrm>
            <a:off x="677334" y="1562101"/>
            <a:ext cx="9704916" cy="4479262"/>
          </a:xfrm>
        </p:spPr>
        <p:txBody>
          <a:bodyPr>
            <a:normAutofit fontScale="92500" lnSpcReduction="20000"/>
          </a:bodyPr>
          <a:lstStyle/>
          <a:p>
            <a:r>
              <a:rPr lang="en-US" b="1" dirty="0"/>
              <a:t>Banking Scenario</a:t>
            </a:r>
          </a:p>
          <a:p>
            <a:r>
              <a:rPr lang="en-US" b="1" dirty="0"/>
              <a:t>Traditional BI</a:t>
            </a:r>
            <a:endParaRPr lang="en-US" dirty="0"/>
          </a:p>
          <a:p>
            <a:r>
              <a:rPr lang="en-US" dirty="0"/>
              <a:t>A bank analyzes last month's customer transactions to determine:</a:t>
            </a:r>
          </a:p>
          <a:p>
            <a:r>
              <a:rPr lang="en-US" dirty="0"/>
              <a:t>Monthly deposits </a:t>
            </a:r>
          </a:p>
          <a:p>
            <a:r>
              <a:rPr lang="en-US" dirty="0"/>
              <a:t>Branch performance </a:t>
            </a:r>
          </a:p>
          <a:p>
            <a:r>
              <a:rPr lang="en-US" dirty="0"/>
              <a:t>Loan repayments </a:t>
            </a:r>
          </a:p>
          <a:p>
            <a:r>
              <a:rPr lang="en-US" dirty="0"/>
              <a:t>Revenue generation </a:t>
            </a:r>
          </a:p>
          <a:p>
            <a:r>
              <a:rPr lang="en-US" dirty="0"/>
              <a:t>The reports are prepared overnight using data stored in a Data Warehouse. Managers use these reports to review historical performance and plan future strategies.</a:t>
            </a:r>
          </a:p>
          <a:p>
            <a:r>
              <a:rPr lang="en-US" b="1" dirty="0"/>
              <a:t>Big Data</a:t>
            </a:r>
            <a:endParaRPr lang="en-US" dirty="0"/>
          </a:p>
          <a:p>
            <a:r>
              <a:rPr lang="en-US" dirty="0"/>
              <a:t>The same bank continuously monitors millions of credit card transactions in real time. Machine learning models analyze transaction patterns as they occur. If an unusual transaction—such as a large purchase from a foreign country immediately after a local transaction—is detected, the system flags it as potential fraud within seconds and temporarily blocks the card, helping prevent financial loss.</a:t>
            </a:r>
          </a:p>
          <a:p>
            <a:endParaRPr lang="en-US" dirty="0"/>
          </a:p>
        </p:txBody>
      </p:sp>
    </p:spTree>
    <p:extLst>
      <p:ext uri="{BB962C8B-B14F-4D97-AF65-F5344CB8AC3E}">
        <p14:creationId xmlns:p14="http://schemas.microsoft.com/office/powerpoint/2010/main" val="28312889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Data Warehouse and Hadoop Environment</a:t>
            </a:r>
            <a:br>
              <a:rPr lang="en-US" b="1" dirty="0"/>
            </a:br>
            <a:endParaRPr lang="en-US" dirty="0"/>
          </a:p>
        </p:txBody>
      </p:sp>
      <p:sp>
        <p:nvSpPr>
          <p:cNvPr id="3" name="Content Placeholder 2"/>
          <p:cNvSpPr>
            <a:spLocks noGrp="1"/>
          </p:cNvSpPr>
          <p:nvPr>
            <p:ph idx="1"/>
          </p:nvPr>
        </p:nvSpPr>
        <p:spPr/>
        <p:txBody>
          <a:bodyPr/>
          <a:lstStyle/>
          <a:p>
            <a:pPr>
              <a:lnSpc>
                <a:spcPct val="150000"/>
              </a:lnSpc>
            </a:pPr>
            <a:r>
              <a:rPr lang="en-US" dirty="0"/>
              <a:t>A data warehouse and a Hadoop environment are two different concepts and technologies used in managing and processing large amounts of data.</a:t>
            </a:r>
          </a:p>
          <a:p>
            <a:pPr>
              <a:lnSpc>
                <a:spcPct val="150000"/>
              </a:lnSpc>
            </a:pPr>
            <a:r>
              <a:rPr lang="en-US" b="1" dirty="0"/>
              <a:t>Data Warehouse:</a:t>
            </a:r>
          </a:p>
          <a:p>
            <a:pPr lvl="0">
              <a:lnSpc>
                <a:spcPct val="150000"/>
              </a:lnSpc>
            </a:pPr>
            <a:r>
              <a:rPr lang="en-US" dirty="0"/>
              <a:t>A data warehouse is a central repository that stores structured, historical data from various sources within an organization.</a:t>
            </a:r>
          </a:p>
          <a:p>
            <a:pPr lvl="0">
              <a:lnSpc>
                <a:spcPct val="150000"/>
              </a:lnSpc>
            </a:pPr>
            <a:r>
              <a:rPr lang="en-US" dirty="0" smtClean="0"/>
              <a:t>It </a:t>
            </a:r>
            <a:r>
              <a:rPr lang="en-US" dirty="0"/>
              <a:t>is designed to support business intelligence (BI) and reporting activities</a:t>
            </a:r>
          </a:p>
          <a:p>
            <a:pPr>
              <a:lnSpc>
                <a:spcPct val="150000"/>
              </a:lnSpc>
            </a:pPr>
            <a:endParaRPr lang="en-US" dirty="0"/>
          </a:p>
        </p:txBody>
      </p:sp>
    </p:spTree>
    <p:extLst>
      <p:ext uri="{BB962C8B-B14F-4D97-AF65-F5344CB8AC3E}">
        <p14:creationId xmlns:p14="http://schemas.microsoft.com/office/powerpoint/2010/main" val="8494320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Image 8"/>
          <p:cNvPicPr/>
          <p:nvPr/>
        </p:nvPicPr>
        <p:blipFill>
          <a:blip r:embed="rId2" cstate="print"/>
          <a:stretch>
            <a:fillRect/>
          </a:stretch>
        </p:blipFill>
        <p:spPr>
          <a:xfrm>
            <a:off x="677334" y="609600"/>
            <a:ext cx="8596668" cy="5431762"/>
          </a:xfrm>
          <a:prstGeom prst="rect">
            <a:avLst/>
          </a:prstGeom>
        </p:spPr>
      </p:pic>
    </p:spTree>
    <p:extLst>
      <p:ext uri="{BB962C8B-B14F-4D97-AF65-F5344CB8AC3E}">
        <p14:creationId xmlns:p14="http://schemas.microsoft.com/office/powerpoint/2010/main" val="6229953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Aspects Of A Data Warehouse: </a:t>
            </a:r>
            <a:endParaRPr lang="en-US" dirty="0"/>
          </a:p>
        </p:txBody>
      </p:sp>
      <p:sp>
        <p:nvSpPr>
          <p:cNvPr id="3" name="Content Placeholder 2"/>
          <p:cNvSpPr>
            <a:spLocks noGrp="1"/>
          </p:cNvSpPr>
          <p:nvPr>
            <p:ph idx="1"/>
          </p:nvPr>
        </p:nvSpPr>
        <p:spPr/>
        <p:txBody>
          <a:bodyPr/>
          <a:lstStyle/>
          <a:p>
            <a:r>
              <a:rPr lang="en-US" b="1" dirty="0"/>
              <a:t>Structure:</a:t>
            </a:r>
          </a:p>
          <a:p>
            <a:pPr lvl="0"/>
            <a:r>
              <a:rPr lang="en-US" dirty="0"/>
              <a:t>Data warehouses use a relational database management system (RDBMS) to store data in a structured format.</a:t>
            </a:r>
          </a:p>
          <a:p>
            <a:pPr lvl="0"/>
            <a:r>
              <a:rPr lang="en-US" dirty="0"/>
              <a:t>Data is organized into tables, rows, and columns, following a predefined schema called a dimensional model.</a:t>
            </a:r>
          </a:p>
          <a:p>
            <a:pPr lvl="0"/>
            <a:r>
              <a:rPr lang="en-US" dirty="0"/>
              <a:t>The dimensional model typically consists of fact tables (containing numeric measures) and dimension tables (providing context and descriptive attributes).</a:t>
            </a:r>
          </a:p>
          <a:p>
            <a:pPr marL="0" indent="0">
              <a:buNone/>
            </a:pPr>
            <a:endParaRPr lang="en-US" dirty="0"/>
          </a:p>
        </p:txBody>
      </p:sp>
    </p:spTree>
    <p:extLst>
      <p:ext uri="{BB962C8B-B14F-4D97-AF65-F5344CB8AC3E}">
        <p14:creationId xmlns:p14="http://schemas.microsoft.com/office/powerpoint/2010/main" val="35218257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334851"/>
            <a:ext cx="8596668" cy="5706511"/>
          </a:xfrm>
        </p:spPr>
        <p:txBody>
          <a:bodyPr>
            <a:normAutofit/>
          </a:bodyPr>
          <a:lstStyle/>
          <a:p>
            <a:r>
              <a:rPr lang="en-US" b="1" dirty="0"/>
              <a:t>ETL Processes:</a:t>
            </a:r>
          </a:p>
          <a:p>
            <a:pPr lvl="0"/>
            <a:r>
              <a:rPr lang="en-US" dirty="0"/>
              <a:t>Extract, Transform, Load (ETL) processes are used to populate the data warehouse.</a:t>
            </a:r>
          </a:p>
          <a:p>
            <a:pPr lvl="0"/>
            <a:r>
              <a:rPr lang="en-US" dirty="0"/>
              <a:t>Data is extracted from different sources, transformed to adhere to the data warehouse schema, and then loaded into the warehouse.</a:t>
            </a:r>
          </a:p>
          <a:p>
            <a:pPr lvl="0"/>
            <a:r>
              <a:rPr lang="en-US" dirty="0"/>
              <a:t>ETL processes often involve data cleansing, integration, and aggregation to ensure data quality and consistency.</a:t>
            </a:r>
          </a:p>
          <a:p>
            <a:r>
              <a:rPr lang="en-US" b="1" dirty="0"/>
              <a:t>Historical Data:</a:t>
            </a:r>
          </a:p>
          <a:p>
            <a:pPr lvl="0"/>
            <a:r>
              <a:rPr lang="en-US" dirty="0"/>
              <a:t>Data warehouses primarily store historical data, providing a long-term view of the organization's operations.</a:t>
            </a:r>
          </a:p>
          <a:p>
            <a:r>
              <a:rPr lang="en-US" dirty="0" smtClean="0"/>
              <a:t>Data </a:t>
            </a:r>
            <a:r>
              <a:rPr lang="en-US" dirty="0"/>
              <a:t>is typically collected at regular intervals, such as daily, weekly, or monthly, allowing for trend analysis and historical reporting</a:t>
            </a:r>
          </a:p>
        </p:txBody>
      </p:sp>
    </p:spTree>
    <p:extLst>
      <p:ext uri="{BB962C8B-B14F-4D97-AF65-F5344CB8AC3E}">
        <p14:creationId xmlns:p14="http://schemas.microsoft.com/office/powerpoint/2010/main" val="31869005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Business Intelligence and Reporting:</a:t>
            </a:r>
          </a:p>
          <a:p>
            <a:pPr lvl="0"/>
            <a:r>
              <a:rPr lang="en-US" dirty="0"/>
              <a:t>Data warehouses serve as a foundation for business intelligence activities.</a:t>
            </a:r>
          </a:p>
          <a:p>
            <a:pPr lvl="0"/>
            <a:r>
              <a:rPr lang="en-US" dirty="0"/>
              <a:t>They support ad hoc querying, reporting, and analysis by providing a consolidated view of data across different business areas.</a:t>
            </a:r>
          </a:p>
          <a:p>
            <a:pPr lvl="0"/>
            <a:r>
              <a:rPr lang="en-US" dirty="0"/>
              <a:t>Data is often pre-aggregated and optimized for query performance to facilitate fast and interactive reporting.</a:t>
            </a:r>
          </a:p>
          <a:p>
            <a:endParaRPr lang="en-US" dirty="0"/>
          </a:p>
        </p:txBody>
      </p:sp>
    </p:spTree>
    <p:extLst>
      <p:ext uri="{BB962C8B-B14F-4D97-AF65-F5344CB8AC3E}">
        <p14:creationId xmlns:p14="http://schemas.microsoft.com/office/powerpoint/2010/main" val="22188457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Hadoop </a:t>
            </a:r>
            <a:r>
              <a:rPr lang="en-US" b="1" dirty="0" smtClean="0"/>
              <a:t>Environment</a:t>
            </a:r>
            <a:endParaRPr lang="en-US" dirty="0"/>
          </a:p>
        </p:txBody>
      </p:sp>
      <p:pic>
        <p:nvPicPr>
          <p:cNvPr id="4" name="Image 9" descr="hadoop architecture"/>
          <p:cNvPicPr>
            <a:picLocks noGrp="1"/>
          </p:cNvPicPr>
          <p:nvPr>
            <p:ph idx="1"/>
          </p:nvPr>
        </p:nvPicPr>
        <p:blipFill>
          <a:blip r:embed="rId2" cstate="print"/>
          <a:stretch>
            <a:fillRect/>
          </a:stretch>
        </p:blipFill>
        <p:spPr>
          <a:xfrm>
            <a:off x="1270171" y="2160588"/>
            <a:ext cx="7411696" cy="3881437"/>
          </a:xfrm>
          <a:prstGeom prst="rect">
            <a:avLst/>
          </a:prstGeom>
        </p:spPr>
      </p:pic>
    </p:spTree>
    <p:extLst>
      <p:ext uri="{BB962C8B-B14F-4D97-AF65-F5344CB8AC3E}">
        <p14:creationId xmlns:p14="http://schemas.microsoft.com/office/powerpoint/2010/main" val="40393286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HADOOP</a:t>
            </a:r>
            <a:endParaRPr lang="en-US" dirty="0"/>
          </a:p>
        </p:txBody>
      </p:sp>
      <p:sp>
        <p:nvSpPr>
          <p:cNvPr id="3" name="Content Placeholder 2"/>
          <p:cNvSpPr>
            <a:spLocks noGrp="1"/>
          </p:cNvSpPr>
          <p:nvPr>
            <p:ph idx="1"/>
          </p:nvPr>
        </p:nvSpPr>
        <p:spPr>
          <a:xfrm>
            <a:off x="677334" y="1210615"/>
            <a:ext cx="8596668" cy="4830748"/>
          </a:xfrm>
        </p:spPr>
        <p:txBody>
          <a:bodyPr>
            <a:normAutofit/>
          </a:bodyPr>
          <a:lstStyle/>
          <a:p>
            <a:r>
              <a:rPr lang="en-US" dirty="0"/>
              <a:t>Hadoop is an open-source framework that enables distributed storage and processing of large datasets across clusters of commodity hardware. It provides a scalable and cost-effective solution for managing Big Data</a:t>
            </a:r>
            <a:r>
              <a:rPr lang="en-US" dirty="0" smtClean="0"/>
              <a:t>.</a:t>
            </a:r>
          </a:p>
          <a:p>
            <a:r>
              <a:rPr lang="en-US" b="1" dirty="0"/>
              <a:t>Distributed Storage:</a:t>
            </a:r>
          </a:p>
          <a:p>
            <a:r>
              <a:rPr lang="en-US" b="1" dirty="0"/>
              <a:t> </a:t>
            </a:r>
            <a:r>
              <a:rPr lang="en-US" dirty="0" smtClean="0"/>
              <a:t>Hadoop </a:t>
            </a:r>
            <a:r>
              <a:rPr lang="en-US" dirty="0"/>
              <a:t>uses the Hadoop Distributed File System (HDFS) to store data across multiple nodes in a cluster.</a:t>
            </a:r>
          </a:p>
          <a:p>
            <a:pPr lvl="0"/>
            <a:r>
              <a:rPr lang="en-US" dirty="0"/>
              <a:t>Data is split into blocks and distributed across the cluster, ensuring high availability and fault tolerance.</a:t>
            </a:r>
          </a:p>
          <a:p>
            <a:r>
              <a:rPr lang="en-US" b="1" dirty="0"/>
              <a:t>Distributed Processing</a:t>
            </a:r>
            <a:r>
              <a:rPr lang="en-US" b="1" dirty="0" smtClean="0"/>
              <a:t>:</a:t>
            </a:r>
            <a:endParaRPr lang="en-US" dirty="0"/>
          </a:p>
          <a:p>
            <a:r>
              <a:rPr lang="en-US" dirty="0"/>
              <a:t>Hadoop leverages the MapReduce framework to process data in parallel across the cluster. MapReduce divides data processing tasks into smaller subtasks and distributes them to different nodes, allowing for efficient parallel processing</a:t>
            </a:r>
            <a:br>
              <a:rPr lang="en-US" dirty="0"/>
            </a:br>
            <a:endParaRPr lang="en-US" dirty="0"/>
          </a:p>
          <a:p>
            <a:endParaRPr lang="en-US" dirty="0"/>
          </a:p>
        </p:txBody>
      </p:sp>
    </p:spTree>
    <p:extLst>
      <p:ext uri="{BB962C8B-B14F-4D97-AF65-F5344CB8AC3E}">
        <p14:creationId xmlns:p14="http://schemas.microsoft.com/office/powerpoint/2010/main" val="33263785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618187"/>
            <a:ext cx="8596668" cy="5423176"/>
          </a:xfrm>
        </p:spPr>
        <p:txBody>
          <a:bodyPr>
            <a:normAutofit fontScale="92500" lnSpcReduction="10000"/>
          </a:bodyPr>
          <a:lstStyle/>
          <a:p>
            <a:pPr>
              <a:lnSpc>
                <a:spcPct val="150000"/>
              </a:lnSpc>
            </a:pPr>
            <a:r>
              <a:rPr lang="en-US" b="1" dirty="0"/>
              <a:t>Scalability:</a:t>
            </a:r>
          </a:p>
          <a:p>
            <a:pPr marL="0" indent="0">
              <a:lnSpc>
                <a:spcPct val="150000"/>
              </a:lnSpc>
              <a:buNone/>
            </a:pPr>
            <a:endParaRPr lang="en-US" dirty="0"/>
          </a:p>
          <a:p>
            <a:pPr lvl="0">
              <a:lnSpc>
                <a:spcPct val="150000"/>
              </a:lnSpc>
            </a:pPr>
            <a:r>
              <a:rPr lang="en-US" dirty="0"/>
              <a:t>Hadoop is designed to scale horizontally by adding more nodes to the cluster. This enables organizations to store and process large volumes of data without relying on expensive and specialized hardware.</a:t>
            </a:r>
          </a:p>
          <a:p>
            <a:pPr marL="0" indent="0">
              <a:lnSpc>
                <a:spcPct val="150000"/>
              </a:lnSpc>
              <a:buNone/>
            </a:pPr>
            <a:endParaRPr lang="en-US" dirty="0"/>
          </a:p>
          <a:p>
            <a:pPr>
              <a:lnSpc>
                <a:spcPct val="150000"/>
              </a:lnSpc>
            </a:pPr>
            <a:r>
              <a:rPr lang="en-US" b="1" dirty="0"/>
              <a:t>Flexibility and Variety:</a:t>
            </a:r>
          </a:p>
          <a:p>
            <a:pPr marL="0" indent="0">
              <a:lnSpc>
                <a:spcPct val="150000"/>
              </a:lnSpc>
              <a:buNone/>
            </a:pPr>
            <a:endParaRPr lang="en-US" dirty="0"/>
          </a:p>
          <a:p>
            <a:pPr lvl="0">
              <a:lnSpc>
                <a:spcPct val="150000"/>
              </a:lnSpc>
            </a:pPr>
            <a:r>
              <a:rPr lang="en-US" dirty="0"/>
              <a:t>Hadoop can handle various types of data, including structured, unstructured, and semi-structured data. It allows organizations to store and process diverse data formats, such as text, log files, images, videos, and more.</a:t>
            </a:r>
          </a:p>
          <a:p>
            <a:pPr marL="0" indent="0">
              <a:lnSpc>
                <a:spcPct val="150000"/>
              </a:lnSpc>
              <a:buNone/>
            </a:pPr>
            <a:r>
              <a:rPr lang="en-US" dirty="0"/>
              <a:t> </a:t>
            </a:r>
          </a:p>
          <a:p>
            <a:pPr>
              <a:lnSpc>
                <a:spcPct val="150000"/>
              </a:lnSpc>
            </a:pPr>
            <a:endParaRPr lang="en-US" dirty="0"/>
          </a:p>
        </p:txBody>
      </p:sp>
    </p:spTree>
    <p:extLst>
      <p:ext uri="{BB962C8B-B14F-4D97-AF65-F5344CB8AC3E}">
        <p14:creationId xmlns:p14="http://schemas.microsoft.com/office/powerpoint/2010/main" val="14352969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79549"/>
            <a:ext cx="8596668" cy="5461813"/>
          </a:xfrm>
        </p:spPr>
        <p:txBody>
          <a:bodyPr>
            <a:normAutofit/>
          </a:bodyPr>
          <a:lstStyle/>
          <a:p>
            <a:r>
              <a:rPr lang="en-US" b="1" dirty="0"/>
              <a:t>Data Processing Frameworks:</a:t>
            </a:r>
          </a:p>
          <a:p>
            <a:pPr marL="0" indent="0">
              <a:buNone/>
            </a:pPr>
            <a:endParaRPr lang="en-US" dirty="0"/>
          </a:p>
          <a:p>
            <a:pPr lvl="0"/>
            <a:r>
              <a:rPr lang="en-US" dirty="0"/>
              <a:t>Hadoop ecosystem includes several data processing frameworks and tools built on top of Hadoop, such as Apache Spark, Apache Hive, and Apache Pig.</a:t>
            </a:r>
          </a:p>
          <a:p>
            <a:pPr lvl="0"/>
            <a:r>
              <a:rPr lang="en-US" dirty="0"/>
              <a:t>These frameworks provide higher-level abstractions and APIs for data manipulation, querying, and analysis.</a:t>
            </a:r>
          </a:p>
          <a:p>
            <a:pPr marL="0" indent="0">
              <a:buNone/>
            </a:pPr>
            <a:endParaRPr lang="en-US" dirty="0"/>
          </a:p>
          <a:p>
            <a:r>
              <a:rPr lang="en-US" b="1" dirty="0"/>
              <a:t>Batch and Real-time Processing:</a:t>
            </a:r>
          </a:p>
          <a:p>
            <a:pPr marL="0" indent="0">
              <a:buNone/>
            </a:pPr>
            <a:endParaRPr lang="en-US" dirty="0"/>
          </a:p>
          <a:p>
            <a:pPr lvl="0"/>
            <a:r>
              <a:rPr lang="en-US" dirty="0"/>
              <a:t>Hadoop supports both batch processing and real-time/streaming processing.</a:t>
            </a:r>
          </a:p>
          <a:p>
            <a:pPr lvl="0"/>
            <a:r>
              <a:rPr lang="en-US" dirty="0"/>
              <a:t>While its MapReduce framework is suitable for batch processing, tools like Apache Spark enable real-time and near-real-time analytics on streaming data.</a:t>
            </a:r>
          </a:p>
          <a:p>
            <a:endParaRPr lang="en-US" dirty="0"/>
          </a:p>
        </p:txBody>
      </p:sp>
    </p:spTree>
    <p:extLst>
      <p:ext uri="{BB962C8B-B14F-4D97-AF65-F5344CB8AC3E}">
        <p14:creationId xmlns:p14="http://schemas.microsoft.com/office/powerpoint/2010/main" val="29109631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Big </a:t>
            </a:r>
            <a:r>
              <a:rPr lang="en-US" b="1" dirty="0"/>
              <a:t>data </a:t>
            </a:r>
            <a:r>
              <a:rPr lang="en-US" b="1" dirty="0" smtClean="0"/>
              <a:t>analytics</a:t>
            </a:r>
            <a:r>
              <a:rPr lang="en-US" b="1" dirty="0"/>
              <a:t/>
            </a:r>
            <a:br>
              <a:rPr lang="en-US" b="1" dirty="0"/>
            </a:br>
            <a:endParaRPr lang="en-US" dirty="0"/>
          </a:p>
        </p:txBody>
      </p:sp>
      <p:sp>
        <p:nvSpPr>
          <p:cNvPr id="3" name="Content Placeholder 2"/>
          <p:cNvSpPr>
            <a:spLocks noGrp="1"/>
          </p:cNvSpPr>
          <p:nvPr>
            <p:ph idx="1"/>
          </p:nvPr>
        </p:nvSpPr>
        <p:spPr>
          <a:xfrm>
            <a:off x="677334" y="1270000"/>
            <a:ext cx="8775760" cy="5233831"/>
          </a:xfrm>
        </p:spPr>
        <p:txBody>
          <a:bodyPr>
            <a:normAutofit/>
          </a:bodyPr>
          <a:lstStyle/>
          <a:p>
            <a:pPr algn="just">
              <a:lnSpc>
                <a:spcPct val="150000"/>
              </a:lnSpc>
            </a:pPr>
            <a:r>
              <a:rPr lang="en-US" sz="1600" dirty="0" smtClean="0"/>
              <a:t>Big </a:t>
            </a:r>
            <a:r>
              <a:rPr lang="en-US" sz="1600" dirty="0"/>
              <a:t>data analytics is the process of extracting meaningful insights from big data, such as hidden patterns, unknown correlation, market trends and customer preferences, that can help organizations make informed business decisions.</a:t>
            </a:r>
          </a:p>
          <a:p>
            <a:pPr algn="just">
              <a:lnSpc>
                <a:spcPct val="150000"/>
              </a:lnSpc>
            </a:pPr>
            <a:r>
              <a:rPr lang="en-US" sz="1600" dirty="0"/>
              <a:t>There are quite a few advantages to incorporating big data analytics into a business or organization. These include:</a:t>
            </a:r>
          </a:p>
          <a:p>
            <a:pPr lvl="1" algn="just">
              <a:lnSpc>
                <a:spcPct val="150000"/>
              </a:lnSpc>
            </a:pPr>
            <a:r>
              <a:rPr lang="en-US" b="1" dirty="0"/>
              <a:t>Cost reduction</a:t>
            </a:r>
            <a:r>
              <a:rPr lang="en-US" dirty="0"/>
              <a:t>: big data can reduce costs in storing all the business data in one place. Tracking analytics also helps companies find ways to work more efficiently to cut costs wherever possible.</a:t>
            </a:r>
          </a:p>
          <a:p>
            <a:pPr lvl="1" algn="just">
              <a:lnSpc>
                <a:spcPct val="150000"/>
              </a:lnSpc>
            </a:pPr>
            <a:r>
              <a:rPr lang="en-US" b="1" dirty="0"/>
              <a:t>Product development</a:t>
            </a:r>
            <a:r>
              <a:rPr lang="en-US" dirty="0"/>
              <a:t>: Developing and marketing new products, services, or brands is much easier when based on data collected from customers’ needs and wants. Big data analytics also helps businesses understand product viability and keep up with trends.</a:t>
            </a:r>
          </a:p>
          <a:p>
            <a:pPr algn="just">
              <a:lnSpc>
                <a:spcPct val="150000"/>
              </a:lnSpc>
            </a:pPr>
            <a:endParaRPr lang="en-US" sz="1600" dirty="0"/>
          </a:p>
        </p:txBody>
      </p:sp>
    </p:spTree>
    <p:extLst>
      <p:ext uri="{BB962C8B-B14F-4D97-AF65-F5344CB8AC3E}">
        <p14:creationId xmlns:p14="http://schemas.microsoft.com/office/powerpoint/2010/main" val="17290774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92429"/>
            <a:ext cx="8596668" cy="5448934"/>
          </a:xfrm>
        </p:spPr>
        <p:txBody>
          <a:bodyPr>
            <a:noAutofit/>
          </a:bodyPr>
          <a:lstStyle/>
          <a:p>
            <a:pPr lvl="1" algn="just">
              <a:lnSpc>
                <a:spcPct val="150000"/>
              </a:lnSpc>
            </a:pPr>
            <a:r>
              <a:rPr lang="en-US" sz="2400" b="1" dirty="0"/>
              <a:t>Strategic business decisions</a:t>
            </a:r>
            <a:r>
              <a:rPr lang="en-US" sz="2400" dirty="0"/>
              <a:t>: The ability to constantly analyze data helps businesses make better and faster decisions, such as cost and supply chain optimization</a:t>
            </a:r>
            <a:r>
              <a:rPr lang="en-US" sz="2400" dirty="0" smtClean="0"/>
              <a:t>.</a:t>
            </a:r>
            <a:endParaRPr lang="en-US" sz="2000" dirty="0"/>
          </a:p>
          <a:p>
            <a:pPr lvl="1" algn="just">
              <a:lnSpc>
                <a:spcPct val="150000"/>
              </a:lnSpc>
            </a:pPr>
            <a:r>
              <a:rPr lang="en-US" sz="2400" b="1" dirty="0" smtClean="0"/>
              <a:t>Customer </a:t>
            </a:r>
            <a:r>
              <a:rPr lang="en-US" sz="2400" b="1" dirty="0"/>
              <a:t>experience</a:t>
            </a:r>
            <a:r>
              <a:rPr lang="en-US" sz="2400" dirty="0"/>
              <a:t>: Data-driven algorithms help marketing efforts (targeted ads, for example) increase customer satisfaction by delivering an enhanced customer experience.</a:t>
            </a:r>
            <a:endParaRPr lang="en-US" sz="2000" dirty="0"/>
          </a:p>
          <a:p>
            <a:pPr lvl="1" algn="just">
              <a:lnSpc>
                <a:spcPct val="150000"/>
              </a:lnSpc>
            </a:pPr>
            <a:r>
              <a:rPr lang="en-US" sz="2400" b="1" dirty="0"/>
              <a:t>Risk management</a:t>
            </a:r>
            <a:r>
              <a:rPr lang="en-US" sz="2400" dirty="0"/>
              <a:t>: Businesses can identify risks by analyzing data patterns and developing solutions for managing those risks.</a:t>
            </a:r>
            <a:endParaRPr lang="en-US" sz="2000" dirty="0"/>
          </a:p>
          <a:p>
            <a:pPr algn="just">
              <a:lnSpc>
                <a:spcPct val="150000"/>
              </a:lnSpc>
            </a:pPr>
            <a:endParaRPr lang="en-US" sz="2800" dirty="0"/>
          </a:p>
        </p:txBody>
      </p:sp>
    </p:spTree>
    <p:extLst>
      <p:ext uri="{BB962C8B-B14F-4D97-AF65-F5344CB8AC3E}">
        <p14:creationId xmlns:p14="http://schemas.microsoft.com/office/powerpoint/2010/main" val="308120494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Classification of Data analytics</a:t>
            </a:r>
            <a:br>
              <a:rPr lang="en-US" b="1" dirty="0"/>
            </a:br>
            <a:endParaRPr lang="en-US" dirty="0"/>
          </a:p>
        </p:txBody>
      </p:sp>
      <p:sp>
        <p:nvSpPr>
          <p:cNvPr id="3" name="Content Placeholder 2"/>
          <p:cNvSpPr>
            <a:spLocks noGrp="1"/>
          </p:cNvSpPr>
          <p:nvPr>
            <p:ph idx="1"/>
          </p:nvPr>
        </p:nvSpPr>
        <p:spPr/>
        <p:txBody>
          <a:bodyPr/>
          <a:lstStyle/>
          <a:p>
            <a:pPr lvl="0"/>
            <a:r>
              <a:rPr lang="en-US" dirty="0"/>
              <a:t>Data analytics can be of four types depending on the type and scope of analysis being conducted on the data set.</a:t>
            </a:r>
            <a:endParaRPr lang="en-US" sz="1600" dirty="0"/>
          </a:p>
          <a:p>
            <a:pPr marL="0" indent="0">
              <a:buNone/>
            </a:pPr>
            <a:r>
              <a:rPr lang="en-US" dirty="0"/>
              <a:t> </a:t>
            </a:r>
          </a:p>
          <a:p>
            <a:pPr marL="457200" lvl="1" indent="0">
              <a:buNone/>
            </a:pPr>
            <a:r>
              <a:rPr lang="en-US" dirty="0"/>
              <a:t>Descriptive analytics</a:t>
            </a:r>
            <a:endParaRPr lang="en-US" sz="1400" dirty="0"/>
          </a:p>
          <a:p>
            <a:pPr marL="0" indent="0">
              <a:buNone/>
            </a:pPr>
            <a:r>
              <a:rPr lang="en-US" dirty="0"/>
              <a:t> </a:t>
            </a:r>
          </a:p>
          <a:p>
            <a:pPr marL="457200" lvl="1" indent="0">
              <a:buNone/>
            </a:pPr>
            <a:r>
              <a:rPr lang="en-US" dirty="0"/>
              <a:t>Diagnostic analytics</a:t>
            </a:r>
            <a:endParaRPr lang="en-US" sz="1400" dirty="0"/>
          </a:p>
          <a:p>
            <a:pPr marL="0" indent="0">
              <a:buNone/>
            </a:pPr>
            <a:r>
              <a:rPr lang="en-US" dirty="0"/>
              <a:t> </a:t>
            </a:r>
          </a:p>
          <a:p>
            <a:pPr marL="457200" lvl="1" indent="0">
              <a:buNone/>
            </a:pPr>
            <a:r>
              <a:rPr lang="en-US" dirty="0"/>
              <a:t>Predictive analytics</a:t>
            </a:r>
            <a:endParaRPr lang="en-US" sz="1400" dirty="0"/>
          </a:p>
          <a:p>
            <a:pPr marL="0" indent="0">
              <a:buNone/>
            </a:pPr>
            <a:r>
              <a:rPr lang="en-US" dirty="0"/>
              <a:t> </a:t>
            </a:r>
          </a:p>
          <a:p>
            <a:pPr marL="457200" lvl="1" indent="0">
              <a:buNone/>
            </a:pPr>
            <a:r>
              <a:rPr lang="en-US" dirty="0"/>
              <a:t>Prescriptive analytics</a:t>
            </a:r>
            <a:endParaRPr lang="en-US" sz="1400" dirty="0"/>
          </a:p>
          <a:p>
            <a:endParaRPr lang="en-US" dirty="0"/>
          </a:p>
        </p:txBody>
      </p:sp>
    </p:spTree>
    <p:extLst>
      <p:ext uri="{BB962C8B-B14F-4D97-AF65-F5344CB8AC3E}">
        <p14:creationId xmlns:p14="http://schemas.microsoft.com/office/powerpoint/2010/main" val="21790598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631065"/>
            <a:ext cx="8596668" cy="5410297"/>
          </a:xfrm>
        </p:spPr>
        <p:txBody>
          <a:bodyPr>
            <a:normAutofit lnSpcReduction="10000"/>
          </a:bodyPr>
          <a:lstStyle/>
          <a:p>
            <a:r>
              <a:rPr lang="en-US" b="1" dirty="0"/>
              <a:t>Descriptive analytics: What happened</a:t>
            </a:r>
          </a:p>
          <a:p>
            <a:pPr lvl="0"/>
            <a:r>
              <a:rPr lang="en-US" dirty="0" smtClean="0"/>
              <a:t>Descriptive </a:t>
            </a:r>
            <a:r>
              <a:rPr lang="en-US" dirty="0"/>
              <a:t>analytics uses historical data from a single internal source to describe what happened.</a:t>
            </a:r>
          </a:p>
          <a:p>
            <a:pPr lvl="0"/>
            <a:r>
              <a:rPr lang="en-US" dirty="0"/>
              <a:t>For example: How many people viewed the website?</a:t>
            </a:r>
          </a:p>
          <a:p>
            <a:pPr lvl="0"/>
            <a:r>
              <a:rPr lang="en-US" dirty="0"/>
              <a:t>Which products had the most defects?</a:t>
            </a:r>
          </a:p>
          <a:p>
            <a:pPr lvl="0"/>
            <a:r>
              <a:rPr lang="en-US" dirty="0"/>
              <a:t>Used by most businesses, descriptive analytics forms the crux of everyday reporting, especially through dashboards</a:t>
            </a:r>
            <a:r>
              <a:rPr lang="en-US" dirty="0" smtClean="0"/>
              <a:t>.</a:t>
            </a:r>
          </a:p>
          <a:p>
            <a:pPr lvl="0"/>
            <a:endParaRPr lang="en-US" dirty="0"/>
          </a:p>
          <a:p>
            <a:r>
              <a:rPr lang="en-US" b="1" dirty="0"/>
              <a:t>Diagnostic analytics: Why did it happen?</a:t>
            </a:r>
          </a:p>
          <a:p>
            <a:pPr marL="0" indent="0">
              <a:buNone/>
            </a:pPr>
            <a:endParaRPr lang="en-US" dirty="0"/>
          </a:p>
          <a:p>
            <a:pPr lvl="0"/>
            <a:r>
              <a:rPr lang="en-US" dirty="0"/>
              <a:t>Diagnostic analytics is a form that dives deep into historical data to identify anomalies, find patterns, identify correlations, and determine causal relationships.</a:t>
            </a:r>
          </a:p>
          <a:p>
            <a:pPr lvl="0"/>
            <a:r>
              <a:rPr lang="en-US" dirty="0"/>
              <a:t>With the help of diagnostic analysis, data analysts can understand why a certain product did not do well in the market, or why customer satisfaction decreased in a certain month.</a:t>
            </a:r>
          </a:p>
          <a:p>
            <a:pPr lvl="0"/>
            <a:endParaRPr lang="en-US" dirty="0"/>
          </a:p>
          <a:p>
            <a:endParaRPr lang="en-US" dirty="0"/>
          </a:p>
        </p:txBody>
      </p:sp>
    </p:spTree>
    <p:extLst>
      <p:ext uri="{BB962C8B-B14F-4D97-AF65-F5344CB8AC3E}">
        <p14:creationId xmlns:p14="http://schemas.microsoft.com/office/powerpoint/2010/main" val="20544291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425003"/>
            <a:ext cx="8596668" cy="6323527"/>
          </a:xfrm>
        </p:spPr>
        <p:txBody>
          <a:bodyPr>
            <a:normAutofit/>
          </a:bodyPr>
          <a:lstStyle/>
          <a:p>
            <a:pPr>
              <a:lnSpc>
                <a:spcPct val="150000"/>
              </a:lnSpc>
            </a:pPr>
            <a:r>
              <a:rPr lang="en-US" b="1" dirty="0"/>
              <a:t>Predictive analytics: What might happen next</a:t>
            </a:r>
            <a:r>
              <a:rPr lang="en-US" b="1" dirty="0" smtClean="0"/>
              <a:t>?</a:t>
            </a:r>
            <a:endParaRPr lang="en-US" dirty="0"/>
          </a:p>
          <a:p>
            <a:pPr lvl="0">
              <a:lnSpc>
                <a:spcPct val="150000"/>
              </a:lnSpc>
            </a:pPr>
            <a:r>
              <a:rPr lang="en-US" dirty="0"/>
              <a:t>This is a more advanced form of analytics that is often used to answer the question ‘what will happen next?’ in a business situation.</a:t>
            </a:r>
          </a:p>
          <a:p>
            <a:pPr lvl="0">
              <a:lnSpc>
                <a:spcPct val="150000"/>
              </a:lnSpc>
            </a:pPr>
            <a:r>
              <a:rPr lang="en-US" dirty="0"/>
              <a:t>As the name suggests, this data analytics type predicts the future outcome of a situation depending on all the available data.</a:t>
            </a:r>
          </a:p>
          <a:p>
            <a:pPr lvl="0">
              <a:lnSpc>
                <a:spcPct val="150000"/>
              </a:lnSpc>
            </a:pPr>
            <a:r>
              <a:rPr lang="en-US" dirty="0"/>
              <a:t>This data will include both market trends and older data about your business performance, By combining these two, this data analytics type can predict how your business will perform during the next season</a:t>
            </a:r>
          </a:p>
          <a:p>
            <a:pPr>
              <a:lnSpc>
                <a:spcPct val="150000"/>
              </a:lnSpc>
            </a:pPr>
            <a:r>
              <a:rPr lang="en-US" b="1" dirty="0"/>
              <a:t>Prescriptive analytics: What do I need to do?</a:t>
            </a:r>
          </a:p>
          <a:p>
            <a:pPr lvl="0">
              <a:lnSpc>
                <a:spcPct val="150000"/>
              </a:lnSpc>
            </a:pPr>
            <a:r>
              <a:rPr lang="en-US" dirty="0" smtClean="0"/>
              <a:t>Prescriptive </a:t>
            </a:r>
            <a:r>
              <a:rPr lang="en-US" dirty="0"/>
              <a:t>analytics is the most complex type of analytics.</a:t>
            </a:r>
          </a:p>
          <a:p>
            <a:pPr lvl="0">
              <a:lnSpc>
                <a:spcPct val="150000"/>
              </a:lnSpc>
            </a:pPr>
            <a:r>
              <a:rPr lang="en-US" dirty="0"/>
              <a:t>It combines internal data, external sources, and machine-learning techniques to provide the most effective recommendations for business decisions.</a:t>
            </a:r>
          </a:p>
          <a:p>
            <a:pPr>
              <a:lnSpc>
                <a:spcPct val="150000"/>
              </a:lnSpc>
            </a:pPr>
            <a:endParaRPr lang="en-US" dirty="0"/>
          </a:p>
        </p:txBody>
      </p:sp>
    </p:spTree>
    <p:extLst>
      <p:ext uri="{BB962C8B-B14F-4D97-AF65-F5344CB8AC3E}">
        <p14:creationId xmlns:p14="http://schemas.microsoft.com/office/powerpoint/2010/main" val="9467748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Image 10"/>
          <p:cNvPicPr/>
          <p:nvPr/>
        </p:nvPicPr>
        <p:blipFill>
          <a:blip r:embed="rId2" cstate="print"/>
          <a:stretch>
            <a:fillRect/>
          </a:stretch>
        </p:blipFill>
        <p:spPr>
          <a:xfrm>
            <a:off x="0" y="0"/>
            <a:ext cx="12286445" cy="6858000"/>
          </a:xfrm>
          <a:prstGeom prst="rect">
            <a:avLst/>
          </a:prstGeom>
        </p:spPr>
      </p:pic>
    </p:spTree>
    <p:extLst>
      <p:ext uri="{BB962C8B-B14F-4D97-AF65-F5344CB8AC3E}">
        <p14:creationId xmlns:p14="http://schemas.microsoft.com/office/powerpoint/2010/main" val="3740633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0"/>
            <a:ext cx="8596668" cy="1320800"/>
          </a:xfrm>
        </p:spPr>
        <p:txBody>
          <a:bodyPr/>
          <a:lstStyle/>
          <a:p>
            <a:r>
              <a:rPr lang="en-US" b="1" dirty="0"/>
              <a:t>Top analytical tools</a:t>
            </a:r>
            <a:br>
              <a:rPr lang="en-US" b="1" dirty="0"/>
            </a:br>
            <a:endParaRPr lang="en-US" dirty="0"/>
          </a:p>
        </p:txBody>
      </p:sp>
      <p:sp>
        <p:nvSpPr>
          <p:cNvPr id="3" name="Content Placeholder 2"/>
          <p:cNvSpPr>
            <a:spLocks noGrp="1"/>
          </p:cNvSpPr>
          <p:nvPr>
            <p:ph idx="1"/>
          </p:nvPr>
        </p:nvSpPr>
        <p:spPr>
          <a:xfrm>
            <a:off x="677334" y="901522"/>
            <a:ext cx="8596668" cy="4598928"/>
          </a:xfrm>
        </p:spPr>
        <p:txBody>
          <a:bodyPr>
            <a:noAutofit/>
          </a:bodyPr>
          <a:lstStyle/>
          <a:p>
            <a:pPr>
              <a:lnSpc>
                <a:spcPct val="170000"/>
              </a:lnSpc>
            </a:pPr>
            <a:r>
              <a:rPr lang="en-US" sz="1600" b="1" dirty="0"/>
              <a:t>Python:</a:t>
            </a:r>
          </a:p>
          <a:p>
            <a:pPr lvl="0">
              <a:lnSpc>
                <a:spcPct val="170000"/>
              </a:lnSpc>
            </a:pPr>
            <a:r>
              <a:rPr lang="en-US" sz="1600" dirty="0" smtClean="0"/>
              <a:t>Python </a:t>
            </a:r>
            <a:r>
              <a:rPr lang="en-US" sz="1600" dirty="0"/>
              <a:t>is a versatile programming language widely used for data analysis and scientific computing.</a:t>
            </a:r>
          </a:p>
          <a:p>
            <a:pPr lvl="0">
              <a:lnSpc>
                <a:spcPct val="170000"/>
              </a:lnSpc>
            </a:pPr>
            <a:r>
              <a:rPr lang="en-US" sz="1600" dirty="0"/>
              <a:t>It offers numerous libraries and frameworks, such as pandas, </a:t>
            </a:r>
            <a:r>
              <a:rPr lang="en-US" sz="1600" dirty="0" err="1"/>
              <a:t>NumPy</a:t>
            </a:r>
            <a:r>
              <a:rPr lang="en-US" sz="1600" dirty="0"/>
              <a:t>, and </a:t>
            </a:r>
            <a:r>
              <a:rPr lang="en-US" sz="1600" dirty="0" err="1"/>
              <a:t>scikit</a:t>
            </a:r>
            <a:r>
              <a:rPr lang="en-US" sz="1600" dirty="0"/>
              <a:t>-learn, which provide powerful data manipulation, analysis, and machine learning capabilities.</a:t>
            </a:r>
          </a:p>
          <a:p>
            <a:pPr>
              <a:lnSpc>
                <a:spcPct val="170000"/>
              </a:lnSpc>
            </a:pPr>
            <a:r>
              <a:rPr lang="en-US" sz="1600" b="1" dirty="0" smtClean="0"/>
              <a:t>R:</a:t>
            </a:r>
          </a:p>
          <a:p>
            <a:pPr>
              <a:lnSpc>
                <a:spcPct val="170000"/>
              </a:lnSpc>
            </a:pPr>
            <a:r>
              <a:rPr lang="en-US" sz="1600" dirty="0" smtClean="0"/>
              <a:t>R is a programming language and environment specifically designed for statistical computing and graphics.</a:t>
            </a:r>
          </a:p>
          <a:p>
            <a:pPr lvl="0">
              <a:lnSpc>
                <a:spcPct val="170000"/>
              </a:lnSpc>
            </a:pPr>
            <a:r>
              <a:rPr lang="en-US" sz="1600" dirty="0" smtClean="0"/>
              <a:t>It </a:t>
            </a:r>
            <a:r>
              <a:rPr lang="en-US" sz="1600" dirty="0"/>
              <a:t>offers a wide range of packages and libraries for data manipulation, analysis, and visualization.</a:t>
            </a:r>
          </a:p>
          <a:p>
            <a:pPr lvl="0">
              <a:lnSpc>
                <a:spcPct val="170000"/>
              </a:lnSpc>
            </a:pPr>
            <a:r>
              <a:rPr lang="en-US" sz="1600" dirty="0"/>
              <a:t>R is popular among statisticians and data scientists for its extensive statistical modeling capabilities</a:t>
            </a:r>
          </a:p>
          <a:p>
            <a:pPr marL="0" indent="0">
              <a:lnSpc>
                <a:spcPct val="170000"/>
              </a:lnSpc>
              <a:buNone/>
            </a:pPr>
            <a:endParaRPr lang="en-US" sz="1600" dirty="0"/>
          </a:p>
          <a:p>
            <a:pPr>
              <a:lnSpc>
                <a:spcPct val="170000"/>
              </a:lnSpc>
            </a:pPr>
            <a:endParaRPr lang="en-US" sz="1600" dirty="0"/>
          </a:p>
        </p:txBody>
      </p:sp>
    </p:spTree>
    <p:extLst>
      <p:ext uri="{BB962C8B-B14F-4D97-AF65-F5344CB8AC3E}">
        <p14:creationId xmlns:p14="http://schemas.microsoft.com/office/powerpoint/2010/main" val="95856640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631065"/>
            <a:ext cx="8596668" cy="5410297"/>
          </a:xfrm>
        </p:spPr>
        <p:txBody>
          <a:bodyPr>
            <a:normAutofit/>
          </a:bodyPr>
          <a:lstStyle/>
          <a:p>
            <a:r>
              <a:rPr lang="en-US" b="1" dirty="0"/>
              <a:t>Apache Spark:</a:t>
            </a:r>
          </a:p>
          <a:p>
            <a:pPr marL="0" indent="0">
              <a:buNone/>
            </a:pPr>
            <a:endParaRPr lang="en-US" dirty="0"/>
          </a:p>
          <a:p>
            <a:pPr lvl="0"/>
            <a:r>
              <a:rPr lang="en-US" dirty="0"/>
              <a:t>Apache Spark is an open-source distributed computing system that provides fast and scalable data processing and analytics capabilities.</a:t>
            </a:r>
          </a:p>
          <a:p>
            <a:pPr lvl="0"/>
            <a:r>
              <a:rPr lang="en-US" dirty="0"/>
              <a:t>It supports various programming languages and offers libraries for distributed data processing, machine learning, and graph analytics.</a:t>
            </a:r>
          </a:p>
          <a:p>
            <a:pPr marL="0" indent="0">
              <a:buNone/>
            </a:pPr>
            <a:endParaRPr lang="en-US" dirty="0"/>
          </a:p>
          <a:p>
            <a:r>
              <a:rPr lang="en-US" b="1" dirty="0"/>
              <a:t>Apache Hadoop: </a:t>
            </a:r>
            <a:r>
              <a:rPr lang="en-US" dirty="0"/>
              <a:t>Apache Hadoop is an open-source framework for distributed processing of large datasets.</a:t>
            </a:r>
          </a:p>
          <a:p>
            <a:pPr lvl="0"/>
            <a:r>
              <a:rPr lang="en-US" dirty="0"/>
              <a:t/>
            </a:r>
            <a:br>
              <a:rPr lang="en-US" dirty="0"/>
            </a:br>
            <a:r>
              <a:rPr lang="en-US" dirty="0"/>
              <a:t>It provides a scalable and fault-tolerant platform for storing, processing, and analyzing big data.</a:t>
            </a:r>
          </a:p>
          <a:p>
            <a:pPr lvl="0"/>
            <a:r>
              <a:rPr lang="en-US" dirty="0"/>
              <a:t>Hadoop includes components such as Hadoop Distributed File System (HDFS) and MapReduce for distributed data processing.</a:t>
            </a:r>
          </a:p>
          <a:p>
            <a:endParaRPr lang="en-US" dirty="0"/>
          </a:p>
        </p:txBody>
      </p:sp>
    </p:spTree>
    <p:extLst>
      <p:ext uri="{BB962C8B-B14F-4D97-AF65-F5344CB8AC3E}">
        <p14:creationId xmlns:p14="http://schemas.microsoft.com/office/powerpoint/2010/main" val="379715071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283335"/>
            <a:ext cx="8596668" cy="5758027"/>
          </a:xfrm>
        </p:spPr>
        <p:txBody>
          <a:bodyPr>
            <a:normAutofit/>
          </a:bodyPr>
          <a:lstStyle/>
          <a:p>
            <a:r>
              <a:rPr lang="en-US" b="1" dirty="0"/>
              <a:t>Cassandra</a:t>
            </a:r>
          </a:p>
          <a:p>
            <a:pPr marL="0" indent="0">
              <a:buNone/>
            </a:pPr>
            <a:endParaRPr lang="en-US" dirty="0"/>
          </a:p>
          <a:p>
            <a:pPr lvl="0"/>
            <a:r>
              <a:rPr lang="en-US" u="sng" dirty="0">
                <a:hlinkClick r:id="rId2"/>
              </a:rPr>
              <a:t>APACHE Cassandra</a:t>
            </a:r>
            <a:r>
              <a:rPr lang="en-US" dirty="0"/>
              <a:t> is an open-source NoSQL distributed database that is used to fetch large amounts of data.</a:t>
            </a:r>
          </a:p>
          <a:p>
            <a:pPr lvl="0"/>
            <a:r>
              <a:rPr lang="en-US" dirty="0"/>
              <a:t>It is capable of delivering thousands of operations every second and can handle petabytes of resources with almost zero downtime.</a:t>
            </a:r>
          </a:p>
          <a:p>
            <a:pPr marL="0" indent="0">
              <a:buNone/>
            </a:pPr>
            <a:endParaRPr lang="en-US" dirty="0"/>
          </a:p>
          <a:p>
            <a:r>
              <a:rPr lang="en-US" b="1" dirty="0"/>
              <a:t>Mongo DB</a:t>
            </a:r>
          </a:p>
          <a:p>
            <a:pPr marL="0" indent="0">
              <a:buNone/>
            </a:pPr>
            <a:endParaRPr lang="en-US" dirty="0"/>
          </a:p>
          <a:p>
            <a:pPr lvl="0"/>
            <a:r>
              <a:rPr lang="en-US" dirty="0"/>
              <a:t>It is a free, open-source platform and a document-oriented (NoSQL) database that is used to store a high volume of data.</a:t>
            </a:r>
          </a:p>
          <a:p>
            <a:pPr lvl="0"/>
            <a:r>
              <a:rPr lang="en-US" dirty="0"/>
              <a:t>It uses collections and documents for storage and its document consists of key-value pairs which are considered a basic unit of </a:t>
            </a:r>
            <a:r>
              <a:rPr lang="en-US" u="sng" dirty="0">
                <a:hlinkClick r:id="rId3"/>
              </a:rPr>
              <a:t>Mongo DB</a:t>
            </a:r>
            <a:r>
              <a:rPr lang="en-US" dirty="0" smtClean="0">
                <a:hlinkClick r:id="rId3"/>
              </a:rPr>
              <a:t>.</a:t>
            </a:r>
            <a:endParaRPr lang="en-US" dirty="0" smtClean="0"/>
          </a:p>
          <a:p>
            <a:r>
              <a:rPr lang="en-US" dirty="0"/>
              <a:t>It is so popular among developers due to its availability for multi-programming languages such as Python, Jscript, and Ruby</a:t>
            </a:r>
          </a:p>
          <a:p>
            <a:pPr lvl="0"/>
            <a:endParaRPr lang="en-US" dirty="0"/>
          </a:p>
          <a:p>
            <a:endParaRPr lang="en-US" dirty="0"/>
          </a:p>
        </p:txBody>
      </p:sp>
    </p:spTree>
    <p:extLst>
      <p:ext uri="{BB962C8B-B14F-4D97-AF65-F5344CB8AC3E}">
        <p14:creationId xmlns:p14="http://schemas.microsoft.com/office/powerpoint/2010/main" val="31752206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80305"/>
            <a:ext cx="8596668" cy="5861058"/>
          </a:xfrm>
        </p:spPr>
        <p:txBody>
          <a:bodyPr>
            <a:normAutofit lnSpcReduction="10000"/>
          </a:bodyPr>
          <a:lstStyle/>
          <a:p>
            <a:r>
              <a:rPr lang="en-US" b="1" dirty="0"/>
              <a:t>Tableau:</a:t>
            </a:r>
          </a:p>
          <a:p>
            <a:pPr marL="0" indent="0">
              <a:buNone/>
            </a:pPr>
            <a:endParaRPr lang="en-US" dirty="0"/>
          </a:p>
          <a:p>
            <a:pPr lvl="0"/>
            <a:r>
              <a:rPr lang="en-US" dirty="0"/>
              <a:t>Tableau is a powerful and user-friendly data visualization and business intelligence tool.</a:t>
            </a:r>
          </a:p>
          <a:p>
            <a:pPr lvl="0"/>
            <a:r>
              <a:rPr lang="en-US" dirty="0"/>
              <a:t>It allows users to create interactive dashboards, reports, and visualizations from various data sources. Tableau supports advanced analytics, data blending, and provides intuitive drag-and-drop functionality.</a:t>
            </a:r>
          </a:p>
          <a:p>
            <a:pPr marL="0" indent="0">
              <a:buNone/>
            </a:pPr>
            <a:endParaRPr lang="en-US" dirty="0"/>
          </a:p>
          <a:p>
            <a:r>
              <a:rPr lang="en-US" b="1" dirty="0"/>
              <a:t>Microsoft Power BI:</a:t>
            </a:r>
          </a:p>
          <a:p>
            <a:pPr marL="0" indent="0">
              <a:buNone/>
            </a:pPr>
            <a:endParaRPr lang="en-US" dirty="0"/>
          </a:p>
          <a:p>
            <a:pPr lvl="0"/>
            <a:r>
              <a:rPr lang="en-US" dirty="0"/>
              <a:t>Microsoft Power BI is a business intelligence tool that helps users analyze data and share insights.</a:t>
            </a:r>
          </a:p>
          <a:p>
            <a:pPr lvl="0"/>
            <a:r>
              <a:rPr lang="en-US" dirty="0"/>
              <a:t>It provides interactive dashboards, data visualization, and reporting capabilities.</a:t>
            </a:r>
          </a:p>
          <a:p>
            <a:pPr lvl="0"/>
            <a:r>
              <a:rPr lang="en-US" dirty="0"/>
              <a:t>Power BI integrates with various data sources, offers AI-powered features, and supports collaboration and data sharing</a:t>
            </a:r>
            <a:r>
              <a:rPr lang="en-US" dirty="0" smtClean="0"/>
              <a:t>.</a:t>
            </a:r>
            <a:r>
              <a:rPr lang="en-US" dirty="0"/>
              <a:t/>
            </a:r>
            <a:br>
              <a:rPr lang="en-US" dirty="0"/>
            </a:br>
            <a:endParaRPr lang="en-US" dirty="0"/>
          </a:p>
        </p:txBody>
      </p:sp>
    </p:spTree>
    <p:extLst>
      <p:ext uri="{BB962C8B-B14F-4D97-AF65-F5344CB8AC3E}">
        <p14:creationId xmlns:p14="http://schemas.microsoft.com/office/powerpoint/2010/main" val="385216564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79549"/>
            <a:ext cx="8596668" cy="5461813"/>
          </a:xfrm>
        </p:spPr>
        <p:txBody>
          <a:bodyPr>
            <a:normAutofit/>
          </a:bodyPr>
          <a:lstStyle/>
          <a:p>
            <a:r>
              <a:rPr lang="en-US" b="1" dirty="0"/>
              <a:t>SAS:</a:t>
            </a:r>
          </a:p>
          <a:p>
            <a:pPr lvl="0"/>
            <a:r>
              <a:rPr lang="en-US" dirty="0" smtClean="0"/>
              <a:t>SAS </a:t>
            </a:r>
            <a:r>
              <a:rPr lang="en-US" dirty="0"/>
              <a:t>(Statistical Analysis System) is a comprehensive suite of analytics tools widely used in industries such as finance, healthcare, and government.</a:t>
            </a:r>
          </a:p>
          <a:p>
            <a:pPr lvl="0"/>
            <a:r>
              <a:rPr lang="en-US" dirty="0"/>
              <a:t>It provides a wide range of functionalities for data management, advanced analytics, and reporting.</a:t>
            </a:r>
          </a:p>
          <a:p>
            <a:r>
              <a:rPr lang="en-US" b="1" dirty="0" err="1" smtClean="0"/>
              <a:t>QlikView</a:t>
            </a:r>
            <a:r>
              <a:rPr lang="en-US" b="1" dirty="0" smtClean="0"/>
              <a:t>/</a:t>
            </a:r>
            <a:r>
              <a:rPr lang="en-US" b="1" dirty="0" err="1" smtClean="0"/>
              <a:t>Qlik</a:t>
            </a:r>
            <a:r>
              <a:rPr lang="en-US" b="1" dirty="0" smtClean="0"/>
              <a:t> </a:t>
            </a:r>
            <a:r>
              <a:rPr lang="en-US" b="1" dirty="0"/>
              <a:t>Sense:</a:t>
            </a:r>
          </a:p>
          <a:p>
            <a:pPr lvl="0"/>
            <a:r>
              <a:rPr lang="en-US" dirty="0" err="1" smtClean="0"/>
              <a:t>QlikView</a:t>
            </a:r>
            <a:r>
              <a:rPr lang="en-US" dirty="0" smtClean="0"/>
              <a:t> </a:t>
            </a:r>
            <a:r>
              <a:rPr lang="en-US" dirty="0"/>
              <a:t>and </a:t>
            </a:r>
            <a:r>
              <a:rPr lang="en-US" dirty="0" err="1"/>
              <a:t>Qlik</a:t>
            </a:r>
            <a:r>
              <a:rPr lang="en-US" dirty="0"/>
              <a:t> Sense are data visualization and business intelligence tools that enable users to explore and analyze data visually.</a:t>
            </a:r>
          </a:p>
          <a:p>
            <a:pPr lvl="0"/>
            <a:r>
              <a:rPr lang="en-US" dirty="0"/>
              <a:t>They offer drag-and-drop functionality, interactive dashboards, and powerful data discovery capabilities.</a:t>
            </a:r>
          </a:p>
          <a:p>
            <a:r>
              <a:rPr lang="en-US" b="1"/>
              <a:t>MATLAB</a:t>
            </a:r>
            <a:r>
              <a:rPr lang="en-US" b="1" smtClean="0"/>
              <a:t>:</a:t>
            </a:r>
            <a:endParaRPr lang="en-US" dirty="0"/>
          </a:p>
          <a:p>
            <a:pPr lvl="0"/>
            <a:r>
              <a:rPr lang="en-US" dirty="0"/>
              <a:t>MATLAB is a programming and numerical computing environment widely used in academia and industry.</a:t>
            </a:r>
          </a:p>
          <a:p>
            <a:pPr lvl="0"/>
            <a:r>
              <a:rPr lang="en-US" dirty="0"/>
              <a:t>It offers comprehensive tools for data analysis, modeling, and simulation, along with built-in algorithms and functions for various analytical tasks.</a:t>
            </a:r>
          </a:p>
          <a:p>
            <a:endParaRPr lang="en-US" dirty="0"/>
          </a:p>
        </p:txBody>
      </p:sp>
    </p:spTree>
    <p:extLst>
      <p:ext uri="{BB962C8B-B14F-4D97-AF65-F5344CB8AC3E}">
        <p14:creationId xmlns:p14="http://schemas.microsoft.com/office/powerpoint/2010/main" val="422996685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874</TotalTime>
  <Words>5506</Words>
  <Application>Microsoft Office PowerPoint</Application>
  <PresentationFormat>Widescreen</PresentationFormat>
  <Paragraphs>868</Paragraphs>
  <Slides>91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91</vt:i4>
      </vt:variant>
    </vt:vector>
  </HeadingPairs>
  <TitlesOfParts>
    <vt:vector size="98" baseType="lpstr">
      <vt:lpstr>Arial</vt:lpstr>
      <vt:lpstr>Calibri</vt:lpstr>
      <vt:lpstr>Symbol</vt:lpstr>
      <vt:lpstr>Times New Roman</vt:lpstr>
      <vt:lpstr>Trebuchet MS</vt:lpstr>
      <vt:lpstr>Wingdings 3</vt:lpstr>
      <vt:lpstr>Facet</vt:lpstr>
      <vt:lpstr>22CS702 DATA ANALYTICS  (LAB INTEGRATED)</vt:lpstr>
      <vt:lpstr>SYLLABUS</vt:lpstr>
      <vt:lpstr>PowerPoint Presentation</vt:lpstr>
      <vt:lpstr>APTITUDE – QUESTIONS 1</vt:lpstr>
      <vt:lpstr>APTITUDE – QUESTIONS 1</vt:lpstr>
      <vt:lpstr>APTITUDE QUESTION -2 </vt:lpstr>
      <vt:lpstr>APTITUDE QUESTION -2 </vt:lpstr>
      <vt:lpstr>APTITUDE QUESTION 3</vt:lpstr>
      <vt:lpstr>PowerPoint Presentation</vt:lpstr>
      <vt:lpstr>EVOLUTION OF BIG DATA</vt:lpstr>
      <vt:lpstr>Stage 1: Traditional Data Era (1960s–1980s) </vt:lpstr>
      <vt:lpstr>PowerPoint Presentation</vt:lpstr>
      <vt:lpstr>Stage 2: Relational Database Era (1980–2000)</vt:lpstr>
      <vt:lpstr>PowerPoint Presentation</vt:lpstr>
      <vt:lpstr>Stage 3: Internet Revolution (2000–2005)</vt:lpstr>
      <vt:lpstr>PowerPoint Presentation</vt:lpstr>
      <vt:lpstr>PowerPoint Presentation</vt:lpstr>
      <vt:lpstr>PowerPoint Presentation</vt:lpstr>
      <vt:lpstr>PowerPoint Presentation</vt:lpstr>
      <vt:lpstr>PowerPoint Presentation</vt:lpstr>
      <vt:lpstr>Stage 6: Smartphone Revolution </vt:lpstr>
      <vt:lpstr>PowerPoint Presentation</vt:lpstr>
      <vt:lpstr>Stage 7: IoT (Internet of Things)</vt:lpstr>
      <vt:lpstr>PowerPoint Presentation</vt:lpstr>
      <vt:lpstr>PowerPoint Presentation</vt:lpstr>
      <vt:lpstr>PowerPoint Presentation</vt:lpstr>
      <vt:lpstr>BIG DATA EVOLUTION -SUMMARY</vt:lpstr>
      <vt:lpstr>WHAT IS BIG DATA?</vt:lpstr>
      <vt:lpstr>Types of Data in Big Data</vt:lpstr>
      <vt:lpstr>PowerPoint Presentation</vt:lpstr>
      <vt:lpstr>PowerPoint Presentation</vt:lpstr>
      <vt:lpstr>CHARACTERISTICS OF BIG DATA – 5Vs</vt:lpstr>
      <vt:lpstr>PowerPoint Presentation</vt:lpstr>
      <vt:lpstr>CHALLENGES WITH BIG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Aptitude Question -4</vt:lpstr>
      <vt:lpstr>ANSWER</vt:lpstr>
      <vt:lpstr>APTITUDE QUESTION</vt:lpstr>
      <vt:lpstr>PowerPoint Presentation</vt:lpstr>
      <vt:lpstr>APTITUDE QUESTONS ON PROPORTION</vt:lpstr>
      <vt:lpstr>PowerPoint Presentation</vt:lpstr>
      <vt:lpstr>TRADITIONAL BUSINESS INTELLIGENCE</vt:lpstr>
      <vt:lpstr>PowerPoint Presentation</vt:lpstr>
      <vt:lpstr>Characteristics of Traditional BI</vt:lpstr>
      <vt:lpstr>PowerPoint Presentation</vt:lpstr>
      <vt:lpstr>PowerPoint Presentation</vt:lpstr>
      <vt:lpstr>PowerPoint Presentation</vt:lpstr>
      <vt:lpstr>PowerPoint Presentation</vt:lpstr>
      <vt:lpstr>Limitations of Traditional BI</vt:lpstr>
      <vt:lpstr>PowerPoint Presentation</vt:lpstr>
      <vt:lpstr>Big Data Analytics </vt:lpstr>
      <vt:lpstr>PowerPoint Presentation</vt:lpstr>
      <vt:lpstr>Characteristics of Big Data </vt:lpstr>
      <vt:lpstr>PowerPoint Presentation</vt:lpstr>
      <vt:lpstr>PowerPoint Presentation</vt:lpstr>
      <vt:lpstr>PowerPoint Presentation</vt:lpstr>
      <vt:lpstr>PowerPoint Presentation</vt:lpstr>
      <vt:lpstr>PowerPoint Presentation</vt:lpstr>
      <vt:lpstr>PowerPoint Presentation</vt:lpstr>
      <vt:lpstr>Coexistence of Both Systems</vt:lpstr>
      <vt:lpstr>Data Warehouse and Hadoop Environment </vt:lpstr>
      <vt:lpstr>PowerPoint Presentation</vt:lpstr>
      <vt:lpstr>Key Aspects Of A Data Warehouse: </vt:lpstr>
      <vt:lpstr>PowerPoint Presentation</vt:lpstr>
      <vt:lpstr>PowerPoint Presentation</vt:lpstr>
      <vt:lpstr>Hadoop Environment</vt:lpstr>
      <vt:lpstr>HADOOP</vt:lpstr>
      <vt:lpstr>PowerPoint Presentation</vt:lpstr>
      <vt:lpstr>PowerPoint Presentation</vt:lpstr>
      <vt:lpstr>Big data analytics </vt:lpstr>
      <vt:lpstr>PowerPoint Presentation</vt:lpstr>
      <vt:lpstr>Classification of Data analytics </vt:lpstr>
      <vt:lpstr>PowerPoint Presentation</vt:lpstr>
      <vt:lpstr>PowerPoint Presentation</vt:lpstr>
      <vt:lpstr>PowerPoint Presentation</vt:lpstr>
      <vt:lpstr>Top analytical tools </vt:lpstr>
      <vt:lpstr>PowerPoint Presentation</vt:lpstr>
      <vt:lpstr>PowerPoint Presentation</vt:lpstr>
      <vt:lpstr>PowerPoint Presentation</vt:lpstr>
      <vt:lpstr>PowerPoint Presentation</vt:lpstr>
    </vt:vector>
  </TitlesOfParts>
  <Company>by adguard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22CS702 DATA ANALYTICS  (LAB INTEGRATED)</dc:title>
  <dc:creator>THISPC</dc:creator>
  <cp:lastModifiedBy>THISPC</cp:lastModifiedBy>
  <cp:revision>45</cp:revision>
  <dcterms:created xsi:type="dcterms:W3CDTF">2026-05-07T05:18:57Z</dcterms:created>
  <dcterms:modified xsi:type="dcterms:W3CDTF">2026-07-10T18:41:20Z</dcterms:modified>
</cp:coreProperties>
</file>