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6" r:id="rId1"/>
  </p:sldMasterIdLst>
  <p:notesMasterIdLst>
    <p:notesMasterId r:id="rId146"/>
  </p:notesMasterIdLst>
  <p:sldIdLst>
    <p:sldId id="256" r:id="rId2"/>
    <p:sldId id="419" r:id="rId3"/>
    <p:sldId id="585" r:id="rId4"/>
    <p:sldId id="426" r:id="rId5"/>
    <p:sldId id="586" r:id="rId6"/>
    <p:sldId id="587" r:id="rId7"/>
    <p:sldId id="420" r:id="rId8"/>
    <p:sldId id="421" r:id="rId9"/>
    <p:sldId id="422" r:id="rId10"/>
    <p:sldId id="423" r:id="rId11"/>
    <p:sldId id="424" r:id="rId12"/>
    <p:sldId id="438" r:id="rId13"/>
    <p:sldId id="517" r:id="rId14"/>
    <p:sldId id="518" r:id="rId15"/>
    <p:sldId id="519" r:id="rId16"/>
    <p:sldId id="559" r:id="rId17"/>
    <p:sldId id="560" r:id="rId18"/>
    <p:sldId id="561" r:id="rId19"/>
    <p:sldId id="562" r:id="rId20"/>
    <p:sldId id="563" r:id="rId21"/>
    <p:sldId id="564" r:id="rId22"/>
    <p:sldId id="565" r:id="rId23"/>
    <p:sldId id="566" r:id="rId24"/>
    <p:sldId id="567" r:id="rId25"/>
    <p:sldId id="477" r:id="rId26"/>
    <p:sldId id="461" r:id="rId27"/>
    <p:sldId id="462" r:id="rId28"/>
    <p:sldId id="464" r:id="rId29"/>
    <p:sldId id="463" r:id="rId30"/>
    <p:sldId id="428" r:id="rId31"/>
    <p:sldId id="439" r:id="rId32"/>
    <p:sldId id="429" r:id="rId33"/>
    <p:sldId id="480" r:id="rId34"/>
    <p:sldId id="430" r:id="rId35"/>
    <p:sldId id="481" r:id="rId36"/>
    <p:sldId id="482" r:id="rId37"/>
    <p:sldId id="431" r:id="rId38"/>
    <p:sldId id="432" r:id="rId39"/>
    <p:sldId id="483" r:id="rId40"/>
    <p:sldId id="484" r:id="rId41"/>
    <p:sldId id="485" r:id="rId42"/>
    <p:sldId id="588" r:id="rId43"/>
    <p:sldId id="495" r:id="rId44"/>
    <p:sldId id="494" r:id="rId45"/>
    <p:sldId id="496" r:id="rId46"/>
    <p:sldId id="497" r:id="rId47"/>
    <p:sldId id="498" r:id="rId48"/>
    <p:sldId id="486" r:id="rId49"/>
    <p:sldId id="499" r:id="rId50"/>
    <p:sldId id="487" r:id="rId51"/>
    <p:sldId id="500" r:id="rId52"/>
    <p:sldId id="501" r:id="rId53"/>
    <p:sldId id="491" r:id="rId54"/>
    <p:sldId id="502" r:id="rId55"/>
    <p:sldId id="503" r:id="rId56"/>
    <p:sldId id="488" r:id="rId57"/>
    <p:sldId id="504" r:id="rId58"/>
    <p:sldId id="505" r:id="rId59"/>
    <p:sldId id="490" r:id="rId60"/>
    <p:sldId id="507" r:id="rId61"/>
    <p:sldId id="508" r:id="rId62"/>
    <p:sldId id="492" r:id="rId63"/>
    <p:sldId id="510" r:id="rId64"/>
    <p:sldId id="511" r:id="rId65"/>
    <p:sldId id="493" r:id="rId66"/>
    <p:sldId id="513" r:id="rId67"/>
    <p:sldId id="514" r:id="rId68"/>
    <p:sldId id="383" r:id="rId69"/>
    <p:sldId id="388" r:id="rId70"/>
    <p:sldId id="389" r:id="rId71"/>
    <p:sldId id="384" r:id="rId72"/>
    <p:sldId id="385" r:id="rId73"/>
    <p:sldId id="386" r:id="rId74"/>
    <p:sldId id="387" r:id="rId75"/>
    <p:sldId id="259" r:id="rId76"/>
    <p:sldId id="391" r:id="rId77"/>
    <p:sldId id="524" r:id="rId78"/>
    <p:sldId id="525" r:id="rId79"/>
    <p:sldId id="526" r:id="rId80"/>
    <p:sldId id="527" r:id="rId81"/>
    <p:sldId id="528" r:id="rId82"/>
    <p:sldId id="529" r:id="rId83"/>
    <p:sldId id="392" r:id="rId84"/>
    <p:sldId id="393" r:id="rId85"/>
    <p:sldId id="398" r:id="rId86"/>
    <p:sldId id="394" r:id="rId87"/>
    <p:sldId id="533" r:id="rId88"/>
    <p:sldId id="534" r:id="rId89"/>
    <p:sldId id="475" r:id="rId90"/>
    <p:sldId id="476" r:id="rId91"/>
    <p:sldId id="403" r:id="rId92"/>
    <p:sldId id="535" r:id="rId93"/>
    <p:sldId id="465" r:id="rId94"/>
    <p:sldId id="469" r:id="rId95"/>
    <p:sldId id="473" r:id="rId96"/>
    <p:sldId id="466" r:id="rId97"/>
    <p:sldId id="474" r:id="rId98"/>
    <p:sldId id="467" r:id="rId99"/>
    <p:sldId id="472" r:id="rId100"/>
    <p:sldId id="468" r:id="rId101"/>
    <p:sldId id="471" r:id="rId102"/>
    <p:sldId id="571" r:id="rId103"/>
    <p:sldId id="575" r:id="rId104"/>
    <p:sldId id="572" r:id="rId105"/>
    <p:sldId id="573" r:id="rId106"/>
    <p:sldId id="574" r:id="rId107"/>
    <p:sldId id="576" r:id="rId108"/>
    <p:sldId id="579" r:id="rId109"/>
    <p:sldId id="582" r:id="rId110"/>
    <p:sldId id="580" r:id="rId111"/>
    <p:sldId id="583" r:id="rId112"/>
    <p:sldId id="581" r:id="rId113"/>
    <p:sldId id="577" r:id="rId114"/>
    <p:sldId id="578" r:id="rId115"/>
    <p:sldId id="520" r:id="rId116"/>
    <p:sldId id="536" r:id="rId117"/>
    <p:sldId id="538" r:id="rId118"/>
    <p:sldId id="539" r:id="rId119"/>
    <p:sldId id="521" r:id="rId120"/>
    <p:sldId id="545" r:id="rId121"/>
    <p:sldId id="546" r:id="rId122"/>
    <p:sldId id="547" r:id="rId123"/>
    <p:sldId id="549" r:id="rId124"/>
    <p:sldId id="544" r:id="rId125"/>
    <p:sldId id="522" r:id="rId126"/>
    <p:sldId id="540" r:id="rId127"/>
    <p:sldId id="541" r:id="rId128"/>
    <p:sldId id="542" r:id="rId129"/>
    <p:sldId id="543" r:id="rId130"/>
    <p:sldId id="523" r:id="rId131"/>
    <p:sldId id="550" r:id="rId132"/>
    <p:sldId id="551" r:id="rId133"/>
    <p:sldId id="552" r:id="rId134"/>
    <p:sldId id="553" r:id="rId135"/>
    <p:sldId id="554" r:id="rId136"/>
    <p:sldId id="555" r:id="rId137"/>
    <p:sldId id="568" r:id="rId138"/>
    <p:sldId id="556" r:id="rId139"/>
    <p:sldId id="569" r:id="rId140"/>
    <p:sldId id="557" r:id="rId141"/>
    <p:sldId id="570" r:id="rId142"/>
    <p:sldId id="558" r:id="rId143"/>
    <p:sldId id="584" r:id="rId144"/>
    <p:sldId id="376" r:id="rId145"/>
  </p:sldIdLst>
  <p:sldSz cx="9144000" cy="6858000" type="screen4x3"/>
  <p:notesSz cx="9945688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heme" Target="theme/theme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979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33588" y="0"/>
            <a:ext cx="430979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2191A-46F2-4FF8-A7E3-8CFE9666AB61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57550" y="514350"/>
            <a:ext cx="3430588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4569" y="3257550"/>
            <a:ext cx="795655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0979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33588" y="6513910"/>
            <a:ext cx="430979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A93FB-E771-4AAA-99D5-0D6664061FF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06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20A9A-A96F-451C-333E-D2B2F3090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B6EEE-45C4-3EDD-0CFE-9A21060E7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08484-3052-602A-10AC-2663845EB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D38F2-AA21-0C0D-2860-435A3C9D5A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18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06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15085-5EB5-25E3-1D8A-BA9241079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2228B-7D16-E7C4-D4D0-DB87B4EC3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B9128-360D-C87A-178F-94E637711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D3B5D-FFCB-F87E-575F-0C11AAD92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2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A107-10A5-127E-0718-77E2FCE6D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75224-0430-E4F9-7B03-417CB8DA7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5BBD4-83F9-32ED-C46A-A6152D48D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3AB08-BD08-6269-4310-D40DE7CF93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57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3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96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77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5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769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06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62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90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84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E3A34-8DAE-2009-A681-D66A0694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B9730-5691-DC51-8D62-566B97E10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A4BE5-FF8D-7508-C8F7-738BF07D7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46BD3-7531-0CF8-9BA0-217C48069D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31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5B054-D6DE-3498-AC61-3C8643A19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57AFC-9A5A-73DE-4F78-5A2C06D35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E90EB-BCC7-A744-C1EA-60D64E806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A61B2-A166-BF08-7EC2-FCA667EB6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12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2FC58-F77B-331B-3F1B-6C63E57AE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06080-00D8-0B57-9645-BB6190A29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FE978-66EC-D1FE-3F30-08C2F0976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EEF3B-857C-FB2C-ED3E-554A0AC524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51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54057-29D3-C3A8-9319-110039EC7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F421D-97E4-D575-CF44-491915896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7BEB8-8DAB-1CFF-1F0B-C9F5FAFDA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F2615-8123-6ECD-1604-A38BD41D5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083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55EF9-C392-55A6-B2B6-0713652F1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454CF-8E55-9542-0AD4-9966E5BAF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7222B-CC22-7D79-B1E7-D8FBFCF9F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C9BAE-0A98-CC19-7C4C-F8399CA21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074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FD142-F4D5-13D1-24F8-0AA2A39C6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7E266-1D86-ED70-715F-FD72EC512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A3972-3ED5-4D55-73C0-57A9D8E35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CFFBE-8556-1F8B-9BDE-A12AA4D32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129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EA81-BD5F-8D40-8D76-0011A828A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AC350-7564-7A38-139B-0A3A008A0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E8B02-29D5-742C-6EE5-F96646DD7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4290A-CF24-7FBD-F972-949471AF4D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3082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7AE29-A595-DE49-AAC4-C5AA7EE1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57B8D-5F63-284F-6783-ABC5750BD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3EFAE-9D7E-9C1A-F041-3CCA6BFDD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42D8D-23F6-0F84-F88D-3848F24DB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484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D44E1-C13A-AE08-CE15-52250FFB4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232C6-6B4F-5823-FA94-948A86627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15586-4612-2BC6-6C54-11262B774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0EB9A-5CC6-3911-1267-C84D2DAD93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709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402B9-04F0-F512-979E-43CEC173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718D6-C791-8AB3-3787-4191E6BF0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55342-E190-B610-1E84-565010CBA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9CA28-3636-B930-3852-A95CCFD63E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96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973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973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973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973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679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566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566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F0442-C4BF-C6F6-E0DC-E41337ECD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2B71B0-E7F0-C2AF-8C93-729FE14CF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B1FB6A-C29F-F1AD-476D-DEC638BD2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26F33-D15C-92ED-EEA5-A34A52ABD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187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790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8C056-7B8B-7D55-E1F4-D35C7DDF5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1A84B-AF38-AADC-1109-DEC189C96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A115A-79EE-A6A6-02CA-D05135CF5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9A847-0F78-10A6-9A98-4C4473103D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003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B112-D055-3F88-FF63-245997107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969D6-C7D1-0ED1-9FB1-89C87A5D2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5F658-802A-662A-11AD-06CAE5CB1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98C41-728B-8ABC-B712-5BE4B670BC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11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936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399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66B43-3DC6-1374-29E6-BEAB624AF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FB5AA-4B70-E263-22B4-C6F744B46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80E23-A894-4709-B403-90E2D9B4B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86D71-7AFE-8A4D-00DA-642740F7D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146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F858D-F3D6-B806-0C5B-955AA9C66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131DD-4ED9-A7CB-9BA3-8036B5FF8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336A4-614D-14A7-BDD7-328EC4910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3C194-7638-6CB0-1556-F414F6C2C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4592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D8C18-5C81-7E30-7E6A-36824BDA5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8765A-E6D5-E283-0753-677586A4E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10CF0-9816-E888-963E-E365D118C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65213-8BC7-ABB3-B56F-924252E3F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772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8B595-5B47-D1EE-9F51-75A2287C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257FE-F7B3-03EB-32AF-4C79EF388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838762-CCD3-651B-4E2F-62A8D590E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5D890-2028-933E-D625-1608EF19EB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14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02359-9588-5BBB-94C4-5686693E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30309-7DE8-8DE2-27EB-D05A62E73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0C49A-0D14-A46F-0FFD-D482B9259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52AE0-CE73-7E95-2799-E5C27CC28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398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5C5C7-C82A-966A-C708-A74084A5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E8478-1452-0C04-A55B-B365185D9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F131B-5349-ECCC-7222-EDA37832F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EB2C8-2C7F-22B6-D49E-FAEFC0A466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219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78628-3417-B0D1-6AEF-EF7389E1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ACEDB-F911-49A9-E2D9-D38299DD7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4D6F5-2CA3-A398-130A-E648AA92C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94379-5FAE-24D2-6FD7-726BBB7D6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7804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B1CB5-06F4-F2E9-93A5-25A8ACB6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0DE6F-35FA-3F4C-4132-291BCD38F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F9F6E-C5BF-A0C5-7123-715B143ED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AFA46-01FE-241F-6E7A-FC4F21955A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151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915AF-85B9-E644-92A0-26309F05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8F8C7-164F-ABE4-86E1-EE86C2A17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D5E53-0D2A-81AD-E6C4-410B50F69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E5633-4CE1-419C-AA53-F59AE33D8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0726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CA637-F5CE-D90D-FC41-A47BC9F3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4C7C2-DFF1-3E06-56AC-866D34D62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D6244-3841-A5F6-7367-05D53B1F4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FFE2E-468B-590E-1174-DE6A4E173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118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CA637-F5CE-D90D-FC41-A47BC9F3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4C7C2-DFF1-3E06-56AC-866D34D62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D6244-3841-A5F6-7367-05D53B1F4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FFE2E-468B-590E-1174-DE6A4E173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121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027D4-0832-0026-B238-419154696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87345-AE46-06B3-0FD3-F7B87F5FC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74327-FF1F-355D-5AE4-568F82D25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8CA54-A57F-CF58-5957-C2A299A35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1533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027D4-0832-0026-B238-419154696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87345-AE46-06B3-0FD3-F7B87F5FC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74327-FF1F-355D-5AE4-568F82D25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8CA54-A57F-CF58-5957-C2A299A35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762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027D4-0832-0026-B238-419154696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87345-AE46-06B3-0FD3-F7B87F5FC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74327-FF1F-355D-5AE4-568F82D25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8CA54-A57F-CF58-5957-C2A299A35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15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BBB77-EBDE-E8ED-1774-667316988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96905-F4CB-64AA-07C7-2D0AB9BE8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41087-C892-9421-F603-566DE965B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2A59F-5984-B271-0E24-0949D8BF16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9146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BBB77-EBDE-E8ED-1774-667316988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96905-F4CB-64AA-07C7-2D0AB9BE8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41087-C892-9421-F603-566DE965B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2A59F-5984-B271-0E24-0949D8BF16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65701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BBB77-EBDE-E8ED-1774-667316988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96905-F4CB-64AA-07C7-2D0AB9BE8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541087-C892-9421-F603-566DE965B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2A59F-5984-B271-0E24-0949D8BF16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580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6BC80-0A32-B06F-F95C-60A59CDB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D581B-ADCA-E83F-FCF1-7ECF50910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826DA-FB07-8C26-2120-4A6A81C14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9C38C-C65D-58BC-2BFA-1F872ECBC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0743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6BC80-0A32-B06F-F95C-60A59CDB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D581B-ADCA-E83F-FCF1-7ECF50910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826DA-FB07-8C26-2120-4A6A81C14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9C38C-C65D-58BC-2BFA-1F872ECBC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5403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6BC80-0A32-B06F-F95C-60A59CDB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D581B-ADCA-E83F-FCF1-7ECF50910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826DA-FB07-8C26-2120-4A6A81C14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9C38C-C65D-58BC-2BFA-1F872ECBC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8215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010B9-C2A7-4479-9F85-6D7622AD2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DB1A2-BC48-CF59-EDC5-06CAB5A08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49B12-8BB6-0A9B-18C3-EFDDB8AAB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E3FDA-4899-1ECB-08B4-AA3F4F42F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580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010B9-C2A7-4479-9F85-6D7622AD2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DB1A2-BC48-CF59-EDC5-06CAB5A08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49B12-8BB6-0A9B-18C3-EFDDB8AAB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E3FDA-4899-1ECB-08B4-AA3F4F42F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0795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010B9-C2A7-4479-9F85-6D7622AD2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DB1A2-BC48-CF59-EDC5-06CAB5A08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49B12-8BB6-0A9B-18C3-EFDDB8AAB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E3FDA-4899-1ECB-08B4-AA3F4F42F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109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1A8F1-DC78-8A80-94CA-899338A79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11801-3B43-D0ED-155D-645EB9EAC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2564B-0A03-EC89-9796-90BEED6A9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671F7-3134-5912-C89E-9BC6E89E0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6424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1A8F1-DC78-8A80-94CA-899338A79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11801-3B43-D0ED-155D-645EB9EAC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2564B-0A03-EC89-9796-90BEED6A9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671F7-3134-5912-C89E-9BC6E89E0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55674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1A8F1-DC78-8A80-94CA-899338A79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11801-3B43-D0ED-155D-645EB9EAC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2564B-0A03-EC89-9796-90BEED6A9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671F7-3134-5912-C89E-9BC6E89E0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5590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68CB0-4F10-6D1D-B2FF-2980CC02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FA6BD-C08D-6221-5615-E880A3F71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6CF5C-EAF4-B900-3D09-83B4C525D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E2CF1-4952-CD14-222E-809833867C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985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68CB0-4F10-6D1D-B2FF-2980CC02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FA6BD-C08D-6221-5615-E880A3F71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6CF5C-EAF4-B900-3D09-83B4C525D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E2CF1-4952-CD14-222E-809833867C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4025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68CB0-4F10-6D1D-B2FF-2980CC02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FA6BD-C08D-6221-5615-E880A3F71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6CF5C-EAF4-B900-3D09-83B4C525D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E2CF1-4952-CD14-222E-809833867C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1328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68</a:t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69</a:t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70</a:t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71</a:t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72</a:t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73</a:t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74</a:t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75</a:t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76</a:t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E0C9-19AA-E5DF-288C-27853CFB7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61F5D-1D01-63A7-71C3-CA3F51387F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DC08A-2A52-4DE2-8E9D-1A6E5650B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C0480-D276-720A-17CD-1036423EF9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1868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CABA9-8BC7-9298-B32C-AD9A55772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5C72F-405D-96FB-034E-41DC4B023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0ABB0-20BA-3FA6-1A02-8BA3B3177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2D4BD-56D3-C8B2-8AF8-99DB4B3174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615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F1B43-87B8-403D-19A5-202ECCA9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4E3D2-4D0A-A380-5EC4-B45C4CCEF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63C57-4FD7-90B9-53EB-4B5B6FE43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42F9C-F026-60E9-0C42-A0E1DA3E50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47283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07323-8626-9F63-C0AD-AD3BC2EF7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81BC3-1CD7-4DAB-63F6-FA630E92C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8B70D-3312-E320-709D-2C2D0A03F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8097E-9A67-B3B2-691A-FBAE00E478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3682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2EB9E-ACD0-79F3-60C1-A1BA645D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44399-4D47-71B5-7CE3-EB1A091D8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06D80-1910-DB9A-86AB-B65CDEC49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3599D-1220-5559-9452-6676F4D53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81402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B558D-8699-92C4-A716-A23BA58CE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2808F-AF54-3BB6-9EE3-4E818B5D7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97BB6-0851-1D22-8C47-53A55A73E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7682B-CD05-5BBE-9FC6-D9C2075A9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1446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83</a:t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84</a:t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85</a:t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86</a:t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6B65D-D132-2190-9DF7-6874FEE94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62C61-BFD5-3DDE-5CC7-6AEBF91B9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59042-17D9-A5DB-9EE9-427735F7A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F2D89-CDBF-D45A-7FEB-D2694502A3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4602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11C68-E5C7-16C4-CFDA-7599B1902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3B13B-5049-AA65-35A0-32580FA19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DC505-3AE1-E51D-02D7-4C0B5CBF9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7F6A7-4901-6B1C-2507-7F0610C99C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8583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9557F-7BDC-FD29-DE23-80105DFF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720F5-5AA2-92C1-0A1E-F659B6B24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97E46-FCD6-AAC3-5342-0C98E89E4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0B42A-B26A-3669-B4EE-15DFD0C71A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7038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1D94C-0E9E-6243-EC63-7D9A77E44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90192-E58D-4192-2281-52FD1D75A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56FDE3-DE10-4807-602B-03FB9BB23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ECB48-D22B-D5BE-667A-5165777C7B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1487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91</a:t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97141-D3C2-51C2-6468-84ACB8127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712C04-872A-C8B4-F898-F58D50EF2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FC60B-DAC9-8D38-2091-5B201A8B6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3D92F-74BD-777F-9B0B-B72BFA415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372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93</a:t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94</a:t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4362F-CC71-4334-8252-C5E97A9FD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1CC16-64C4-7567-78CC-3FFB205C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23250-5810-D399-52FA-A70E4852E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231CE-3916-6762-3504-F2D52552D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1828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96</a:t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15973-0D76-181C-2CF8-DD65D91B2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A642A-36FA-006C-EEDB-76DFAA116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FF67E-3A94-E276-22DD-1A354390C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04927-C566-CA4C-D1A4-18E32AE17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5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98</a:t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99</a:t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100</a:t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101</a:t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3BA62-C15B-1B64-5ED4-17A20FB9B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D451D-556E-BCED-4650-6EDC0C987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EA3FD-6C93-2A27-916A-E884C196D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6319C-2E90-6A2B-7E8D-F8258288EB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1501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A1612-C1C1-E142-78CD-D7B7B232E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C2F6E-31CF-67BB-3270-2DA38085C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F224E-D442-8D36-2BB4-21E0298E1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EAAE8-ECED-BD55-6468-7370D0EEAB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2284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4CBC2-B360-CB80-6BC0-3D17E6CA3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1144E-DE77-F996-2FF8-3D0222910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B5EFB8-3F3A-EF21-EBE6-58AAE9B69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A27DE-6AB2-0886-C538-A1FE308A5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0380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EA865-A5A7-8AE2-2EE5-EE027E7B6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E4AB8-314B-274C-1311-C6FCC1D93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49DC5-6067-2430-9634-62444D935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3E47E-6535-2DC6-AA38-6503B7D11C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1065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65230-A742-B00C-689B-21AD16EE1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CEA2E-3BCE-C2FC-F343-ABF5A31F9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83D48-FC1C-ABDD-9CB9-21D8F9344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87E90-58B4-7956-CEC6-4B9C5D9BC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25593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89DB8-85FC-6E06-B865-EA44C3CA5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9AE05-F2AC-9581-37D7-57F8C130A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755F2-2EC4-41C3-FD52-A3E2D6AC6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01DD2-5489-4FB8-8640-F0714BEC01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90139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24582-2385-0D79-4107-A68011F7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DB01C-95C6-EB1A-9CE8-FAE256142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1C03A-ED47-77C2-AD54-EB29698A8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E8233-EBAA-D9DC-B821-0FE99B065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64362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A179C-5851-3DDA-90BE-8C696F78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7AEE8-C0EA-C8F6-7ADC-671B32749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5AD2A-ED22-2A2E-46F4-7F509204F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5D3E0-DAE8-00C8-2B91-3FF4DBB7CD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5057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A5847-31D1-EB38-C18E-F7A632B8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913-5111-6020-7466-C26329237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6418B-B40D-5625-FAB5-F1CA3A4D9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F5521-FD25-C918-EF99-2DF4C6FE2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58113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24636-E5F2-BCE9-6115-CCC18555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5BE3E7-771A-6CEA-BB58-763950CEA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FAAB7-402E-1988-00D5-C2DF8418B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EAE48-005D-1A60-118F-CF55C9D67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743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5D162-91D2-1E55-4043-32F6C2670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78431-4595-8E2E-9294-5354801A8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B4808-49B7-2D34-908B-EF02EC8B2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88B79-B0ED-F25C-0F38-F5C8D39974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33010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EC88-3E88-9B53-3D33-C0C822685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E86F5-E0AF-E1D9-3BAF-FBFAC08CA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0C5BF-623B-D215-D7EB-E03B05858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E6D58-CC42-4E51-FE4B-2C459FCE6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0408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3EDE2-1A52-B802-4A9C-23B8C0785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8748A-2B54-59B1-136B-0F2F30F5C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CA3AF-9ABE-BBE9-7D36-E19326981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B4C0F-F25A-6147-B364-DF54FAF7B4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63659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682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87E8-223E-51C2-F17B-8FB81F716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F3922-41D1-5395-4711-F618C2DFD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3D2AB-F406-67B4-A83F-4BEF9D8B3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EE681-7F6C-AA17-06D0-731EC864BF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18105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1BF0F-7DE2-F6C9-6086-C89A930BE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BBA24-C19C-7090-FC89-AB14F2156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D5CB2-6074-D7F5-9CD6-045CB4923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C3ADC-8E42-158A-EF69-DACE56A30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33122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FB165-C7F9-D12E-5BE7-7E27F728B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3EFC6-97F5-3398-CEDD-BAEC41EEC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FCB22-18D0-2EA2-EAE4-639755FC8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AA79A-F2DF-2B82-6E05-5CA55CFFB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0847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1890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6048-8AC6-CF43-9469-6C389216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E7306-4175-702A-939B-8A95B84B1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CC7405-B9FA-5BF2-A26D-96CC6173B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0CCA6-3159-0DE2-6FAF-DB5524C6A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7450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BAD73-6EB0-A705-8C56-4A5F810AA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3F533-2076-13A1-424D-8AEA3780B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B01F5-CD1A-F9BB-5DF6-08055D160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BDA73-3EE9-0EB3-3DF6-CCCA083FE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3266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C1C4E-F157-E11C-3D7D-908AA5CBE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250D43-A5C7-53FC-6483-619B2E281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E09B7-E0F0-26CD-09AD-37FD7B2A2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C3F3A-5F80-4916-1291-CEAAE8483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52789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F45E7-5401-B5B6-6218-EAC1548C3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164F7-4BA5-46A6-E300-5D18E130D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37871-33C1-06E3-D397-C02B8BD70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4907A-DB9C-689F-5A3E-81794D0734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38815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2EA06-0D56-2471-E00A-C69B2FBD8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AD937-4261-885B-565B-978814BCC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D2C83-02F4-AD36-BC86-607EEDF53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59B11-D8CB-6949-001F-FD5FFC24A9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5413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75378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178D7-5CA0-0ADC-F9FA-BA106840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041BC-88E2-1E17-FF06-74F9A3ED7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36532-4922-A976-BA88-8F4727A3D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646B5-D9CB-653B-3847-3C270F04F5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39763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9C850-3C9C-EA0B-BFAE-B415E91DA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58C87-BDE1-3914-CBE7-5AE02050A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68D80-AC29-3B83-8330-8E78EA096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9DC87-234D-06D3-AF5A-0B109B69C2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83039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2FCCF-3598-D856-EFAA-38835DD4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FBCBC-8D69-D432-EF33-CB6A4240B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C1033-8DEF-8A56-0DD0-7B6C6B4BD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DCD6F-87B4-BC53-9A61-BB9E4AC77B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8023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03360-06C7-4D0D-A8E0-AAFB7321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FA60B2-7A3B-90D4-20CB-0732A1500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41C0E-2259-9D1A-4341-C5FFA1DA3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02D64-B421-1E0D-1462-FA7DEDDB0C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23393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54844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3FBC-8482-11B5-29D1-6CE4E303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FC7E4-B46F-D535-EAEF-4A968460F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85327-73FB-C80F-D9D0-529E47D57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1B4D1-3231-F6EB-AC93-9CF357DE58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16228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5B152-10CB-2B5B-CC44-FB4E8112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3546D-2990-BD22-3224-E32C569EA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E3F422-BDDF-4101-1F66-C3633D437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CB493-4EDA-DB64-E002-EE52A52610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31313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55866-0190-BD6B-2EC8-A221A14A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93D91-202E-04E1-FE41-FBD879FD7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D84D1-55B1-55D0-8A2F-12136453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72701-89F2-0849-6892-715557B356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27430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D75D-DA1A-E421-FF4E-66975D12F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92658C-E90C-93CA-A1B5-37586B4E5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EBF1D-62EA-A80A-A5AF-A77093F19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4A014-2E68-01E9-4407-F60CD55DFB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16807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C8A5E-C244-145D-0484-D1197357B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BCA98-BA78-6A20-EE77-70BCDCC9C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92ABC-233D-354F-B355-FFD4C0200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928A9-BE47-64AE-2BC1-D5FCBDAC83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43106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3AB46-25E2-D30C-5E48-1F39F170B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C894A-A59F-2B76-33E4-844CC0B4D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0E786-9153-EFA7-315D-F6DB17B60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1FF9C-017B-8A0D-0C06-309C9C9FB0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68164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FE40F-92DD-8F94-D521-5450C8CBF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B8479-79A5-FAAB-8056-15F0EB572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95E16-6485-D09B-BFD2-5D49118F5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28652-6851-1BB6-6F66-F99C1F9C6E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04845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0710-DB1E-BA51-D73D-BF8D88E48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9C0D7-1A65-F3DE-3676-9CB72AA6B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0B769-C5D5-A54A-C0A3-49E9C0390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06C6D-4CF0-996E-7C32-9A151289ED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90312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7CE5F-298C-B3EE-573E-D345B9B11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3F8BE-414C-D292-C870-2CE0AA822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163A3-99F6-2FF6-BAFF-18CFF6A34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F3664-06AA-A850-C607-1E91A1543B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69172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3DB51-AABA-0B8E-B3BB-38877F9D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6F6E3-30E3-B6A7-584F-B05C4FFD2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2D0C6-DBAB-C854-DCCB-5816659B7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1A241-AFCF-2E62-FA3F-C31F9C690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4962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6AFFC-8185-52D0-01E2-9108C8E43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8171D-69D1-F06F-C714-BC227A708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DAC85-8FEB-75D6-168D-751764AEB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74D52-5E59-50B5-C771-80650CDA78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90613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9ECCF-4BA8-10EB-7578-3BD4A9DB8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84AF9-89B1-6596-6A47-611F73377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E4DDF-B7AD-EDF1-2147-54F8C61BC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10DA5-A16D-F9C1-B8CB-3B3140D70D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4160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C0176-C0F6-D44F-A746-815F7912E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D199C-F560-FEB7-E48C-277694592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C8762-3244-D226-93E4-FD28D7A14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A7A59-651E-6CC9-8ABD-82BA560D8F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89694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4A93FB-E771-4AAA-99D5-0D6664061FFF}" type="slidenum">
              <a:rPr lang="en-US" smtClean="0"/>
              <a:pPr/>
              <a:t>144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6906E-E797-4FF6-89A4-B046BD785CEB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19B4C-785E-439D-B6E3-3ECA9A5AA34E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AB49F-B7FC-467C-8025-2DB136E2C77D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326B9-C93C-4D85-98F6-5ABD02038897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48A0C-1689-4CCA-BE75-70CB3045278A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4F7B4-744E-44C2-BAD2-51E5EC43A004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98FD8-18F8-4CC3-BBF2-62976947AE76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CC87-58B2-4C25-B83B-B0FB0906B857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25FD5-198F-4F47-AB8A-F2582F0E0374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8D6A9-E07E-4B35-8625-F7270D328226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E82E3-C253-49FD-900A-8B8022D9FCAD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Dr.A.GNANASEKAR, ASP/ CSE, RMDEC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8F07199-8A79-4C7B-A7EE-4E06BC79A5FD}" type="datetime1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Dr.A.GNANASEKAR, ASP/ CSE, RMDEC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C26CFB4-C37B-4B08-9195-C507F43488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289560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     </a:t>
            </a:r>
          </a:p>
          <a:p>
            <a:r>
              <a:rPr lang="en-US" sz="3600" b="1" dirty="0"/>
              <a:t>Prepare by</a:t>
            </a:r>
          </a:p>
          <a:p>
            <a:r>
              <a:rPr lang="en-US" sz="3600" b="1" dirty="0">
                <a:solidFill>
                  <a:srgbClr val="0070C0"/>
                </a:solidFill>
              </a:rPr>
              <a:t>Dr. A. GNANASEKAR</a:t>
            </a:r>
          </a:p>
          <a:p>
            <a:r>
              <a:rPr lang="en-US" sz="3600" b="1" dirty="0"/>
              <a:t>  Associate Professor </a:t>
            </a:r>
          </a:p>
          <a:p>
            <a:r>
              <a:rPr lang="en-US" sz="3600" b="1" dirty="0"/>
              <a:t>Department of Computer Science &amp; Engineering</a:t>
            </a:r>
          </a:p>
          <a:p>
            <a:r>
              <a:rPr lang="en-US" sz="3600" b="1" dirty="0"/>
              <a:t>R.M.D. Engineering College 	</a:t>
            </a:r>
          </a:p>
          <a:p>
            <a:r>
              <a:rPr lang="en-US" b="1" dirty="0"/>
              <a:t>	</a:t>
            </a:r>
          </a:p>
          <a:p>
            <a:r>
              <a:rPr lang="en-US" b="1" dirty="0"/>
              <a:t>	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/>
              <a:t>21CS703</a:t>
            </a:r>
            <a:r>
              <a:rPr sz="4800" b="1" dirty="0"/>
              <a:t> 	</a:t>
            </a:r>
            <a:br>
              <a:rPr sz="4800" b="1" dirty="0"/>
            </a:br>
            <a:r>
              <a:rPr lang="en-US" b="1" dirty="0"/>
              <a:t>DATA ANALYTICS (Lab Integrated)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C57A3-2FF7-4804-870A-42FF3D9B3EC0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3 -EXPLORATORY DATA ANALYSIS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67E961-3026-D85F-E561-4D13D55950E0}"/>
              </a:ext>
            </a:extLst>
          </p:cNvPr>
          <p:cNvSpPr txBox="1"/>
          <p:nvPr/>
        </p:nvSpPr>
        <p:spPr>
          <a:xfrm>
            <a:off x="381000" y="1295400"/>
            <a:ext cx="8153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600" dirty="0">
                <a:solidFill>
                  <a:srgbClr val="00B050"/>
                </a:solidFill>
              </a:rPr>
              <a:t>Exploratory Data Analysis (EDA) </a:t>
            </a:r>
            <a:r>
              <a:rPr lang="en-US" sz="3600" dirty="0"/>
              <a:t>is the </a:t>
            </a:r>
            <a:r>
              <a:rPr lang="en-US" sz="3600" dirty="0">
                <a:solidFill>
                  <a:srgbClr val="FF0000"/>
                </a:solidFill>
              </a:rPr>
              <a:t>process of examining and understanding data before applying advanced statistical or machine learning methods.</a:t>
            </a:r>
            <a:r>
              <a:rPr lang="en-US" sz="3600" dirty="0">
                <a:solidFill>
                  <a:srgbClr val="FF0000"/>
                </a:solidFill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442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D0FB-BCE7-AE4D-8339-F747BEDE0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5ADE-82CF-D414-12A3-023206686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3 -EXPLORATORY DATA ANALYSIS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BDC66-03D2-2122-6CBE-DE174B95D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68E27-028D-AAFF-249D-3F15331BD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62E39-054F-1779-3DE3-5D9D9B3B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A35173-6E37-646B-52DD-4F91D96C4B3F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C29E5ED-5D86-96F2-AED0-68BFD970CAF7}"/>
              </a:ext>
            </a:extLst>
          </p:cNvPr>
          <p:cNvSpPr txBox="1"/>
          <p:nvPr/>
        </p:nvSpPr>
        <p:spPr>
          <a:xfrm>
            <a:off x="381000" y="1295400"/>
            <a:ext cx="81534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Key Objectives of EDA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Understand the structure of data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– number of rows, columns, types of variables.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Summarize key statistics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– mean, median, mode, min, max, standard deviation.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Detect missing values</a:t>
            </a:r>
            <a:endParaRPr lang="en-US" sz="2800" dirty="0"/>
          </a:p>
          <a:p>
            <a:r>
              <a:rPr lang="en-US" sz="2800" b="1" dirty="0">
                <a:solidFill>
                  <a:srgbClr val="FF0000"/>
                </a:solidFill>
              </a:rPr>
              <a:t>Identify relationships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between variables.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Check assumptions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for modeling </a:t>
            </a:r>
            <a:r>
              <a:rPr lang="en-IN" sz="2800" dirty="0"/>
              <a:t>(normality, linearity)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313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3 -EXPLORATORY DATA ANALYSIS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176CE03-172F-40E6-AC38-A0AB57845B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363"/>
            <a:ext cx="9144000" cy="431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4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EC2CC-06A2-645F-FA47-7B0D6ACF5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CAE25-34FC-93A7-B527-82C774857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3 -EXPLORATORY DATA ANALYSIS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89BBC-7564-78C3-223D-DCF93C99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386BA-34D3-831F-8B7F-A8CFBD3AD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725D-7FFD-9FF4-6ED7-2C4AD18E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2B908D-29BC-B192-F94E-7687B15153EB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C842848-04D0-765A-8ADD-40F8DD1A3B12}"/>
              </a:ext>
            </a:extLst>
          </p:cNvPr>
          <p:cNvSpPr txBox="1"/>
          <p:nvPr/>
        </p:nvSpPr>
        <p:spPr>
          <a:xfrm>
            <a:off x="945006" y="1219200"/>
            <a:ext cx="713219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Steps in EDA</a:t>
            </a:r>
          </a:p>
          <a:p>
            <a:pPr>
              <a:buFont typeface="+mj-lt"/>
              <a:buAutoNum type="arabicPeriod"/>
            </a:pPr>
            <a:r>
              <a:rPr lang="en-IN" sz="2800" b="1" dirty="0"/>
              <a:t>Data Collection &amp; Loading</a:t>
            </a:r>
            <a:endParaRPr lang="en-IN" sz="2800" dirty="0"/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Import datasets from CSV, Excel, SQL, or other sources.</a:t>
            </a:r>
          </a:p>
          <a:p>
            <a:pPr>
              <a:buFont typeface="+mj-lt"/>
              <a:buAutoNum type="arabicPeriod"/>
            </a:pPr>
            <a:r>
              <a:rPr lang="en-IN" sz="2800" b="1" dirty="0"/>
              <a:t>Data Cleaning</a:t>
            </a:r>
            <a:endParaRPr lang="en-IN" sz="2800" dirty="0"/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Handle missing values.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Remove duplicates.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Correct data types (int, float, categorical).</a:t>
            </a:r>
          </a:p>
          <a:p>
            <a:pPr>
              <a:buFont typeface="+mj-lt"/>
              <a:buAutoNum type="arabicPeriod"/>
            </a:pPr>
            <a:r>
              <a:rPr lang="en-IN" sz="2800" b="1" dirty="0"/>
              <a:t>Univariate Analysis</a:t>
            </a:r>
            <a:r>
              <a:rPr lang="en-IN" sz="2800" dirty="0"/>
              <a:t> (one variable at a time)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Numerical: histograms, boxplots, density plots.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Categorical: bar charts, frequency tables.</a:t>
            </a:r>
          </a:p>
        </p:txBody>
      </p:sp>
    </p:spTree>
    <p:extLst>
      <p:ext uri="{BB962C8B-B14F-4D97-AF65-F5344CB8AC3E}">
        <p14:creationId xmlns:p14="http://schemas.microsoft.com/office/powerpoint/2010/main" val="290742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9D23E-D6CF-80D5-C412-D99C3607E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09E28-8AD6-29AC-8ED1-6528C9E03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3 -EXPLORATORY DATA ANALYSIS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2A160-29F1-E287-242E-8E608F0B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03C2E-A5E1-5195-2A7F-E12007F58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2729D-FF88-C884-4C1D-87D72A76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5E0ED8-0492-893A-71C8-9795281AD74D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92C32F-98F1-3C3F-EFA1-020D490A28ED}"/>
              </a:ext>
            </a:extLst>
          </p:cNvPr>
          <p:cNvSpPr txBox="1"/>
          <p:nvPr/>
        </p:nvSpPr>
        <p:spPr>
          <a:xfrm>
            <a:off x="945006" y="1219200"/>
            <a:ext cx="71321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Steps in EDA</a:t>
            </a:r>
          </a:p>
          <a:p>
            <a:r>
              <a:rPr lang="en-IN" sz="2800" b="1" dirty="0"/>
              <a:t>4.Bivariate/Multivariate Analysis</a:t>
            </a:r>
            <a:endParaRPr lang="en-IN" sz="2800" dirty="0"/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Scatter plots, correlation heatmaps, </a:t>
            </a:r>
            <a:r>
              <a:rPr lang="en-IN" sz="2800" dirty="0" err="1"/>
              <a:t>pairplots</a:t>
            </a:r>
            <a:r>
              <a:rPr lang="en-IN" sz="28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Grouped statistics by category.</a:t>
            </a:r>
          </a:p>
          <a:p>
            <a:r>
              <a:rPr lang="en-IN" sz="2800" b="1" dirty="0"/>
              <a:t>5. Outlier Detection</a:t>
            </a:r>
            <a:endParaRPr lang="en-IN" sz="2800" dirty="0"/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Boxplots, z-scores, IQR method.</a:t>
            </a:r>
          </a:p>
          <a:p>
            <a:r>
              <a:rPr lang="en-IN" sz="2800" b="1" dirty="0"/>
              <a:t>6. Feature Engineering</a:t>
            </a:r>
            <a:r>
              <a:rPr lang="en-IN" sz="2800" dirty="0"/>
              <a:t> (optional)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Creating new variables.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Encoding categorical features.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800" dirty="0"/>
              <a:t>Normalization/standardization.</a:t>
            </a:r>
          </a:p>
        </p:txBody>
      </p:sp>
    </p:spTree>
    <p:extLst>
      <p:ext uri="{BB962C8B-B14F-4D97-AF65-F5344CB8AC3E}">
        <p14:creationId xmlns:p14="http://schemas.microsoft.com/office/powerpoint/2010/main" val="1213691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Types of EDA Techniques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CF41EA-501B-AADA-C5C5-5B05FEACFC1B}"/>
              </a:ext>
            </a:extLst>
          </p:cNvPr>
          <p:cNvSpPr txBox="1"/>
          <p:nvPr/>
        </p:nvSpPr>
        <p:spPr>
          <a:xfrm>
            <a:off x="457200" y="1066800"/>
            <a:ext cx="83058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eriod"/>
            </a:pPr>
            <a:r>
              <a:rPr lang="en-IN" sz="3000" b="1" i="0" u="sng" dirty="0">
                <a:solidFill>
                  <a:srgbClr val="0070C0"/>
                </a:solidFill>
                <a:effectLst/>
                <a:highlight>
                  <a:srgbClr val="FFFFFF"/>
                </a:highlight>
              </a:rPr>
              <a:t>Univariate Analysis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000" b="1" i="0" u="sng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Definition: </a:t>
            </a:r>
            <a:r>
              <a:rPr lang="en-IN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Focuses on </a:t>
            </a:r>
            <a:r>
              <a:rPr lang="en-IN" sz="3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</a:rPr>
              <a:t>analyzing a single variable at a time</a:t>
            </a:r>
            <a:r>
              <a:rPr lang="en-IN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000" b="1" i="0" u="sng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Techniques: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3000" b="0" i="0" u="none" strike="noStrike" dirty="0">
                <a:solidFill>
                  <a:srgbClr val="1179EF"/>
                </a:solidFill>
                <a:effectLst/>
                <a:highlight>
                  <a:srgbClr val="FFFFFF"/>
                </a:highlight>
              </a:rPr>
              <a:t>Descriptive statistics</a:t>
            </a:r>
            <a:r>
              <a:rPr lang="en-IN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 (mean, median, mode, variance, standard deviation).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3000" dirty="0">
                <a:solidFill>
                  <a:srgbClr val="1179EF"/>
                </a:solidFill>
                <a:highlight>
                  <a:srgbClr val="FFFFFF"/>
                </a:highlight>
              </a:rPr>
              <a:t>Visualizations</a:t>
            </a:r>
            <a:r>
              <a:rPr lang="en-IN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 (histograms, box plots, bar charts, pie charts).</a:t>
            </a:r>
          </a:p>
          <a:p>
            <a:pPr marL="342900" indent="-342900" algn="l">
              <a:buAutoNum type="arabicPeriod"/>
            </a:pPr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640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</a:rPr>
              <a:t> Types of EDA Techniques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CF41EA-501B-AADA-C5C5-5B05FEACFC1B}"/>
              </a:ext>
            </a:extLst>
          </p:cNvPr>
          <p:cNvSpPr txBox="1"/>
          <p:nvPr/>
        </p:nvSpPr>
        <p:spPr>
          <a:xfrm>
            <a:off x="457200" y="1066800"/>
            <a:ext cx="83058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u="sng" dirty="0">
                <a:solidFill>
                  <a:srgbClr val="0070C0"/>
                </a:solidFill>
                <a:highlight>
                  <a:srgbClr val="FFFFFF"/>
                </a:highlight>
              </a:rPr>
              <a:t>2. Bivariate Analysis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1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Definition:  </a:t>
            </a:r>
            <a:r>
              <a:rPr lang="en-US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Examines the </a:t>
            </a:r>
            <a:r>
              <a:rPr lang="en-US" sz="3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</a:rPr>
              <a:t>relationship between two variables.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1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Techniques: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1179EF"/>
                </a:solidFill>
                <a:highlight>
                  <a:srgbClr val="FFFFFF"/>
                </a:highlight>
              </a:rPr>
              <a:t>Scatter plots.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1179EF"/>
                </a:solidFill>
                <a:highlight>
                  <a:srgbClr val="FFFFFF"/>
                </a:highlight>
              </a:rPr>
              <a:t>Correlation coefficients</a:t>
            </a:r>
            <a:r>
              <a:rPr lang="en-US" sz="3000" dirty="0">
                <a:solidFill>
                  <a:srgbClr val="51565E"/>
                </a:solidFill>
                <a:highlight>
                  <a:srgbClr val="FFFFFF"/>
                </a:highlight>
              </a:rPr>
              <a:t> </a:t>
            </a:r>
            <a:r>
              <a:rPr lang="en-US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(Pearson, Spearman).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1179EF"/>
                </a:solidFill>
                <a:highlight>
                  <a:srgbClr val="FFFFFF"/>
                </a:highlight>
              </a:rPr>
              <a:t>Cross-tabulations and contingency tables.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1179EF"/>
                </a:solidFill>
                <a:highlight>
                  <a:srgbClr val="FFFFFF"/>
                </a:highlight>
              </a:rPr>
              <a:t>Visualizations </a:t>
            </a:r>
            <a:r>
              <a:rPr lang="en-US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(line plots, scatter plots, pair plots).</a:t>
            </a:r>
          </a:p>
          <a:p>
            <a:pPr algn="l"/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688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</a:rPr>
              <a:t> Types of EDA Techniques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CF41EA-501B-AADA-C5C5-5B05FEACFC1B}"/>
              </a:ext>
            </a:extLst>
          </p:cNvPr>
          <p:cNvSpPr txBox="1"/>
          <p:nvPr/>
        </p:nvSpPr>
        <p:spPr>
          <a:xfrm>
            <a:off x="495300" y="1066800"/>
            <a:ext cx="8305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</a:rPr>
              <a:t>3</a:t>
            </a:r>
            <a:r>
              <a:rPr lang="en-US" sz="3000" b="1" u="sng" dirty="0">
                <a:solidFill>
                  <a:srgbClr val="0070C0"/>
                </a:solidFill>
                <a:highlight>
                  <a:srgbClr val="FFFFFF"/>
                </a:highlight>
              </a:rPr>
              <a:t>. Multivariate Analysis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1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Definition:  </a:t>
            </a:r>
            <a:r>
              <a:rPr lang="en-US" sz="3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</a:rPr>
              <a:t>Investigates interactions between three or more variables.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1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Techniques: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1179EF"/>
                </a:solidFill>
                <a:highlight>
                  <a:srgbClr val="FFFFFF"/>
                </a:highlight>
              </a:rPr>
              <a:t>Multivariate plots </a:t>
            </a:r>
            <a:r>
              <a:rPr lang="en-US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(pair plots, parallel coordinates plots).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1179EF"/>
                </a:solidFill>
                <a:highlight>
                  <a:srgbClr val="FFFFFF"/>
                </a:highlight>
              </a:rPr>
              <a:t>Dimensionality reduction techniques </a:t>
            </a:r>
            <a:r>
              <a:rPr lang="en-US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(PCA, t-SNE).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1179EF"/>
                </a:solidFill>
                <a:highlight>
                  <a:srgbClr val="FFFFFF"/>
                </a:highlight>
              </a:rPr>
              <a:t>Cluster analysis.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1179EF"/>
                </a:solidFill>
                <a:highlight>
                  <a:srgbClr val="FFFFFF"/>
                </a:highlight>
              </a:rPr>
              <a:t>Heatmaps and correlation matrices.</a:t>
            </a:r>
          </a:p>
          <a:p>
            <a:pPr algn="l"/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80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</a:rPr>
              <a:t> Types of EDA Techniques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CF41EA-501B-AADA-C5C5-5B05FEACFC1B}"/>
              </a:ext>
            </a:extLst>
          </p:cNvPr>
          <p:cNvSpPr txBox="1"/>
          <p:nvPr/>
        </p:nvSpPr>
        <p:spPr>
          <a:xfrm>
            <a:off x="495300" y="1066800"/>
            <a:ext cx="83058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u="sng" dirty="0">
                <a:solidFill>
                  <a:srgbClr val="0070C0"/>
                </a:solidFill>
                <a:highlight>
                  <a:srgbClr val="FFFFFF"/>
                </a:highlight>
              </a:rPr>
              <a:t>4. Descriptive Statistics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1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Definition: </a:t>
            </a:r>
            <a:r>
              <a:rPr lang="en-US" sz="3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</a:rPr>
              <a:t>Summarizes the main features of a data set</a:t>
            </a:r>
            <a:r>
              <a:rPr lang="en-US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000" b="1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Techniques: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Measures of central tendency (mean, median, mode).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Measures of dispersion (range, variance, standard deviation).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Frequency distributions.</a:t>
            </a:r>
          </a:p>
          <a:p>
            <a:pPr algn="l"/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444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</a:rPr>
              <a:t> Types of EDA Techniques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CF41EA-501B-AADA-C5C5-5B05FEACFC1B}"/>
              </a:ext>
            </a:extLst>
          </p:cNvPr>
          <p:cNvSpPr txBox="1"/>
          <p:nvPr/>
        </p:nvSpPr>
        <p:spPr>
          <a:xfrm>
            <a:off x="495300" y="1066800"/>
            <a:ext cx="8305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000" b="1" u="sng" dirty="0">
                <a:solidFill>
                  <a:srgbClr val="0070C0"/>
                </a:solidFill>
                <a:highlight>
                  <a:srgbClr val="FFFFFF"/>
                </a:highlight>
              </a:rPr>
              <a:t>5. Graphical Analysis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000" b="1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Definition: </a:t>
            </a:r>
            <a:r>
              <a:rPr lang="en-IN" sz="3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</a:rPr>
              <a:t>Uses visual tools to explore data</a:t>
            </a:r>
            <a:r>
              <a:rPr lang="en-IN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000" b="1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Purpose: </a:t>
            </a:r>
            <a:r>
              <a:rPr lang="en-IN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To identify patterns, trends, and</a:t>
            </a:r>
            <a:r>
              <a:rPr lang="en-IN" sz="3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</a:rPr>
              <a:t> </a:t>
            </a:r>
            <a:r>
              <a:rPr lang="en-IN" sz="3000" b="0" i="0" u="none" strike="noStrike" dirty="0">
                <a:solidFill>
                  <a:srgbClr val="FF0000"/>
                </a:solidFill>
                <a:effectLst/>
                <a:highlight>
                  <a:srgbClr val="FFFFFF"/>
                </a:highlight>
              </a:rPr>
              <a:t>data anomalies</a:t>
            </a:r>
            <a:r>
              <a:rPr lang="en-IN" sz="3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</a:rPr>
              <a:t> through visualization.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3000" b="1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Techniques: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Charts (bar charts, histograms, pie charts).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Plots (scatter plots, line plots, box plots).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3000" b="0" i="0" dirty="0">
                <a:solidFill>
                  <a:srgbClr val="51565E"/>
                </a:solidFill>
                <a:effectLst/>
                <a:highlight>
                  <a:srgbClr val="FFFFFF"/>
                </a:highlight>
              </a:rPr>
              <a:t>Advanced visualizations (heatmaps, violin plots, pair plots).</a:t>
            </a:r>
          </a:p>
          <a:p>
            <a:pPr algn="l"/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464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–Understanding data science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1000" y="1066800"/>
            <a:ext cx="8382000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Data Science</a:t>
            </a:r>
            <a:r>
              <a:rPr lang="en-US" sz="2800" dirty="0"/>
              <a:t> is the field of extracting meaningful insights and knowledge from data using a combination of:</a:t>
            </a:r>
          </a:p>
          <a:p>
            <a:pPr lvl="2"/>
            <a:r>
              <a:rPr lang="en-US" sz="2800" b="1" dirty="0"/>
              <a:t>1. Mathematics &amp; Statistics</a:t>
            </a:r>
            <a:endParaRPr lang="en-US" sz="2800" dirty="0"/>
          </a:p>
          <a:p>
            <a:pPr lvl="2"/>
            <a:r>
              <a:rPr lang="en-US" sz="2800" b="1" dirty="0"/>
              <a:t>2. Programming (Python, R, SQL, etc.)</a:t>
            </a:r>
            <a:endParaRPr lang="en-US" sz="2800" dirty="0"/>
          </a:p>
          <a:p>
            <a:pPr lvl="2"/>
            <a:r>
              <a:rPr lang="en-US" sz="2800" b="1" dirty="0"/>
              <a:t>3. Domain Knowledge</a:t>
            </a:r>
            <a:r>
              <a:rPr lang="en-US" sz="2800" dirty="0"/>
              <a:t> (understanding the business problem)</a:t>
            </a:r>
          </a:p>
          <a:p>
            <a:pPr lvl="2"/>
            <a:r>
              <a:rPr lang="en-US" sz="2800" b="1" dirty="0"/>
              <a:t>4. Machine Learning &amp; AI</a:t>
            </a:r>
          </a:p>
          <a:p>
            <a:endParaRPr lang="en-US" sz="2800" b="1" dirty="0"/>
          </a:p>
          <a:p>
            <a:r>
              <a:rPr lang="en-US" sz="2800" dirty="0"/>
              <a:t>It’s about </a:t>
            </a:r>
            <a:r>
              <a:rPr lang="en-US" sz="2800" b="1" dirty="0">
                <a:solidFill>
                  <a:srgbClr val="FF0000"/>
                </a:solidFill>
              </a:rPr>
              <a:t>turning raw data into actionable insights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that help in </a:t>
            </a:r>
            <a:r>
              <a:rPr lang="en-US" sz="2800" b="1" dirty="0">
                <a:solidFill>
                  <a:srgbClr val="FF0000"/>
                </a:solidFill>
              </a:rPr>
              <a:t>decision-making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endParaRPr lang="en-IN" sz="20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42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–Understanding data science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1000" y="849965"/>
            <a:ext cx="8382000" cy="545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Here’s the typical process:</a:t>
            </a:r>
          </a:p>
          <a:p>
            <a:r>
              <a:rPr lang="en-IN" sz="2700" b="1" dirty="0">
                <a:solidFill>
                  <a:srgbClr val="FF0000"/>
                </a:solidFill>
              </a:rPr>
              <a:t>1. Data Collection</a:t>
            </a:r>
            <a:endParaRPr lang="en-IN" sz="2700" dirty="0">
              <a:solidFill>
                <a:srgbClr val="FF0000"/>
              </a:solidFill>
            </a:endParaRPr>
          </a:p>
          <a:p>
            <a:pPr lvl="1"/>
            <a:r>
              <a:rPr lang="en-IN" sz="2700" dirty="0"/>
              <a:t>Gather data from databases, APIs, files, sensors, etc.</a:t>
            </a:r>
          </a:p>
          <a:p>
            <a:pPr lvl="1"/>
            <a:r>
              <a:rPr lang="en-IN" sz="2700" dirty="0"/>
              <a:t>Example: Collect sales data, website logs, or sensor readings.</a:t>
            </a:r>
          </a:p>
          <a:p>
            <a:r>
              <a:rPr lang="en-IN" sz="2700" b="1" dirty="0">
                <a:solidFill>
                  <a:srgbClr val="FF0000"/>
                </a:solidFill>
              </a:rPr>
              <a:t>2. Data Cleaning &amp; Pre-processing</a:t>
            </a:r>
            <a:endParaRPr lang="en-IN" sz="2700" dirty="0">
              <a:solidFill>
                <a:srgbClr val="FF0000"/>
              </a:solidFill>
            </a:endParaRPr>
          </a:p>
          <a:p>
            <a:pPr lvl="1"/>
            <a:r>
              <a:rPr lang="en-IN" sz="2700" dirty="0"/>
              <a:t>Handle missing values, duplicates, noise.</a:t>
            </a:r>
          </a:p>
          <a:p>
            <a:pPr lvl="1"/>
            <a:r>
              <a:rPr lang="en-IN" sz="2700" dirty="0"/>
              <a:t>Convert categorical values (e.g., One-Hot Encoding).</a:t>
            </a:r>
          </a:p>
          <a:p>
            <a:pPr lvl="1"/>
            <a:r>
              <a:rPr lang="en-IN" sz="2700" dirty="0"/>
              <a:t>Example: Filling missing ages in a customer dataset.</a:t>
            </a:r>
          </a:p>
          <a:p>
            <a:r>
              <a:rPr lang="en-IN" sz="2700" b="1" dirty="0">
                <a:solidFill>
                  <a:srgbClr val="FF0000"/>
                </a:solidFill>
              </a:rPr>
              <a:t>3. Exploratory Data Analysis (EDA)</a:t>
            </a:r>
            <a:endParaRPr lang="en-IN" sz="2700" dirty="0">
              <a:solidFill>
                <a:srgbClr val="FF0000"/>
              </a:solidFill>
            </a:endParaRPr>
          </a:p>
          <a:p>
            <a:pPr lvl="1"/>
            <a:r>
              <a:rPr lang="en-IN" sz="2700" dirty="0"/>
              <a:t>Visualize and understand patterns, correlations, and trends.</a:t>
            </a:r>
          </a:p>
          <a:p>
            <a:pPr lvl="1"/>
            <a:r>
              <a:rPr lang="en-IN" sz="2700" dirty="0"/>
              <a:t>Example: Plot sales over time, check correlation between income and spending.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endParaRPr lang="en-IN" sz="20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523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–Understanding data science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04800" y="958974"/>
            <a:ext cx="8686800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solidFill>
                  <a:srgbClr val="FF0000"/>
                </a:solidFill>
              </a:rPr>
              <a:t>4. Feature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 new useful features from existing 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From "Year Built" → create "House Age".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FF0000"/>
                </a:solidFill>
              </a:rPr>
              <a:t>5. Model Building (Machine Learning / AI)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Apply algorithms (Regression, Classification, Clustering,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Predict house prices using regression.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solidFill>
                  <a:srgbClr val="FF0000"/>
                </a:solidFill>
              </a:rPr>
              <a:t>6. Model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Check accuracy, precision, recall,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Test how well a model predicts customer churn.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309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–Understanding data science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81609" y="1016914"/>
            <a:ext cx="834390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7. Deployment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Put the model into production (e.g., a recommendation system in an e-commerce site).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8. Monitoring &amp; Improvement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Continuously monitor performance and update with new data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475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80B55-C996-E1B5-956E-DA0DEAC65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7B7CB-E123-B8D8-87CD-6F1CE37C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Steps in EDA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C298A-00C9-F107-FDE3-AF8A84541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A0A0A-3C2C-C73F-6564-FBB8469E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013C0-E8B0-D15A-DE23-E33599609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08294F-D822-648D-EB15-BAB884427C21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197BA25-A6DF-B4DA-A622-EEE11B2DE75B}"/>
              </a:ext>
            </a:extLst>
          </p:cNvPr>
          <p:cNvSpPr txBox="1"/>
          <p:nvPr/>
        </p:nvSpPr>
        <p:spPr>
          <a:xfrm>
            <a:off x="495300" y="1066800"/>
            <a:ext cx="83058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</a:rPr>
              <a:t>Steps to Perform EDA in Python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1. Importing Libraries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perform EDA, you need to import essential libraries such as Pandas, NumPy, Matplotlib, and Seaborn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r>
              <a:rPr lang="en-US" sz="2400" b="1" dirty="0">
                <a:solidFill>
                  <a:srgbClr val="FF0000"/>
                </a:solidFill>
              </a:rPr>
              <a:t>2. Loading the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Load your dataset into a Pandas </a:t>
            </a:r>
            <a:r>
              <a:rPr lang="en-US" sz="2400" dirty="0" err="1"/>
              <a:t>DataFrame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561C2D-E7CA-6272-E4B8-2C371844A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019" y="2869400"/>
            <a:ext cx="3667396" cy="9438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E269B5-6806-3682-37EB-434ABC9354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049" y="5251448"/>
            <a:ext cx="4477151" cy="32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18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C5CE3-5655-7CA3-960F-3FD62790F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5F7AE-AE83-E5DC-7438-14232809B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Steps in EDA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4605F-E782-E41F-7298-CA290E9C9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E3FA2-5365-F3A7-1C74-A87217D4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07317-F59A-A8E0-EFF0-BFE82094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17973C-2C11-C80C-0036-34998B353B6D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E8EB278-0E26-3D01-D9CA-D7FF8976AF44}"/>
              </a:ext>
            </a:extLst>
          </p:cNvPr>
          <p:cNvSpPr txBox="1"/>
          <p:nvPr/>
        </p:nvSpPr>
        <p:spPr>
          <a:xfrm>
            <a:off x="495300" y="1066800"/>
            <a:ext cx="83058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</a:rPr>
              <a:t>Steps to Perform EDA in Python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3. Initial Inspection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Get an overview of the data using methods like </a:t>
            </a:r>
            <a:r>
              <a:rPr lang="en-US" sz="2400" dirty="0">
                <a:solidFill>
                  <a:srgbClr val="FF0000"/>
                </a:solidFill>
              </a:rPr>
              <a:t>head(), tail(), </a:t>
            </a:r>
            <a:r>
              <a:rPr lang="en-US" sz="2400" dirty="0"/>
              <a:t>and </a:t>
            </a:r>
            <a:r>
              <a:rPr lang="en-US" sz="2400" dirty="0">
                <a:solidFill>
                  <a:srgbClr val="FF0000"/>
                </a:solidFill>
              </a:rPr>
              <a:t>info().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These methods help you </a:t>
            </a:r>
            <a:r>
              <a:rPr lang="en-US" sz="2400" dirty="0">
                <a:solidFill>
                  <a:srgbClr val="FF0000"/>
                </a:solidFill>
              </a:rPr>
              <a:t>understand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00B050"/>
                </a:solidFill>
              </a:rPr>
              <a:t>structure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B050"/>
                </a:solidFill>
              </a:rPr>
              <a:t>data types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00B050"/>
                </a:solidFill>
              </a:rPr>
              <a:t>missing values </a:t>
            </a:r>
            <a:r>
              <a:rPr lang="en-US" sz="2400" dirty="0"/>
              <a:t>in the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982924-3A21-3401-E6C4-1186F8E3A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3658394"/>
            <a:ext cx="4341149" cy="139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069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FF6C-C833-E6FE-8691-00CA0EDAA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94CF4-009E-209C-41DF-7A5E8A3E8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Steps in EDA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D9559-FBF0-F9EE-7465-AA7A3F5FE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F989B-B56A-1C44-8BE1-C7AE65C7E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5292D-AA02-54F0-7871-9799BE16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7E5827-DB3A-7791-04DC-1D4C6EB9435D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052BF83-6C1E-573F-8EBD-793E233CCAF8}"/>
              </a:ext>
            </a:extLst>
          </p:cNvPr>
          <p:cNvSpPr txBox="1"/>
          <p:nvPr/>
        </p:nvSpPr>
        <p:spPr>
          <a:xfrm>
            <a:off x="495300" y="1066800"/>
            <a:ext cx="830580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</a:rPr>
              <a:t>Steps to Perform EDA in Python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4. Data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Identify and handle missing values using methods like </a:t>
            </a:r>
            <a:r>
              <a:rPr lang="en-US" sz="2400" dirty="0" err="1">
                <a:solidFill>
                  <a:srgbClr val="FF0000"/>
                </a:solidFill>
              </a:rPr>
              <a:t>isnull</a:t>
            </a:r>
            <a:r>
              <a:rPr lang="en-US" sz="2400" dirty="0">
                <a:solidFill>
                  <a:srgbClr val="FF0000"/>
                </a:solidFill>
              </a:rPr>
              <a:t>().sum() </a:t>
            </a:r>
            <a:r>
              <a:rPr lang="en-US" sz="2400" dirty="0"/>
              <a:t>and </a:t>
            </a:r>
            <a:r>
              <a:rPr lang="en-US" sz="2400" dirty="0" err="1">
                <a:solidFill>
                  <a:srgbClr val="FF0000"/>
                </a:solidFill>
              </a:rPr>
              <a:t>fillna</a:t>
            </a:r>
            <a:r>
              <a:rPr lang="en-US" sz="2400" dirty="0">
                <a:solidFill>
                  <a:srgbClr val="FF0000"/>
                </a:solidFill>
              </a:rPr>
              <a:t>().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You can also remove duplicates using </a:t>
            </a:r>
            <a:r>
              <a:rPr lang="en-US" sz="2400" dirty="0">
                <a:solidFill>
                  <a:srgbClr val="FF0000"/>
                </a:solidFill>
              </a:rPr>
              <a:t>drop_duplicates().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1FCECB-D9DB-081F-82AA-DC8335F2F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33" y="3456227"/>
            <a:ext cx="8350093" cy="83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846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7A5DA-F69D-679B-3D25-75E73D400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96A5-78FF-F99A-A157-68B73F694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Steps in EDA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982DC-5ABC-4E6A-DCAD-FD65DD35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0D040-A007-F70C-26EE-9842B810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4F5E0-0070-ED91-5E93-A2D3550E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5B8B38-8E63-B9BE-9F4D-1F632073EBDB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41F0D5C-E0E0-1A85-778D-B8CF12B08139}"/>
              </a:ext>
            </a:extLst>
          </p:cNvPr>
          <p:cNvSpPr txBox="1"/>
          <p:nvPr/>
        </p:nvSpPr>
        <p:spPr>
          <a:xfrm>
            <a:off x="495300" y="1066800"/>
            <a:ext cx="83058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</a:rPr>
              <a:t>Steps to Perform EDA in Python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5. Univariate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Analyze single variables at a time using descriptive statistics and visualizations.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 histograms, box plots, and density plots to visualize distributions.</a:t>
            </a:r>
          </a:p>
          <a:p>
            <a:endParaRPr lang="en-US" sz="2400" dirty="0"/>
          </a:p>
          <a:p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E504C8-C3DA-5E3E-8017-D0A69A2D7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004" y="3272853"/>
            <a:ext cx="5589196" cy="260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593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0D6E7-4BE3-6E24-F85B-27F1295B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FDB1-1ABF-C735-E771-E0810D0EE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Steps in EDA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B3F4D-1149-2A1C-4992-FBE3C18B4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27950-74A9-6B44-8691-CBBAD545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43210-FBD7-4441-098A-09A90710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574CFC-6A3B-F31F-D4CC-955384828B31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7669C4-CCF3-076A-8C48-2EB7A8DFB255}"/>
              </a:ext>
            </a:extLst>
          </p:cNvPr>
          <p:cNvSpPr txBox="1"/>
          <p:nvPr/>
        </p:nvSpPr>
        <p:spPr>
          <a:xfrm>
            <a:off x="495300" y="1066800"/>
            <a:ext cx="83058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</a:rPr>
              <a:t>Steps to Perform EDA in Python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6. Bivariate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Explore relationships between two variables using scatter plots, pair plots, and correlation matrices.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EA8480-F222-B076-7B54-C200A2415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862156"/>
            <a:ext cx="6779170" cy="292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499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12A04-9317-8D67-68AA-DC23435DB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FFCFC-849E-1B3E-1E0E-C4B34FEF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Steps in EDA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5B271-2A13-E8D2-05FC-41D70F4A3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67029-052F-2D6D-A425-7BFA5F6D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587A0-6096-8918-FFD0-C84DA9D80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0CBBC1-910C-7391-C17A-2881DC7892B7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47A57FC-65DA-EAD8-DD5D-2B3A06D3EA4F}"/>
              </a:ext>
            </a:extLst>
          </p:cNvPr>
          <p:cNvSpPr txBox="1"/>
          <p:nvPr/>
        </p:nvSpPr>
        <p:spPr>
          <a:xfrm>
            <a:off x="495300" y="1066800"/>
            <a:ext cx="83058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</a:rPr>
              <a:t>Steps to Perform EDA in Python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7. Multivariate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Analyze interactions between three or more variables using techniques like heatmaps and correlation matrices.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879902-0662-EE13-C952-FF037C5D2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91" y="3183654"/>
            <a:ext cx="7782209" cy="143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87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C5553-48AF-06ED-ACEC-0767CCE3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BF29-2F6C-9D52-1A11-04C3C0E32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Steps in EDA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68CF6-9D00-E96B-45D6-0653034E8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72AB5-6091-EA3F-D491-7FAF6F40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1B063-D01C-37C8-44B7-996AD80D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5B408F-F9C2-0548-DFBA-432C6EBAB1CE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1875437-6427-4405-FCA5-AB1C33A1A670}"/>
              </a:ext>
            </a:extLst>
          </p:cNvPr>
          <p:cNvSpPr txBox="1"/>
          <p:nvPr/>
        </p:nvSpPr>
        <p:spPr>
          <a:xfrm>
            <a:off x="495300" y="1066800"/>
            <a:ext cx="83058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</a:rPr>
              <a:t>Steps to Perform EDA in Python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8. Feature Engineering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Create </a:t>
            </a:r>
            <a:r>
              <a:rPr lang="en-US" sz="2400" dirty="0">
                <a:solidFill>
                  <a:srgbClr val="FF0000"/>
                </a:solidFill>
              </a:rPr>
              <a:t>new features from existing data to improve the performance of your models.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can include creating new columns, transforming variables, and encoding categorical variables.</a:t>
            </a:r>
          </a:p>
          <a:p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AFD885-6825-70A8-D6F7-F314267FC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70" y="3854284"/>
            <a:ext cx="7993847" cy="83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541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D768B-CD1F-607E-003A-B3084B4F6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AC3C-491C-8C53-6E20-890943F75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Steps in EDA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7242A-91D7-F9F0-2A5A-48DE81390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D9127-ED39-B90A-D22C-B71426455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FD731-1EB2-0680-89E3-6F2C0A89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9CA209-E18F-875E-D6B2-3E1BE371EA4F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089A25A-B24B-4A57-B98A-A681B868C925}"/>
              </a:ext>
            </a:extLst>
          </p:cNvPr>
          <p:cNvSpPr txBox="1"/>
          <p:nvPr/>
        </p:nvSpPr>
        <p:spPr>
          <a:xfrm>
            <a:off x="495300" y="1066800"/>
            <a:ext cx="83058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</a:rPr>
              <a:t>Steps to Perform EDA in Python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9. Data Transformation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Transform variables to normalize the data and handle skewness.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Log transformation is a common technique used for this purpose.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C39847-588B-DE3F-767A-3B639767E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24" y="3217855"/>
            <a:ext cx="7550552" cy="42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104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0142A-87DB-468C-D1A7-7D9BED86D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91FD-1F89-78AA-545C-F59AAC0B0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Steps in EDA 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42E73-2F40-A58F-135D-2F57F7E51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93805-6043-DEF2-36AD-42564A621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AACBF-81E0-5563-5F05-FC8FC041C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C05AE0-94EB-E72A-A8E8-68AC2DF19FE4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EC2AEED-CB72-9216-F535-D557D7C5BAFD}"/>
              </a:ext>
            </a:extLst>
          </p:cNvPr>
          <p:cNvSpPr txBox="1"/>
          <p:nvPr/>
        </p:nvSpPr>
        <p:spPr>
          <a:xfrm>
            <a:off x="495300" y="1066800"/>
            <a:ext cx="83058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B050"/>
                </a:solidFill>
              </a:rPr>
              <a:t>Steps to Perform EDA in Python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10. Impute Missing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Impute missing values using techniques like mean, median, or mode imputation.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Advanced methods like KNN imputation can also be used.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3EF759-4636-4E95-449C-92824736E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34" y="3581400"/>
            <a:ext cx="7033331" cy="35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805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13BBF-5BAD-20EB-2DB5-A9905F9B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C82C-32AA-4111-6F6B-7DAFCF6D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Making sense of data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0DB12-9F1B-B19E-9DE5-F61D967E1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842CA-6FE5-DFA3-C5F1-2557980A8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D570E-B539-63E6-9748-B24D48DA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F171AE-2D2B-7A36-CF86-D0CF52B5335E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B8A696D-6D78-5ADC-E08D-26040C5DFFB1}"/>
              </a:ext>
            </a:extLst>
          </p:cNvPr>
          <p:cNvSpPr txBox="1"/>
          <p:nvPr/>
        </p:nvSpPr>
        <p:spPr>
          <a:xfrm>
            <a:off x="495300" y="1066800"/>
            <a:ext cx="8305800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0" i="0" dirty="0">
                <a:solidFill>
                  <a:srgbClr val="272C37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	</a:t>
            </a:r>
          </a:p>
        </p:txBody>
      </p:sp>
      <p:pic>
        <p:nvPicPr>
          <p:cNvPr id="9" name="Picture 8" descr="Untitled.png">
            <a:extLst>
              <a:ext uri="{FF2B5EF4-FFF2-40B4-BE49-F238E27FC236}">
                <a16:creationId xmlns:a16="http://schemas.microsoft.com/office/drawing/2014/main" id="{5E53E64E-22EE-5E8D-FD18-EC04DC96DBF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43000" y="1033073"/>
            <a:ext cx="6034569" cy="257530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22BB172-F4DB-58B0-991A-8E084C7117C0}"/>
              </a:ext>
            </a:extLst>
          </p:cNvPr>
          <p:cNvSpPr/>
          <p:nvPr/>
        </p:nvSpPr>
        <p:spPr>
          <a:xfrm>
            <a:off x="346173" y="3704897"/>
            <a:ext cx="7848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Qualitative data </a:t>
            </a:r>
            <a:r>
              <a:rPr lang="en-US" sz="2400" dirty="0"/>
              <a:t>refers to </a:t>
            </a:r>
            <a:r>
              <a:rPr lang="en-US" sz="2400" b="1" dirty="0">
                <a:solidFill>
                  <a:srgbClr val="FF0000"/>
                </a:solidFill>
              </a:rPr>
              <a:t>non-numerical information </a:t>
            </a:r>
            <a:r>
              <a:rPr lang="en-US" sz="2400" b="1" dirty="0"/>
              <a:t>that describes qualities, characteristics, or attributes</a:t>
            </a:r>
            <a:r>
              <a:rPr lang="en-US" sz="2400" dirty="0"/>
              <a:t>. </a:t>
            </a:r>
            <a:r>
              <a:rPr lang="en-US" sz="2400" b="1" dirty="0"/>
              <a:t>( not Measured)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Quantitative data</a:t>
            </a:r>
            <a:r>
              <a:rPr lang="en-US" sz="2400" dirty="0">
                <a:solidFill>
                  <a:srgbClr val="00B050"/>
                </a:solidFill>
              </a:rPr>
              <a:t> </a:t>
            </a:r>
            <a:r>
              <a:rPr lang="en-US" sz="2400" dirty="0"/>
              <a:t>refers to </a:t>
            </a:r>
            <a:r>
              <a:rPr lang="en-US" sz="2400" b="1" dirty="0">
                <a:solidFill>
                  <a:srgbClr val="FF0000"/>
                </a:solidFill>
              </a:rPr>
              <a:t>numerical information that can be measured and expressed with numbers</a:t>
            </a:r>
            <a:r>
              <a:rPr lang="en-US" sz="2400" dirty="0">
                <a:solidFill>
                  <a:srgbClr val="FF0000"/>
                </a:solidFill>
              </a:rPr>
              <a:t>. </a:t>
            </a:r>
          </a:p>
          <a:p>
            <a:endParaRPr lang="en-US" sz="2400" b="1" dirty="0"/>
          </a:p>
          <a:p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173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Making sense of data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CF41EA-501B-AADA-C5C5-5B05FEACFC1B}"/>
              </a:ext>
            </a:extLst>
          </p:cNvPr>
          <p:cNvSpPr txBox="1"/>
          <p:nvPr/>
        </p:nvSpPr>
        <p:spPr>
          <a:xfrm>
            <a:off x="495300" y="1066800"/>
            <a:ext cx="83058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>
                <a:solidFill>
                  <a:srgbClr val="00B050"/>
                </a:solidFill>
              </a:rPr>
              <a:t>Types of Qualitative Data:</a:t>
            </a:r>
          </a:p>
          <a:p>
            <a:pPr fontAlgn="base"/>
            <a:r>
              <a:rPr lang="en-US" sz="2800" b="1" u="sng" dirty="0">
                <a:solidFill>
                  <a:srgbClr val="FF0000"/>
                </a:solidFill>
              </a:rPr>
              <a:t>Nominal Data</a:t>
            </a:r>
            <a:r>
              <a:rPr lang="en-US" sz="2800" u="sng" dirty="0">
                <a:solidFill>
                  <a:srgbClr val="FF0000"/>
                </a:solidFill>
              </a:rPr>
              <a:t> </a:t>
            </a:r>
          </a:p>
          <a:p>
            <a:pPr fontAlgn="base">
              <a:buFont typeface="Wingdings" pitchFamily="2" charset="2"/>
              <a:buChar char="Ø"/>
            </a:pPr>
            <a:r>
              <a:rPr lang="en-US" sz="2800" dirty="0"/>
              <a:t> Categories </a:t>
            </a:r>
            <a:r>
              <a:rPr lang="en-US" sz="2800" dirty="0">
                <a:solidFill>
                  <a:srgbClr val="FF0000"/>
                </a:solidFill>
              </a:rPr>
              <a:t>without order, no meaningful </a:t>
            </a:r>
            <a:r>
              <a:rPr lang="en-US" sz="2800" dirty="0"/>
              <a:t>(e.g., gender, religion, blood group, colors).</a:t>
            </a:r>
          </a:p>
          <a:p>
            <a:r>
              <a:rPr lang="en-US" sz="2800" dirty="0"/>
              <a:t>👉 Example:</a:t>
            </a:r>
          </a:p>
          <a:p>
            <a:r>
              <a:rPr lang="en-US" sz="2800" dirty="0"/>
              <a:t>A person’s </a:t>
            </a:r>
            <a:r>
              <a:rPr lang="en-US" sz="2800" b="1" dirty="0"/>
              <a:t>eye color</a:t>
            </a:r>
            <a:r>
              <a:rPr lang="en-US" sz="2800" dirty="0"/>
              <a:t> (brown, blue, green).</a:t>
            </a:r>
          </a:p>
          <a:p>
            <a:r>
              <a:rPr lang="en-IN" b="0" i="0" dirty="0">
                <a:solidFill>
                  <a:srgbClr val="272C37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	</a:t>
            </a:r>
          </a:p>
        </p:txBody>
      </p:sp>
      <p:pic>
        <p:nvPicPr>
          <p:cNvPr id="10" name="Picture 9" descr="Untitl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3386" y="3899026"/>
            <a:ext cx="7249628" cy="180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43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Making sense of data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CF41EA-501B-AADA-C5C5-5B05FEACFC1B}"/>
              </a:ext>
            </a:extLst>
          </p:cNvPr>
          <p:cNvSpPr txBox="1"/>
          <p:nvPr/>
        </p:nvSpPr>
        <p:spPr>
          <a:xfrm>
            <a:off x="495300" y="1066800"/>
            <a:ext cx="830580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u="sng" dirty="0">
                <a:solidFill>
                  <a:srgbClr val="FF0000"/>
                </a:solidFill>
              </a:rPr>
              <a:t>Ordinal Data</a:t>
            </a:r>
            <a:endParaRPr lang="en-US" sz="2800" dirty="0"/>
          </a:p>
          <a:p>
            <a:pPr fontAlgn="base">
              <a:buFont typeface="Wingdings" pitchFamily="2" charset="2"/>
              <a:buChar char="Ø"/>
            </a:pPr>
            <a:r>
              <a:rPr lang="en-US" sz="2800" dirty="0"/>
              <a:t>Categories with a </a:t>
            </a:r>
            <a:r>
              <a:rPr lang="en-US" sz="2800" dirty="0">
                <a:solidFill>
                  <a:srgbClr val="FF0000"/>
                </a:solidFill>
              </a:rPr>
              <a:t>meaningful order</a:t>
            </a:r>
            <a:r>
              <a:rPr lang="en-US" sz="2800" dirty="0"/>
              <a:t>/ranking (e.g., feedback levels like poor, average, good, excellent).</a:t>
            </a:r>
          </a:p>
          <a:p>
            <a:r>
              <a:rPr lang="en-US" sz="2800" dirty="0"/>
              <a:t>👉 Example:</a:t>
            </a:r>
          </a:p>
          <a:p>
            <a:r>
              <a:rPr lang="en-US" sz="2800" dirty="0"/>
              <a:t>A student’s </a:t>
            </a:r>
            <a:r>
              <a:rPr lang="en-US" sz="2800" b="1" dirty="0"/>
              <a:t>grade</a:t>
            </a:r>
            <a:r>
              <a:rPr lang="en-US" sz="2800" dirty="0"/>
              <a:t> (A, B, C).</a:t>
            </a:r>
          </a:p>
          <a:p>
            <a:r>
              <a:rPr lang="en-US" sz="2800" dirty="0"/>
              <a:t>A customer’s </a:t>
            </a:r>
            <a:r>
              <a:rPr lang="en-US" sz="2800" b="1" dirty="0"/>
              <a:t>feedback</a:t>
            </a:r>
            <a:r>
              <a:rPr lang="en-US" sz="2800" dirty="0"/>
              <a:t> (“satisfied”, “unsatisfied”).</a:t>
            </a:r>
          </a:p>
          <a:p>
            <a:pPr fontAlgn="base">
              <a:buFont typeface="Wingdings" pitchFamily="2" charset="2"/>
              <a:buChar char="Ø"/>
            </a:pPr>
            <a:endParaRPr lang="en-US" sz="2800" dirty="0"/>
          </a:p>
          <a:p>
            <a:r>
              <a:rPr lang="en-IN" b="0" i="0" dirty="0">
                <a:solidFill>
                  <a:srgbClr val="272C37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	</a:t>
            </a:r>
          </a:p>
        </p:txBody>
      </p:sp>
      <p:pic>
        <p:nvPicPr>
          <p:cNvPr id="9" name="Picture 8" descr="Untitl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77755" y="4212324"/>
            <a:ext cx="6770945" cy="175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43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Making sense of data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CF41EA-501B-AADA-C5C5-5B05FEACFC1B}"/>
              </a:ext>
            </a:extLst>
          </p:cNvPr>
          <p:cNvSpPr txBox="1"/>
          <p:nvPr/>
        </p:nvSpPr>
        <p:spPr>
          <a:xfrm>
            <a:off x="495300" y="1066800"/>
            <a:ext cx="83058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Ordinal Data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IN" b="0" i="0" dirty="0">
                <a:solidFill>
                  <a:srgbClr val="272C37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	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6088" y="1724025"/>
            <a:ext cx="507682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77324" y="3839980"/>
            <a:ext cx="5172075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22343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600" b="1" dirty="0">
                <a:solidFill>
                  <a:schemeClr val="accent1"/>
                </a:solidFill>
                <a:latin typeface="+mn-lt"/>
              </a:rPr>
              <a:t>UNIT 3 – Making sense of data</a:t>
            </a:r>
            <a:r>
              <a:rPr lang="en-US" b="1" dirty="0"/>
              <a:t>	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CF41EA-501B-AADA-C5C5-5B05FEACFC1B}"/>
              </a:ext>
            </a:extLst>
          </p:cNvPr>
          <p:cNvSpPr txBox="1"/>
          <p:nvPr/>
        </p:nvSpPr>
        <p:spPr>
          <a:xfrm>
            <a:off x="495300" y="1066800"/>
            <a:ext cx="8305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Types of Quantitative Data: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Discrete Data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– </a:t>
            </a:r>
            <a:r>
              <a:rPr lang="en-US" sz="2800" dirty="0">
                <a:solidFill>
                  <a:srgbClr val="00B050"/>
                </a:solidFill>
              </a:rPr>
              <a:t>Countable values </a:t>
            </a:r>
            <a:r>
              <a:rPr lang="en-US" sz="2800" dirty="0"/>
              <a:t>(e.g., number of students in a class, number of cars).</a:t>
            </a:r>
          </a:p>
          <a:p>
            <a:r>
              <a:rPr lang="en-US" sz="2800" dirty="0"/>
              <a:t>👉 Example:</a:t>
            </a:r>
          </a:p>
          <a:p>
            <a:r>
              <a:rPr lang="en-US" sz="2800" dirty="0"/>
              <a:t>A student scored </a:t>
            </a:r>
            <a:r>
              <a:rPr lang="en-US" sz="2800" b="1" dirty="0"/>
              <a:t>85 marks</a:t>
            </a:r>
            <a:r>
              <a:rPr lang="en-US" sz="2800" dirty="0"/>
              <a:t> in mathematics.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rgbClr val="FF0000"/>
                </a:solidFill>
              </a:rPr>
              <a:t>Continuous Data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– </a:t>
            </a:r>
            <a:r>
              <a:rPr lang="en-US" sz="2800" dirty="0">
                <a:solidFill>
                  <a:srgbClr val="00B050"/>
                </a:solidFill>
              </a:rPr>
              <a:t>Measurable values </a:t>
            </a:r>
            <a:r>
              <a:rPr lang="en-US" sz="2800" dirty="0"/>
              <a:t>within a range (e.g., height, weight, temperature, time).</a:t>
            </a:r>
          </a:p>
          <a:p>
            <a:r>
              <a:rPr lang="en-US" sz="2800" dirty="0"/>
              <a:t>👉 Example:</a:t>
            </a:r>
          </a:p>
          <a:p>
            <a:r>
              <a:rPr lang="en-US" sz="2800" dirty="0"/>
              <a:t>The classroom temperature is </a:t>
            </a:r>
            <a:r>
              <a:rPr lang="en-US" sz="2800" b="1" dirty="0"/>
              <a:t>28.5°C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IN" sz="2800" b="0" i="0" dirty="0">
                <a:solidFill>
                  <a:srgbClr val="272C37"/>
                </a:solidFill>
                <a:effectLst/>
                <a:highlight>
                  <a:srgbClr val="FFFFFF"/>
                </a:highlight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22343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304800"/>
            <a:ext cx="8458200" cy="11430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sz="3200" b="1" dirty="0">
                <a:solidFill>
                  <a:schemeClr val="accent1"/>
                </a:solidFill>
                <a:latin typeface="+mn-lt"/>
              </a:rPr>
              <a:t>Comparing EDA with classical and Bayesian analysis</a:t>
            </a:r>
            <a:r>
              <a:rPr lang="en-US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diagram of data analysis&#10;&#10;Description automatically generated">
            <a:extLst>
              <a:ext uri="{FF2B5EF4-FFF2-40B4-BE49-F238E27FC236}">
                <a16:creationId xmlns:a16="http://schemas.microsoft.com/office/drawing/2014/main" id="{CB2C21A4-C0FF-5758-485A-F1EE796313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8172231" cy="4657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70372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Software tools for EDA 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638472-0A6D-9668-1642-41D8CA9C0C19}"/>
              </a:ext>
            </a:extLst>
          </p:cNvPr>
          <p:cNvSpPr txBox="1"/>
          <p:nvPr/>
        </p:nvSpPr>
        <p:spPr>
          <a:xfrm>
            <a:off x="603504" y="856501"/>
            <a:ext cx="822350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3600" b="1" dirty="0">
                <a:solidFill>
                  <a:srgbClr val="00B050"/>
                </a:solidFill>
              </a:rPr>
              <a:t>1.Python Libraries</a:t>
            </a:r>
            <a:endParaRPr lang="en-US" sz="3600" b="1" dirty="0">
              <a:solidFill>
                <a:srgbClr val="00B050"/>
              </a:solidFill>
            </a:endParaRPr>
          </a:p>
          <a:p>
            <a:r>
              <a:rPr lang="en-IN" sz="2800" b="1" dirty="0">
                <a:solidFill>
                  <a:srgbClr val="FF0000"/>
                </a:solidFill>
              </a:rPr>
              <a:t>1. Data Handling</a:t>
            </a:r>
          </a:p>
          <a:p>
            <a:r>
              <a:rPr lang="en-IN" sz="2800" b="1" dirty="0"/>
              <a:t>NumPy</a:t>
            </a:r>
            <a:r>
              <a:rPr lang="en-IN" sz="2800" dirty="0"/>
              <a:t> → For </a:t>
            </a:r>
            <a:r>
              <a:rPr lang="en-IN" sz="2800" dirty="0">
                <a:solidFill>
                  <a:srgbClr val="00B0F0"/>
                </a:solidFill>
              </a:rPr>
              <a:t>numerical operations</a:t>
            </a:r>
            <a:r>
              <a:rPr lang="en-IN" sz="2800" dirty="0"/>
              <a:t>, arrays, linear algebra.</a:t>
            </a:r>
          </a:p>
          <a:p>
            <a:r>
              <a:rPr lang="en-IN" sz="2800" b="1" dirty="0"/>
              <a:t>Pandas</a:t>
            </a:r>
            <a:r>
              <a:rPr lang="en-IN" sz="2800" dirty="0"/>
              <a:t> → For </a:t>
            </a:r>
            <a:r>
              <a:rPr lang="en-IN" sz="2800" dirty="0">
                <a:solidFill>
                  <a:srgbClr val="00B0F0"/>
                </a:solidFill>
              </a:rPr>
              <a:t>data manipulation </a:t>
            </a:r>
            <a:r>
              <a:rPr lang="en-IN" sz="2800" dirty="0"/>
              <a:t>and </a:t>
            </a:r>
            <a:r>
              <a:rPr lang="en-IN" sz="2800" dirty="0">
                <a:solidFill>
                  <a:srgbClr val="00B0F0"/>
                </a:solidFill>
              </a:rPr>
              <a:t>analysis</a:t>
            </a:r>
            <a:r>
              <a:rPr lang="en-IN" sz="2800" dirty="0"/>
              <a:t> (</a:t>
            </a:r>
            <a:r>
              <a:rPr lang="en-IN" sz="2800" dirty="0" err="1"/>
              <a:t>DataFrames</a:t>
            </a:r>
            <a:r>
              <a:rPr lang="en-IN" sz="2800" dirty="0"/>
              <a:t>, Series).</a:t>
            </a:r>
          </a:p>
          <a:p>
            <a:r>
              <a:rPr lang="en-IN" sz="2800" b="1" dirty="0">
                <a:solidFill>
                  <a:srgbClr val="FF0000"/>
                </a:solidFill>
              </a:rPr>
              <a:t>2. Data Visualization</a:t>
            </a:r>
          </a:p>
          <a:p>
            <a:r>
              <a:rPr lang="en-IN" sz="2800" b="1" dirty="0"/>
              <a:t>Matplotlib</a:t>
            </a:r>
            <a:r>
              <a:rPr lang="en-IN" sz="2800" dirty="0"/>
              <a:t> → For </a:t>
            </a:r>
            <a:r>
              <a:rPr lang="en-IN" sz="2800" dirty="0">
                <a:solidFill>
                  <a:srgbClr val="00B0F0"/>
                </a:solidFill>
              </a:rPr>
              <a:t>basic plotting </a:t>
            </a:r>
            <a:r>
              <a:rPr lang="en-IN" sz="2800" dirty="0"/>
              <a:t>(line, bar, scatter plots).</a:t>
            </a:r>
          </a:p>
          <a:p>
            <a:r>
              <a:rPr lang="en-IN" sz="2800" b="1" dirty="0"/>
              <a:t>Seaborn</a:t>
            </a:r>
            <a:r>
              <a:rPr lang="en-IN" sz="2800" dirty="0"/>
              <a:t> → For </a:t>
            </a:r>
            <a:r>
              <a:rPr lang="en-IN" sz="2800" dirty="0">
                <a:solidFill>
                  <a:srgbClr val="00B0F0"/>
                </a:solidFill>
              </a:rPr>
              <a:t>statistical visualizations </a:t>
            </a:r>
            <a:r>
              <a:rPr lang="en-IN" sz="2800" dirty="0"/>
              <a:t>(heatmaps, pair plots).</a:t>
            </a:r>
          </a:p>
          <a:p>
            <a:r>
              <a:rPr lang="en-IN" sz="2800" b="1" dirty="0" err="1"/>
              <a:t>Plotly</a:t>
            </a:r>
            <a:r>
              <a:rPr lang="en-IN" sz="2800" dirty="0"/>
              <a:t> → For </a:t>
            </a:r>
            <a:r>
              <a:rPr lang="en-IN" sz="2800" dirty="0">
                <a:solidFill>
                  <a:srgbClr val="00B0F0"/>
                </a:solidFill>
              </a:rPr>
              <a:t>interactive</a:t>
            </a:r>
            <a:r>
              <a:rPr lang="en-IN" sz="2800" dirty="0"/>
              <a:t> and </a:t>
            </a:r>
            <a:r>
              <a:rPr lang="en-IN" sz="2800" dirty="0">
                <a:solidFill>
                  <a:srgbClr val="00B0F0"/>
                </a:solidFill>
              </a:rPr>
              <a:t>dynamic visualizations</a:t>
            </a:r>
            <a:r>
              <a:rPr lang="en-IN" sz="2800" dirty="0"/>
              <a:t>.</a:t>
            </a:r>
          </a:p>
          <a:p>
            <a:r>
              <a:rPr lang="en-US" dirty="0"/>
              <a:t> </a:t>
            </a:r>
          </a:p>
          <a:p>
            <a:pPr algn="l"/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2123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Software tools for EDA 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638472-0A6D-9668-1642-41D8CA9C0C19}"/>
              </a:ext>
            </a:extLst>
          </p:cNvPr>
          <p:cNvSpPr txBox="1"/>
          <p:nvPr/>
        </p:nvSpPr>
        <p:spPr>
          <a:xfrm>
            <a:off x="603504" y="856501"/>
            <a:ext cx="822350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3600" b="1" dirty="0">
                <a:solidFill>
                  <a:srgbClr val="00B050"/>
                </a:solidFill>
              </a:rPr>
              <a:t>   1.  Python Libraries</a:t>
            </a:r>
            <a:endParaRPr lang="en-US" sz="3600" b="1" dirty="0">
              <a:solidFill>
                <a:srgbClr val="00B050"/>
              </a:solidFill>
            </a:endParaRPr>
          </a:p>
          <a:p>
            <a:r>
              <a:rPr lang="en-IN" sz="2800" b="1" dirty="0">
                <a:solidFill>
                  <a:srgbClr val="FF0000"/>
                </a:solidFill>
              </a:rPr>
              <a:t>3. Machine Learning &amp; AI</a:t>
            </a:r>
          </a:p>
          <a:p>
            <a:r>
              <a:rPr lang="en-IN" sz="2800" b="1" dirty="0"/>
              <a:t>Scikit-learn</a:t>
            </a:r>
            <a:r>
              <a:rPr lang="en-IN" sz="2800" dirty="0"/>
              <a:t> → For </a:t>
            </a:r>
            <a:r>
              <a:rPr lang="en-IN" sz="2800" dirty="0">
                <a:solidFill>
                  <a:srgbClr val="00B0F0"/>
                </a:solidFill>
              </a:rPr>
              <a:t>machine learning algorithms </a:t>
            </a:r>
            <a:r>
              <a:rPr lang="en-IN" sz="2800" dirty="0"/>
              <a:t>(classification, regression, clustering).</a:t>
            </a:r>
          </a:p>
          <a:p>
            <a:r>
              <a:rPr lang="en-IN" sz="2800" b="1" dirty="0"/>
              <a:t>TensorFlow</a:t>
            </a:r>
            <a:r>
              <a:rPr lang="en-IN" sz="2800" dirty="0"/>
              <a:t> → For </a:t>
            </a:r>
            <a:r>
              <a:rPr lang="en-IN" sz="2800" dirty="0">
                <a:solidFill>
                  <a:srgbClr val="00B0F0"/>
                </a:solidFill>
              </a:rPr>
              <a:t>deep learning and neural networks</a:t>
            </a:r>
            <a:r>
              <a:rPr lang="en-IN" sz="2800" dirty="0"/>
              <a:t>.</a:t>
            </a:r>
          </a:p>
          <a:p>
            <a:r>
              <a:rPr lang="en-IN" sz="2800" b="1" dirty="0" err="1"/>
              <a:t>PyTorch</a:t>
            </a:r>
            <a:r>
              <a:rPr lang="en-IN" sz="2800" dirty="0"/>
              <a:t> → For </a:t>
            </a:r>
            <a:r>
              <a:rPr lang="en-IN" sz="2800" dirty="0">
                <a:solidFill>
                  <a:srgbClr val="00B0F0"/>
                </a:solidFill>
              </a:rPr>
              <a:t>deep learning</a:t>
            </a:r>
            <a:r>
              <a:rPr lang="en-IN" sz="2800" dirty="0"/>
              <a:t>, </a:t>
            </a:r>
            <a:r>
              <a:rPr lang="en-IN" sz="2800" dirty="0">
                <a:solidFill>
                  <a:srgbClr val="00B0F0"/>
                </a:solidFill>
              </a:rPr>
              <a:t>flexible model building</a:t>
            </a:r>
            <a:r>
              <a:rPr lang="en-IN" sz="2800" dirty="0"/>
              <a:t>.</a:t>
            </a:r>
          </a:p>
          <a:p>
            <a:endParaRPr lang="en-IN" sz="2800" dirty="0"/>
          </a:p>
          <a:p>
            <a:r>
              <a:rPr lang="en-IN" sz="2800" b="1" dirty="0">
                <a:solidFill>
                  <a:srgbClr val="FF0000"/>
                </a:solidFill>
              </a:rPr>
              <a:t>4. Data Collection &amp; Processing</a:t>
            </a:r>
          </a:p>
          <a:p>
            <a:r>
              <a:rPr lang="en-IN" sz="2800" b="1" dirty="0"/>
              <a:t>OpenCV</a:t>
            </a:r>
            <a:r>
              <a:rPr lang="en-IN" sz="2800" dirty="0"/>
              <a:t> → For </a:t>
            </a:r>
            <a:r>
              <a:rPr lang="en-IN" sz="2800" dirty="0">
                <a:solidFill>
                  <a:srgbClr val="00B0F0"/>
                </a:solidFill>
              </a:rPr>
              <a:t>computer vision and image processing</a:t>
            </a:r>
            <a:r>
              <a:rPr lang="en-IN" sz="2800" dirty="0"/>
              <a:t>.</a:t>
            </a:r>
          </a:p>
          <a:p>
            <a:pPr algn="l"/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2123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209F8-774F-0157-8E82-027185229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F656E-D2F2-EDF2-441D-78B1C65A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Software tools for EDA 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D7103-1AF8-AA80-3804-93DFD85D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50F24-6D7C-739B-E11C-CF71A398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B425A-584C-3DCA-093C-CCDA1604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A23BE6-3E2A-910E-BDEF-D0B2058685EA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0654579-7F9E-C4EC-3E02-D42D5DE6288C}"/>
              </a:ext>
            </a:extLst>
          </p:cNvPr>
          <p:cNvSpPr txBox="1"/>
          <p:nvPr/>
        </p:nvSpPr>
        <p:spPr>
          <a:xfrm>
            <a:off x="603504" y="856501"/>
            <a:ext cx="8223504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3600" b="1" dirty="0">
                <a:solidFill>
                  <a:srgbClr val="00B050"/>
                </a:solidFill>
              </a:rPr>
              <a:t>    1. Python Libraries</a:t>
            </a:r>
            <a:endParaRPr lang="en-US" sz="3600" b="1" dirty="0">
              <a:solidFill>
                <a:srgbClr val="00B050"/>
              </a:solidFill>
            </a:endParaRPr>
          </a:p>
          <a:p>
            <a:r>
              <a:rPr lang="en-IN" sz="2800" b="1" dirty="0">
                <a:solidFill>
                  <a:srgbClr val="FF0000"/>
                </a:solidFill>
              </a:rPr>
              <a:t>5. Other Useful Libraries</a:t>
            </a:r>
          </a:p>
          <a:p>
            <a:r>
              <a:rPr lang="en-IN" sz="2800" b="1" dirty="0"/>
              <a:t>NLTK / </a:t>
            </a:r>
            <a:r>
              <a:rPr lang="en-IN" sz="2800" b="1" dirty="0" err="1"/>
              <a:t>SpaCy</a:t>
            </a:r>
            <a:r>
              <a:rPr lang="en-IN" sz="2800" dirty="0"/>
              <a:t> → For natural language processing </a:t>
            </a:r>
            <a:r>
              <a:rPr lang="en-IN" sz="2800" dirty="0">
                <a:solidFill>
                  <a:srgbClr val="00B0F0"/>
                </a:solidFill>
              </a:rPr>
              <a:t>(NLP</a:t>
            </a:r>
            <a:r>
              <a:rPr lang="en-IN" sz="2800" dirty="0"/>
              <a:t>).</a:t>
            </a:r>
          </a:p>
          <a:p>
            <a:r>
              <a:rPr lang="en-IN" sz="2800" b="1" dirty="0"/>
              <a:t>SQLite3 / </a:t>
            </a:r>
            <a:r>
              <a:rPr lang="en-IN" sz="2800" b="1" dirty="0" err="1"/>
              <a:t>SQLAlchemy</a:t>
            </a:r>
            <a:r>
              <a:rPr lang="en-IN" sz="2800" dirty="0"/>
              <a:t> → For </a:t>
            </a:r>
            <a:r>
              <a:rPr lang="en-IN" sz="2800" dirty="0">
                <a:solidFill>
                  <a:srgbClr val="00B0F0"/>
                </a:solidFill>
              </a:rPr>
              <a:t>database handling.</a:t>
            </a:r>
          </a:p>
          <a:p>
            <a:r>
              <a:rPr lang="en-IN" sz="2800" dirty="0"/>
              <a:t>.</a:t>
            </a:r>
          </a:p>
          <a:p>
            <a:pPr algn="l"/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602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Software tools for EDA 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638472-0A6D-9668-1642-41D8CA9C0C19}"/>
              </a:ext>
            </a:extLst>
          </p:cNvPr>
          <p:cNvSpPr txBox="1"/>
          <p:nvPr/>
        </p:nvSpPr>
        <p:spPr>
          <a:xfrm>
            <a:off x="603504" y="856501"/>
            <a:ext cx="8223504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00B050"/>
                </a:solidFill>
              </a:rPr>
              <a:t>2. R Libraries</a:t>
            </a:r>
            <a:endParaRPr lang="en-US" sz="3200" b="1" dirty="0">
              <a:solidFill>
                <a:srgbClr val="00B050"/>
              </a:solidFill>
            </a:endParaRPr>
          </a:p>
          <a:p>
            <a:r>
              <a:rPr lang="en-IN" sz="2800" b="1" dirty="0">
                <a:solidFill>
                  <a:srgbClr val="FF0000"/>
                </a:solidFill>
              </a:rPr>
              <a:t>1. Data Handling &amp; Manipulation</a:t>
            </a:r>
          </a:p>
          <a:p>
            <a:r>
              <a:rPr lang="en-IN" sz="2800" b="1" dirty="0" err="1"/>
              <a:t>dplyr</a:t>
            </a:r>
            <a:r>
              <a:rPr lang="en-IN" sz="2800" dirty="0"/>
              <a:t> → Data manipulation (filter, select, group, summarise).</a:t>
            </a:r>
          </a:p>
          <a:p>
            <a:r>
              <a:rPr lang="en-IN" sz="2800" b="1" dirty="0" err="1"/>
              <a:t>tidyr</a:t>
            </a:r>
            <a:r>
              <a:rPr lang="en-IN" sz="2800" dirty="0"/>
              <a:t> → Data cleaning and reshaping.</a:t>
            </a:r>
          </a:p>
          <a:p>
            <a:r>
              <a:rPr lang="en-IN" sz="2800" b="1" dirty="0" err="1"/>
              <a:t>data.table</a:t>
            </a:r>
            <a:r>
              <a:rPr lang="en-IN" sz="2800" dirty="0"/>
              <a:t> → Fast data manipulation with large datasets.</a:t>
            </a:r>
          </a:p>
          <a:p>
            <a:endParaRPr lang="en-IN" sz="2800" dirty="0"/>
          </a:p>
          <a:p>
            <a:r>
              <a:rPr lang="en-IN" sz="2800" b="1" dirty="0">
                <a:solidFill>
                  <a:srgbClr val="FF0000"/>
                </a:solidFill>
              </a:rPr>
              <a:t>2. Data Visualization</a:t>
            </a:r>
          </a:p>
          <a:p>
            <a:r>
              <a:rPr lang="en-IN" sz="2800" b="1" dirty="0"/>
              <a:t>ggplot2</a:t>
            </a:r>
            <a:r>
              <a:rPr lang="en-IN" sz="2800" dirty="0"/>
              <a:t> → Widely used for creating customizable </a:t>
            </a:r>
            <a:r>
              <a:rPr lang="en-IN" sz="2800" dirty="0">
                <a:solidFill>
                  <a:srgbClr val="00B0F0"/>
                </a:solidFill>
              </a:rPr>
              <a:t>plots and charts.</a:t>
            </a:r>
          </a:p>
          <a:p>
            <a:r>
              <a:rPr lang="en-IN" sz="2800" b="1" dirty="0" err="1"/>
              <a:t>plotly</a:t>
            </a:r>
            <a:r>
              <a:rPr lang="en-IN" sz="2800" dirty="0"/>
              <a:t> → Interactive visualizations.</a:t>
            </a:r>
          </a:p>
          <a:p>
            <a:r>
              <a:rPr lang="en-IN" sz="2800" b="1" dirty="0"/>
              <a:t>lattice</a:t>
            </a:r>
            <a:r>
              <a:rPr lang="en-IN" sz="2800" dirty="0"/>
              <a:t> → Trellis graphs for </a:t>
            </a:r>
            <a:r>
              <a:rPr lang="en-IN" sz="2800" dirty="0">
                <a:solidFill>
                  <a:srgbClr val="00B0F0"/>
                </a:solidFill>
              </a:rPr>
              <a:t>multivariate data</a:t>
            </a:r>
            <a:r>
              <a:rPr lang="en-IN" sz="2800" dirty="0"/>
              <a:t>.</a:t>
            </a:r>
          </a:p>
          <a:p>
            <a:pPr algn="l"/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579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3D808-60A6-5C9B-531B-92E5C2C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DE9B-82D3-3CB8-8F2C-CF1B0C32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Software tools for EDA 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A05FD-049F-0628-AE09-72461F63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488F7-3C45-B0CD-9594-ECE9F7D62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17BCE-A0B8-4F03-6A3A-AA57715DF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44BBEF-BB72-E205-C1F4-F7882998303A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78450C4-1F41-D96D-18F0-ECA16FA0332A}"/>
              </a:ext>
            </a:extLst>
          </p:cNvPr>
          <p:cNvSpPr txBox="1"/>
          <p:nvPr/>
        </p:nvSpPr>
        <p:spPr>
          <a:xfrm>
            <a:off x="603504" y="856501"/>
            <a:ext cx="8223504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00B050"/>
                </a:solidFill>
              </a:rPr>
              <a:t>2. R Libraries</a:t>
            </a:r>
            <a:endParaRPr lang="en-US" sz="3200" b="1" dirty="0">
              <a:solidFill>
                <a:srgbClr val="00B050"/>
              </a:solidFill>
            </a:endParaRPr>
          </a:p>
          <a:p>
            <a:r>
              <a:rPr lang="en-IN" sz="2800" b="1" dirty="0">
                <a:solidFill>
                  <a:srgbClr val="FF0000"/>
                </a:solidFill>
              </a:rPr>
              <a:t>3. Statistical Analysis</a:t>
            </a:r>
          </a:p>
          <a:p>
            <a:r>
              <a:rPr lang="en-IN" sz="2800" b="1" dirty="0"/>
              <a:t>stats</a:t>
            </a:r>
            <a:r>
              <a:rPr lang="en-IN" sz="2800" dirty="0"/>
              <a:t> → Built-in R package for statistical tests.</a:t>
            </a:r>
          </a:p>
          <a:p>
            <a:r>
              <a:rPr lang="en-IN" sz="2800" b="1" dirty="0"/>
              <a:t>MASS</a:t>
            </a:r>
            <a:r>
              <a:rPr lang="en-IN" sz="2800" dirty="0"/>
              <a:t> → Functions and datasets for applied statistics.</a:t>
            </a:r>
          </a:p>
          <a:p>
            <a:r>
              <a:rPr lang="en-IN" sz="2800" b="1" dirty="0"/>
              <a:t>survival</a:t>
            </a:r>
            <a:r>
              <a:rPr lang="en-IN" sz="2800" dirty="0"/>
              <a:t> → For survival analysis.</a:t>
            </a:r>
          </a:p>
          <a:p>
            <a:endParaRPr lang="en-IN" sz="2800" dirty="0"/>
          </a:p>
          <a:p>
            <a:r>
              <a:rPr lang="en-IN" sz="2800" b="1" dirty="0">
                <a:solidFill>
                  <a:srgbClr val="FF0000"/>
                </a:solidFill>
              </a:rPr>
              <a:t>4. Machine Learning &amp; AI</a:t>
            </a:r>
          </a:p>
          <a:p>
            <a:r>
              <a:rPr lang="en-IN" sz="2800" b="1" dirty="0"/>
              <a:t>caret</a:t>
            </a:r>
            <a:r>
              <a:rPr lang="en-IN" sz="2800" dirty="0"/>
              <a:t> → For classification and regression training.</a:t>
            </a:r>
          </a:p>
          <a:p>
            <a:r>
              <a:rPr lang="en-IN" sz="2800" b="1" dirty="0" err="1"/>
              <a:t>randomForest</a:t>
            </a:r>
            <a:r>
              <a:rPr lang="en-IN" sz="2800" dirty="0"/>
              <a:t> → For random forest models..</a:t>
            </a:r>
          </a:p>
          <a:p>
            <a:pPr algn="l"/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2496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4531-0183-4F6A-91FA-94A272F58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4EC6A-8C04-33EC-8857-8E2D69151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Software tools for EDA 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03EC1-F7DC-F8FD-06C4-37F07207A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79F30-F2B0-E747-0F2F-52C1CC6D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EAC08-4C68-A6E7-5E69-F198A618C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70C966-F1BF-9F86-2ACD-3427E097A67D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9ECC9A-1F38-91EB-FAA1-8D609A9DA65B}"/>
              </a:ext>
            </a:extLst>
          </p:cNvPr>
          <p:cNvSpPr txBox="1"/>
          <p:nvPr/>
        </p:nvSpPr>
        <p:spPr>
          <a:xfrm>
            <a:off x="603504" y="856501"/>
            <a:ext cx="8223504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00B050"/>
                </a:solidFill>
              </a:rPr>
              <a:t>2. R Libraries</a:t>
            </a:r>
            <a:endParaRPr lang="en-US" sz="3200" b="1" dirty="0">
              <a:solidFill>
                <a:srgbClr val="00B050"/>
              </a:solidFill>
            </a:endParaRPr>
          </a:p>
          <a:p>
            <a:r>
              <a:rPr lang="en-IN" sz="2800" b="1" dirty="0">
                <a:solidFill>
                  <a:srgbClr val="FF0000"/>
                </a:solidFill>
              </a:rPr>
              <a:t>5. Text &amp; Web Data</a:t>
            </a:r>
          </a:p>
          <a:p>
            <a:r>
              <a:rPr lang="en-IN" sz="2800" b="1" dirty="0"/>
              <a:t>tm</a:t>
            </a:r>
            <a:r>
              <a:rPr lang="en-IN" sz="2800" dirty="0"/>
              <a:t> → Text mining.</a:t>
            </a:r>
          </a:p>
          <a:p>
            <a:r>
              <a:rPr lang="en-IN" sz="2800" b="1" dirty="0" err="1"/>
              <a:t>stringr</a:t>
            </a:r>
            <a:r>
              <a:rPr lang="en-IN" sz="2800" dirty="0"/>
              <a:t> → String manipulation.</a:t>
            </a:r>
          </a:p>
          <a:p>
            <a:r>
              <a:rPr lang="en-IN" sz="2800" b="1" dirty="0" err="1"/>
              <a:t>rvest</a:t>
            </a:r>
            <a:r>
              <a:rPr lang="en-IN" sz="2800" dirty="0"/>
              <a:t> → Web scraping.</a:t>
            </a:r>
          </a:p>
          <a:p>
            <a:endParaRPr lang="en-IN" sz="2800" dirty="0"/>
          </a:p>
          <a:p>
            <a:r>
              <a:rPr lang="en-IN" sz="2800" b="1" dirty="0">
                <a:solidFill>
                  <a:srgbClr val="FF0000"/>
                </a:solidFill>
              </a:rPr>
              <a:t>6. Other Useful Libraries</a:t>
            </a:r>
          </a:p>
          <a:p>
            <a:r>
              <a:rPr lang="en-IN" sz="2800" b="1" dirty="0"/>
              <a:t>shiny</a:t>
            </a:r>
            <a:r>
              <a:rPr lang="en-IN" sz="2800" dirty="0"/>
              <a:t> → For interactive web applications.</a:t>
            </a:r>
          </a:p>
          <a:p>
            <a:r>
              <a:rPr lang="en-IN" sz="2800" b="1" dirty="0"/>
              <a:t>forecast</a:t>
            </a:r>
            <a:r>
              <a:rPr lang="en-IN" sz="2800" dirty="0"/>
              <a:t> → Time series forecasting.</a:t>
            </a:r>
          </a:p>
          <a:p>
            <a:r>
              <a:rPr lang="en-IN" sz="2800" b="1" dirty="0" err="1"/>
              <a:t>lubridate</a:t>
            </a:r>
            <a:r>
              <a:rPr lang="en-IN" sz="2800" dirty="0"/>
              <a:t> → Date and time handling.</a:t>
            </a:r>
          </a:p>
          <a:p>
            <a:pPr algn="l"/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7011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Software tools for EDA 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638472-0A6D-9668-1642-41D8CA9C0C19}"/>
              </a:ext>
            </a:extLst>
          </p:cNvPr>
          <p:cNvSpPr txBox="1"/>
          <p:nvPr/>
        </p:nvSpPr>
        <p:spPr>
          <a:xfrm>
            <a:off x="603504" y="856501"/>
            <a:ext cx="822350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B050"/>
                </a:solidFill>
              </a:rPr>
              <a:t>3</a:t>
            </a:r>
            <a:r>
              <a:rPr lang="en-IN" sz="2800" dirty="0"/>
              <a:t>. </a:t>
            </a:r>
            <a:r>
              <a:rPr lang="en-IN" sz="2800" b="1" dirty="0">
                <a:solidFill>
                  <a:srgbClr val="00B050"/>
                </a:solidFill>
              </a:rPr>
              <a:t>Integrated Development Environments (IDEs)</a:t>
            </a:r>
            <a:endParaRPr lang="en-US" sz="2800" b="1" dirty="0">
              <a:solidFill>
                <a:srgbClr val="00B050"/>
              </a:solidFill>
            </a:endParaRPr>
          </a:p>
          <a:p>
            <a:pPr lvl="0"/>
            <a:r>
              <a:rPr lang="en-US" sz="2800" dirty="0">
                <a:solidFill>
                  <a:srgbClr val="0070C0"/>
                </a:solidFill>
              </a:rPr>
              <a:t>  </a:t>
            </a:r>
            <a:r>
              <a:rPr lang="en-US" sz="2800" b="1" dirty="0" err="1">
                <a:solidFill>
                  <a:srgbClr val="0070C0"/>
                </a:solidFill>
              </a:rPr>
              <a:t>Jupyter</a:t>
            </a:r>
            <a:r>
              <a:rPr lang="en-US" sz="2800" b="1" dirty="0">
                <a:solidFill>
                  <a:srgbClr val="0070C0"/>
                </a:solidFill>
              </a:rPr>
              <a:t> Notebook: </a:t>
            </a:r>
          </a:p>
          <a:p>
            <a:pPr lvl="1">
              <a:buFont typeface="Arial" pitchFamily="34" charset="0"/>
              <a:buChar char="•"/>
            </a:pPr>
            <a:r>
              <a:rPr lang="en-US" sz="2800" dirty="0"/>
              <a:t>An </a:t>
            </a:r>
            <a:r>
              <a:rPr lang="en-US" sz="2800" dirty="0">
                <a:solidFill>
                  <a:srgbClr val="FF0000"/>
                </a:solidFill>
              </a:rPr>
              <a:t>open-source web application </a:t>
            </a:r>
            <a:r>
              <a:rPr lang="en-US" sz="2800" dirty="0"/>
              <a:t>that allows you to create and share documents that contain live </a:t>
            </a:r>
            <a:r>
              <a:rPr lang="en-US" sz="2800" dirty="0">
                <a:solidFill>
                  <a:srgbClr val="FF0000"/>
                </a:solidFill>
              </a:rPr>
              <a:t>code, equations, visualizations, and narrative text.</a:t>
            </a:r>
          </a:p>
          <a:p>
            <a:pPr lvl="0"/>
            <a:endParaRPr lang="en-US" sz="2800" dirty="0">
              <a:solidFill>
                <a:srgbClr val="0070C0"/>
              </a:solidFill>
            </a:endParaRPr>
          </a:p>
          <a:p>
            <a:pPr lvl="0"/>
            <a:r>
              <a:rPr lang="en-US" sz="2800" dirty="0">
                <a:solidFill>
                  <a:srgbClr val="0070C0"/>
                </a:solidFill>
              </a:rPr>
              <a:t>  </a:t>
            </a:r>
            <a:r>
              <a:rPr lang="en-US" sz="2800" b="1" dirty="0" err="1">
                <a:solidFill>
                  <a:srgbClr val="0070C0"/>
                </a:solidFill>
              </a:rPr>
              <a:t>RStudio</a:t>
            </a:r>
            <a:r>
              <a:rPr lang="en-US" sz="2800" b="1" dirty="0">
                <a:solidFill>
                  <a:srgbClr val="0070C0"/>
                </a:solidFill>
              </a:rPr>
              <a:t>:  </a:t>
            </a:r>
          </a:p>
          <a:p>
            <a:pPr lvl="1">
              <a:buFont typeface="Wingdings" pitchFamily="2" charset="2"/>
              <a:buChar char="§"/>
            </a:pPr>
            <a:r>
              <a:rPr lang="en-US" sz="2800" dirty="0">
                <a:solidFill>
                  <a:srgbClr val="0070C0"/>
                </a:solidFill>
              </a:rPr>
              <a:t>  </a:t>
            </a:r>
            <a:r>
              <a:rPr lang="en-US" sz="2800" dirty="0"/>
              <a:t>An integrated development environment for </a:t>
            </a:r>
            <a:r>
              <a:rPr lang="en-US" sz="2800" u="sng" dirty="0"/>
              <a:t>R</a:t>
            </a:r>
            <a:r>
              <a:rPr lang="en-US" sz="2800" dirty="0"/>
              <a:t> that offers tools for </a:t>
            </a:r>
            <a:r>
              <a:rPr lang="en-US" sz="2800" dirty="0">
                <a:solidFill>
                  <a:srgbClr val="FF0000"/>
                </a:solidFill>
              </a:rPr>
              <a:t>writing and debugging code, building software, and analyzing data.</a:t>
            </a:r>
          </a:p>
          <a:p>
            <a:pPr lvl="1"/>
            <a:endParaRPr lang="en-US" sz="2800" dirty="0"/>
          </a:p>
          <a:p>
            <a:pPr lvl="1">
              <a:buFont typeface="Arial" pitchFamily="34" charset="0"/>
              <a:buChar char="•"/>
            </a:pPr>
            <a:r>
              <a:rPr lang="en-US" sz="2800" dirty="0"/>
              <a:t> Use: R development and analysis.</a:t>
            </a:r>
          </a:p>
          <a:p>
            <a:pPr algn="l"/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7942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Software tools for EDA 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638472-0A6D-9668-1642-41D8CA9C0C19}"/>
              </a:ext>
            </a:extLst>
          </p:cNvPr>
          <p:cNvSpPr txBox="1"/>
          <p:nvPr/>
        </p:nvSpPr>
        <p:spPr>
          <a:xfrm>
            <a:off x="603504" y="856501"/>
            <a:ext cx="822350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B050"/>
                </a:solidFill>
              </a:rPr>
              <a:t>4. Data Visualization Tools</a:t>
            </a:r>
          </a:p>
          <a:p>
            <a:pPr lvl="0"/>
            <a:r>
              <a:rPr lang="en-US" sz="3600" b="1" dirty="0">
                <a:solidFill>
                  <a:srgbClr val="0070C0"/>
                </a:solidFill>
              </a:rPr>
              <a:t>  Tableau: 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dirty="0"/>
              <a:t>A top </a:t>
            </a:r>
            <a:r>
              <a:rPr lang="en-US" sz="3200" dirty="0">
                <a:solidFill>
                  <a:srgbClr val="00B050"/>
                </a:solidFill>
              </a:rPr>
              <a:t>data visualization tool </a:t>
            </a:r>
            <a:r>
              <a:rPr lang="en-US" sz="3200" dirty="0"/>
              <a:t>that facilitates to create </a:t>
            </a:r>
            <a:r>
              <a:rPr lang="en-US" sz="3200" dirty="0">
                <a:solidFill>
                  <a:srgbClr val="00B050"/>
                </a:solidFill>
              </a:rPr>
              <a:t>charts and dashboards</a:t>
            </a:r>
            <a:r>
              <a:rPr lang="en-US" sz="3200" dirty="0"/>
              <a:t>.</a:t>
            </a:r>
          </a:p>
          <a:p>
            <a:pPr lvl="1"/>
            <a:r>
              <a:rPr lang="en-US" sz="3600" b="1" dirty="0">
                <a:solidFill>
                  <a:srgbClr val="0070C0"/>
                </a:solidFill>
              </a:rPr>
              <a:t>Power BI: </a:t>
            </a:r>
          </a:p>
          <a:p>
            <a:pPr lvl="1">
              <a:buFont typeface="Arial" pitchFamily="34" charset="0"/>
              <a:buChar char="•"/>
            </a:pPr>
            <a:r>
              <a:rPr lang="en-US" sz="3200" dirty="0"/>
              <a:t>A Microsoft </a:t>
            </a:r>
            <a:r>
              <a:rPr lang="en-US" sz="3200" dirty="0">
                <a:solidFill>
                  <a:srgbClr val="00B050"/>
                </a:solidFill>
              </a:rPr>
              <a:t>business analytics service </a:t>
            </a:r>
            <a:r>
              <a:rPr lang="en-US" sz="3200" dirty="0"/>
              <a:t>offering interactive </a:t>
            </a:r>
            <a:r>
              <a:rPr lang="en-US" sz="3200" dirty="0">
                <a:solidFill>
                  <a:srgbClr val="00B050"/>
                </a:solidFill>
              </a:rPr>
              <a:t>visualizations and business intelligence features.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Use: </a:t>
            </a:r>
            <a:r>
              <a:rPr lang="en-US" sz="3200" dirty="0"/>
              <a:t>Interactive reports and dashboards.</a:t>
            </a:r>
          </a:p>
          <a:p>
            <a:r>
              <a:rPr lang="en-US" dirty="0"/>
              <a:t> </a:t>
            </a:r>
          </a:p>
          <a:p>
            <a:pPr algn="l"/>
            <a:endParaRPr lang="en-IN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4698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C7E59-A2F8-3309-E45E-227F79BE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D7D84-FF65-29A3-EA90-1CB78824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EB395-6940-B12A-BF87-6A88DC03B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F5F68-73A8-2040-CCC5-3C060BD5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08BC4-700E-C3E2-260F-65F357F7B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153963-C056-14E8-DD04-C4143A8EE85B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F0EE128-57F3-D0BB-F206-3B4E2210B3F6}"/>
              </a:ext>
            </a:extLst>
          </p:cNvPr>
          <p:cNvSpPr txBox="1"/>
          <p:nvPr/>
        </p:nvSpPr>
        <p:spPr>
          <a:xfrm>
            <a:off x="603504" y="856501"/>
            <a:ext cx="822350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highlight>
                  <a:srgbClr val="FFFFFF"/>
                </a:highlight>
              </a:rPr>
              <a:t>Data transformation is the process of </a:t>
            </a:r>
            <a:r>
              <a:rPr lang="en-US" sz="3200" b="1" dirty="0">
                <a:solidFill>
                  <a:srgbClr val="FF0000"/>
                </a:solidFill>
                <a:highlight>
                  <a:srgbClr val="FFFFFF"/>
                </a:highlight>
              </a:rPr>
              <a:t>converting raw data into a usable format</a:t>
            </a:r>
            <a:r>
              <a:rPr lang="en-US" sz="3200" dirty="0">
                <a:highlight>
                  <a:srgbClr val="FFFFFF"/>
                </a:highlight>
              </a:rPr>
              <a:t> </a:t>
            </a:r>
            <a:r>
              <a:rPr lang="en-US" sz="3200" dirty="0">
                <a:solidFill>
                  <a:srgbClr val="00B050"/>
                </a:solidFill>
                <a:highlight>
                  <a:srgbClr val="FFFFFF"/>
                </a:highlight>
              </a:rPr>
              <a:t>for analysis, modeling, or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highlight>
                  <a:srgbClr val="FFFFFF"/>
                </a:highlight>
              </a:rPr>
              <a:t> It helps improve </a:t>
            </a:r>
            <a:r>
              <a:rPr lang="en-US" sz="3200" dirty="0">
                <a:solidFill>
                  <a:srgbClr val="00B050"/>
                </a:solidFill>
                <a:highlight>
                  <a:srgbClr val="FFFFFF"/>
                </a:highlight>
              </a:rPr>
              <a:t>data quality, consistency, and interpretability.</a:t>
            </a:r>
            <a:endParaRPr lang="en-IN" sz="3200" b="0" i="0" dirty="0">
              <a:solidFill>
                <a:srgbClr val="00B050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7131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F8CCC-1686-CA03-5829-6171CCA8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CBD8-E96E-FE85-C884-E52FA0E83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B9B3E-4754-D46B-EAA3-51902250E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9EE81E-8E14-BF2A-6E3B-3E756FDA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5F3FD-FFE5-45F1-6107-B1B25A5A5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008A41C-6C0F-A5B7-CA88-9D3F05F43E28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B66F3DE-27CC-4E2E-4166-CD7E96E4334B}"/>
              </a:ext>
            </a:extLst>
          </p:cNvPr>
          <p:cNvSpPr txBox="1"/>
          <p:nvPr/>
        </p:nvSpPr>
        <p:spPr>
          <a:xfrm>
            <a:off x="603504" y="856501"/>
            <a:ext cx="82235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1. Data Cleaning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highlight>
                  <a:srgbClr val="FFFFFF"/>
                </a:highlight>
              </a:rPr>
              <a:t>Handling missing values (imputation, removal, interpolation).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highlight>
                  <a:srgbClr val="FFFFFF"/>
                </a:highlight>
              </a:rPr>
              <a:t>Removing duplicates.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highlight>
                  <a:srgbClr val="FFFFFF"/>
                </a:highlight>
              </a:rPr>
              <a:t>Correcting inconsistent data (e.g., "M" vs "Male").</a:t>
            </a:r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1960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BE99C-BF77-A3A0-6608-FE1BA5B5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7B937-4861-F904-9D14-ACCCAA88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192E6-6A52-A182-FCF9-CF92827A1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87D69-F89A-524E-7BDB-6ABF4944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DC8C8-7369-EBC8-363A-EB8B1E515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492A7E-6913-E710-6D35-7CF41F8AF14E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7B9995-A799-887C-E777-4211B0C81993}"/>
              </a:ext>
            </a:extLst>
          </p:cNvPr>
          <p:cNvSpPr txBox="1"/>
          <p:nvPr/>
        </p:nvSpPr>
        <p:spPr>
          <a:xfrm>
            <a:off x="603504" y="856501"/>
            <a:ext cx="822350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2. </a:t>
            </a:r>
            <a:r>
              <a:rPr lang="en-IN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Scaling</a:t>
            </a:r>
          </a:p>
          <a:p>
            <a:pPr algn="ctr"/>
            <a:endParaRPr lang="en-IN" sz="3200" b="1" dirty="0">
              <a:solidFill>
                <a:srgbClr val="00B050"/>
              </a:solidFill>
              <a:highlight>
                <a:srgbClr val="FFFFFF"/>
              </a:highligh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Adjusts the range of features.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rgbClr val="FF0000"/>
                </a:solidFill>
              </a:rPr>
              <a:t>Techniques:</a:t>
            </a: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Min-Max Scaling → transforms values to [0,1].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Standardization (Z-score) → mean = 0, std = 1.</a:t>
            </a:r>
            <a:r>
              <a:rPr lang="en-IN" sz="2800" dirty="0">
                <a:highlight>
                  <a:srgbClr val="FFFFFF"/>
                </a:highlight>
              </a:rPr>
              <a:t> </a:t>
            </a:r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9401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F4808-43D6-7FEB-CE16-ACA632B5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16AD4-DE1B-F649-BDC6-E943F9855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3A192-93F1-94FB-C899-066F23F7E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972B4-AC3C-D7DB-7FB5-02853329A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B0B63-E031-A2D9-CA5C-566284D01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18057E-27E8-25BF-3CAE-E40FD4895FB5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07839B2-7839-A140-8C5C-E0F96F9BFBA3}"/>
              </a:ext>
            </a:extLst>
          </p:cNvPr>
          <p:cNvSpPr txBox="1"/>
          <p:nvPr/>
        </p:nvSpPr>
        <p:spPr>
          <a:xfrm>
            <a:off x="603504" y="856501"/>
            <a:ext cx="822350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2. </a:t>
            </a:r>
            <a:r>
              <a:rPr lang="en-IN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Scaling </a:t>
            </a:r>
          </a:p>
          <a:p>
            <a:pPr algn="ctr"/>
            <a:r>
              <a:rPr lang="en-US" sz="3200" b="1" u="sng" dirty="0">
                <a:solidFill>
                  <a:srgbClr val="FF0000"/>
                </a:solidFill>
                <a:highlight>
                  <a:srgbClr val="FFFFFF"/>
                </a:highlight>
              </a:rPr>
              <a:t>1.Min-Max Scaling</a:t>
            </a:r>
            <a:endParaRPr lang="en-US" sz="3200" u="sng" dirty="0">
              <a:solidFill>
                <a:srgbClr val="FF0000"/>
              </a:solidFill>
              <a:highlight>
                <a:srgbClr val="FFFFFF"/>
              </a:highlight>
            </a:endParaRPr>
          </a:p>
          <a:p>
            <a:endParaRPr lang="en-IN" sz="3200" dirty="0"/>
          </a:p>
          <a:p>
            <a:endParaRPr lang="en-IN" sz="3200" dirty="0"/>
          </a:p>
          <a:p>
            <a:r>
              <a:rPr lang="en-IN" sz="3200" dirty="0"/>
              <a:t>This rescales values into the range </a:t>
            </a:r>
            <a:r>
              <a:rPr lang="en-IN" sz="3200" b="1" dirty="0"/>
              <a:t>[0, 1]</a:t>
            </a:r>
            <a:r>
              <a:rPr lang="en-IN" sz="3200" dirty="0"/>
              <a:t>.</a:t>
            </a:r>
          </a:p>
          <a:p>
            <a:endParaRPr lang="en-US" sz="3200" dirty="0">
              <a:highlight>
                <a:srgbClr val="FFFFFF"/>
              </a:highlight>
            </a:endParaRPr>
          </a:p>
          <a:p>
            <a:r>
              <a:rPr lang="en-IN" sz="3200" b="1" dirty="0">
                <a:highlight>
                  <a:srgbClr val="FFFFFF"/>
                </a:highlight>
              </a:rPr>
              <a:t>Example Dataset:</a:t>
            </a:r>
          </a:p>
          <a:p>
            <a:r>
              <a:rPr lang="en-IN" sz="3200" dirty="0">
                <a:highlight>
                  <a:srgbClr val="FFFFFF"/>
                </a:highlight>
              </a:rPr>
              <a:t>Original exam scores = </a:t>
            </a:r>
            <a:r>
              <a:rPr lang="en-IN" sz="3200" b="1" dirty="0">
                <a:highlight>
                  <a:srgbClr val="FFFFFF"/>
                </a:highlight>
              </a:rPr>
              <a:t>[20, 50, 80, 100]</a:t>
            </a:r>
            <a:endParaRPr lang="en-IN" sz="3200" dirty="0">
              <a:highlight>
                <a:srgbClr val="FFFFFF"/>
              </a:highlight>
            </a:endParaRPr>
          </a:p>
          <a:p>
            <a:r>
              <a:rPr lang="en-IN" sz="3200" dirty="0">
                <a:highlight>
                  <a:srgbClr val="FFFFFF"/>
                </a:highlight>
              </a:rPr>
              <a:t>Minimum = 20</a:t>
            </a:r>
          </a:p>
          <a:p>
            <a:r>
              <a:rPr lang="en-IN" sz="3200" dirty="0">
                <a:highlight>
                  <a:srgbClr val="FFFFFF"/>
                </a:highlight>
              </a:rPr>
              <a:t>Maximum = 100</a:t>
            </a:r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2DA43D-A1C9-1EEE-3E7A-25B974C12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905000"/>
            <a:ext cx="2963330" cy="91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704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1ECD5-B78E-0CCE-7E29-7B81DE79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9E12F-FBD8-9E1D-B14D-72062C1A4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83BF1-6FE3-D09E-94F3-ECF00B21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2B8237-1540-65CE-EB40-6357049C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86E91-3E54-6C0F-A02C-5400512AF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74D37C-236E-C2FA-E4CA-48AC4125039F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05B66F4-7068-0171-501B-5945FF24E6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095" y="1045149"/>
            <a:ext cx="4700618" cy="32942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ACCBA2-B471-7F24-7B47-7FF8A5D213E7}"/>
              </a:ext>
            </a:extLst>
          </p:cNvPr>
          <p:cNvSpPr txBox="1"/>
          <p:nvPr/>
        </p:nvSpPr>
        <p:spPr>
          <a:xfrm>
            <a:off x="2438400" y="4755989"/>
            <a:ext cx="45794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>
                <a:solidFill>
                  <a:srgbClr val="FF0000"/>
                </a:solidFill>
              </a:rPr>
              <a:t>Final Normalized Values:</a:t>
            </a:r>
          </a:p>
          <a:p>
            <a:pPr>
              <a:buNone/>
            </a:pPr>
            <a:r>
              <a:rPr lang="en-US" dirty="0"/>
              <a:t>Original → [20, 50, 80, 100]</a:t>
            </a:r>
            <a:br>
              <a:rPr lang="en-US" dirty="0"/>
            </a:br>
            <a:r>
              <a:rPr lang="en-US" dirty="0"/>
              <a:t>Scaled → [0, 0.375, 0.75, 1]</a:t>
            </a:r>
          </a:p>
        </p:txBody>
      </p:sp>
    </p:spTree>
    <p:extLst>
      <p:ext uri="{BB962C8B-B14F-4D97-AF65-F5344CB8AC3E}">
        <p14:creationId xmlns:p14="http://schemas.microsoft.com/office/powerpoint/2010/main" val="3636103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24315-2377-1D5F-30DE-98197A9AF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B400-32E8-D508-283F-B29AC597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B703-39F7-D46F-A259-20CA7D97E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A9B19-0C0D-72F9-D283-AB2B00C70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A70DF-0D60-EC28-BC67-2C80E39BF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CCBDB9-D169-9C0D-A6FF-1FF7F4360CAB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A3FFB95-E33B-7D51-269A-EF379BCFBE09}"/>
              </a:ext>
            </a:extLst>
          </p:cNvPr>
          <p:cNvSpPr txBox="1"/>
          <p:nvPr/>
        </p:nvSpPr>
        <p:spPr>
          <a:xfrm>
            <a:off x="603504" y="856501"/>
            <a:ext cx="82235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u="sng" dirty="0">
                <a:solidFill>
                  <a:srgbClr val="FF0000"/>
                </a:solidFill>
                <a:highlight>
                  <a:srgbClr val="FFFFFF"/>
                </a:highlight>
              </a:rPr>
              <a:t>2. Standardization (Z-score):</a:t>
            </a:r>
            <a:r>
              <a:rPr lang="en-US" sz="2800" u="sng" dirty="0">
                <a:solidFill>
                  <a:srgbClr val="FF0000"/>
                </a:solidFill>
                <a:highlight>
                  <a:srgbClr val="FFFFFF"/>
                </a:highlight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FFFF"/>
                </a:highlight>
              </a:rPr>
              <a:t>Converts data to mean = 0 and standard deviation = 1.</a:t>
            </a:r>
          </a:p>
          <a:p>
            <a:endParaRPr lang="en-US" sz="3200" dirty="0">
              <a:highlight>
                <a:srgbClr val="FFFFFF"/>
              </a:highlight>
            </a:endParaRPr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C2E30F-6A58-DE29-2FC4-C037593B5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057400"/>
            <a:ext cx="5638800" cy="356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37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14E0D-B4EC-6591-0D85-5AF79BE67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0D05A-3FAF-A784-1E9A-EBCAE7AD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4C877-FB33-45D4-E929-E0ED54DA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46EAC-18AB-B693-67AD-333A8A6A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E1202-2D92-A3D7-67A8-F2BC801F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166D9A-1C88-F2F9-BFA1-74328361FC5E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B48DE7A-FC7F-7E6E-4367-B6F2BA506E11}"/>
              </a:ext>
            </a:extLst>
          </p:cNvPr>
          <p:cNvSpPr txBox="1"/>
          <p:nvPr/>
        </p:nvSpPr>
        <p:spPr>
          <a:xfrm>
            <a:off x="603504" y="856501"/>
            <a:ext cx="82235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ighlight>
                  <a:srgbClr val="FFFFFF"/>
                </a:highlight>
              </a:rPr>
              <a:t>Techniques: 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</a:rPr>
              <a:t>Standardization (Z-score):</a:t>
            </a:r>
          </a:p>
          <a:p>
            <a:r>
              <a:rPr lang="en-IN" sz="2400" b="1" dirty="0"/>
              <a:t>Example Dataset:</a:t>
            </a:r>
          </a:p>
          <a:p>
            <a:r>
              <a:rPr lang="en-IN" sz="2400" dirty="0"/>
              <a:t>Values = </a:t>
            </a:r>
            <a:r>
              <a:rPr lang="en-IN" sz="2400" b="1" dirty="0"/>
              <a:t>[10, 20, 30, 40, 50]</a:t>
            </a:r>
            <a:endParaRPr lang="en-IN" sz="2400" dirty="0"/>
          </a:p>
          <a:p>
            <a:r>
              <a:rPr lang="en-IN" sz="2400" dirty="0"/>
              <a:t>Mean (</a:t>
            </a:r>
            <a:r>
              <a:rPr lang="el-GR" sz="2400" dirty="0"/>
              <a:t>μ) = (10+20+30+40+50)/5 = </a:t>
            </a:r>
            <a:r>
              <a:rPr lang="el-GR" sz="2400" b="1" dirty="0"/>
              <a:t>30</a:t>
            </a:r>
            <a:endParaRPr lang="el-GR" sz="2400" dirty="0"/>
          </a:p>
          <a:p>
            <a:r>
              <a:rPr lang="en-IN" sz="2400" dirty="0"/>
              <a:t>Standard deviation (</a:t>
            </a:r>
            <a:r>
              <a:rPr lang="el-GR" sz="2400" dirty="0"/>
              <a:t>σ) ≈ </a:t>
            </a:r>
            <a:r>
              <a:rPr lang="el-GR" sz="2400" b="1" dirty="0"/>
              <a:t>14.14</a:t>
            </a:r>
            <a:endParaRPr lang="en-US" sz="2400" b="1" dirty="0"/>
          </a:p>
          <a:p>
            <a:endParaRPr lang="el-GR" sz="2400" dirty="0"/>
          </a:p>
          <a:p>
            <a:endParaRPr lang="en-US" sz="2400" dirty="0">
              <a:highlight>
                <a:srgbClr val="FFFFFF"/>
              </a:highlight>
            </a:endParaRPr>
          </a:p>
          <a:p>
            <a:endParaRPr lang="en-US" sz="3200" dirty="0">
              <a:highlight>
                <a:srgbClr val="FFFFFF"/>
              </a:highlight>
            </a:endParaRPr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9463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9D8F-2B61-E65A-1E2E-8CB184AC2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FD93-39A2-02D2-DE96-52D151D3B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A45C9-E569-A3BB-E592-6E56109F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699A1-1B1F-8762-746B-F9278FFE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2A86D-4179-A488-7B0B-FE3D5F0E3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F68584-1CAA-B9F6-F382-CC5A8246877B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76FB734-257D-3E98-B7FD-418124679D31}"/>
              </a:ext>
            </a:extLst>
          </p:cNvPr>
          <p:cNvSpPr txBox="1"/>
          <p:nvPr/>
        </p:nvSpPr>
        <p:spPr>
          <a:xfrm>
            <a:off x="603504" y="856501"/>
            <a:ext cx="82235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highlight>
                  <a:srgbClr val="FFFFFF"/>
                </a:highlight>
              </a:rPr>
              <a:t>Techniques:</a:t>
            </a:r>
            <a:r>
              <a:rPr lang="en-US" sz="2400" b="1" dirty="0" err="1">
                <a:solidFill>
                  <a:srgbClr val="FF0000"/>
                </a:solidFill>
                <a:highlight>
                  <a:srgbClr val="FFFFFF"/>
                </a:highlight>
              </a:rPr>
              <a:t>Standardization</a:t>
            </a:r>
            <a:r>
              <a:rPr lang="en-US" sz="2400" b="1" dirty="0">
                <a:solidFill>
                  <a:srgbClr val="FF0000"/>
                </a:solidFill>
                <a:highlight>
                  <a:srgbClr val="FFFFFF"/>
                </a:highlight>
              </a:rPr>
              <a:t> (Z-score):</a:t>
            </a:r>
          </a:p>
          <a:p>
            <a:endParaRPr lang="el-GR" sz="2400" dirty="0"/>
          </a:p>
          <a:p>
            <a:endParaRPr lang="en-US" sz="2400" dirty="0">
              <a:highlight>
                <a:srgbClr val="FFFFFF"/>
              </a:highlight>
            </a:endParaRPr>
          </a:p>
          <a:p>
            <a:endParaRPr lang="en-US" sz="3200" dirty="0">
              <a:highlight>
                <a:srgbClr val="FFFFFF"/>
              </a:highlight>
            </a:endParaRPr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CEC90A-A532-21BE-9C3A-4B2D2261E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42307"/>
            <a:ext cx="3963927" cy="34510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630B79-07C9-ED3C-AE22-374565013A97}"/>
              </a:ext>
            </a:extLst>
          </p:cNvPr>
          <p:cNvSpPr txBox="1"/>
          <p:nvPr/>
        </p:nvSpPr>
        <p:spPr>
          <a:xfrm>
            <a:off x="4728997" y="4990366"/>
            <a:ext cx="45794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>
                <a:solidFill>
                  <a:srgbClr val="FF0000"/>
                </a:solidFill>
              </a:rPr>
              <a:t>Final Z-scores:</a:t>
            </a:r>
          </a:p>
          <a:p>
            <a:pPr>
              <a:buNone/>
            </a:pPr>
            <a:r>
              <a:rPr lang="pt-BR" dirty="0"/>
              <a:t>Original → [10, 20, 30, 40, 50]</a:t>
            </a:r>
            <a:br>
              <a:rPr lang="pt-BR" dirty="0"/>
            </a:br>
            <a:r>
              <a:rPr lang="pt-BR" dirty="0"/>
              <a:t>Standardized → [-1.41, -0.71, 0, 0.71, 1.41]</a:t>
            </a:r>
          </a:p>
        </p:txBody>
      </p:sp>
    </p:spTree>
    <p:extLst>
      <p:ext uri="{BB962C8B-B14F-4D97-AF65-F5344CB8AC3E}">
        <p14:creationId xmlns:p14="http://schemas.microsoft.com/office/powerpoint/2010/main" val="14180176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DD536-0243-E3AA-D09A-398274F3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49F12-4037-B079-3593-6A4298B31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59248-66FD-FDB7-EB0A-0461C4737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5E765-90EF-95AF-8CB7-54E79DB8F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7241D-17F7-FDBD-6CB4-4302D9EF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5E3915-190D-FCA0-E7BA-195FADBE69CB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3EB9C94-6A0D-47B8-9214-EAFB20A055F4}"/>
              </a:ext>
            </a:extLst>
          </p:cNvPr>
          <p:cNvSpPr txBox="1"/>
          <p:nvPr/>
        </p:nvSpPr>
        <p:spPr>
          <a:xfrm>
            <a:off x="603504" y="856501"/>
            <a:ext cx="82235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3. Encoding Categorical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Converts categorical → numeric.</a:t>
            </a:r>
            <a:endParaRPr lang="en-IN" sz="3200" b="1" dirty="0">
              <a:solidFill>
                <a:srgbClr val="00B050"/>
              </a:solidFill>
              <a:highlight>
                <a:srgbClr val="FFFFFF"/>
              </a:highlight>
            </a:endParaRPr>
          </a:p>
          <a:p>
            <a:pPr marL="514350" indent="-514350" algn="ctr">
              <a:buAutoNum type="arabicPeriod"/>
            </a:pPr>
            <a:r>
              <a:rPr lang="en-IN" sz="2800" b="1" u="sng" dirty="0">
                <a:solidFill>
                  <a:srgbClr val="FF0000"/>
                </a:solidFill>
                <a:highlight>
                  <a:srgbClr val="FFFFFF"/>
                </a:highlight>
              </a:rPr>
              <a:t>Label Encoding</a:t>
            </a:r>
            <a:endParaRPr lang="en-IN" sz="2800" u="sng" dirty="0">
              <a:highlight>
                <a:srgbClr val="FFFFFF"/>
              </a:highligh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highlight>
                  <a:srgbClr val="FFFFFF"/>
                </a:highlight>
              </a:rPr>
              <a:t> Assigns numbers to categories </a:t>
            </a:r>
          </a:p>
          <a:p>
            <a:r>
              <a:rPr lang="en-IN" sz="2400" b="1" u="sng" dirty="0">
                <a:solidFill>
                  <a:srgbClr val="FF0000"/>
                </a:solidFill>
                <a:highlight>
                  <a:srgbClr val="FFFFFF"/>
                </a:highlight>
              </a:rPr>
              <a:t>Example Data set:</a:t>
            </a:r>
          </a:p>
          <a:p>
            <a:r>
              <a:rPr lang="en-IN" sz="2400" dirty="0"/>
              <a:t>Fruit = ["Apple", "Banana", "Orange", "Apple", "Orange"]</a:t>
            </a:r>
            <a:endParaRPr lang="en-IN" sz="2400" dirty="0">
              <a:highlight>
                <a:srgbClr val="FFFFFF"/>
              </a:highlight>
            </a:endParaRPr>
          </a:p>
          <a:p>
            <a:r>
              <a:rPr lang="en-US" sz="2400" b="1" u="sng" dirty="0">
                <a:solidFill>
                  <a:srgbClr val="FF0000"/>
                </a:solidFill>
                <a:highlight>
                  <a:srgbClr val="FFFFFF"/>
                </a:highlight>
              </a:rPr>
              <a:t>Step-by-step Encoding:</a:t>
            </a:r>
          </a:p>
          <a:p>
            <a:r>
              <a:rPr lang="en-US" sz="2400" dirty="0">
                <a:highlight>
                  <a:srgbClr val="FFFFFF"/>
                </a:highlight>
              </a:rPr>
              <a:t>Apple → 0</a:t>
            </a:r>
          </a:p>
          <a:p>
            <a:r>
              <a:rPr lang="en-US" sz="2400" dirty="0">
                <a:highlight>
                  <a:srgbClr val="FFFFFF"/>
                </a:highlight>
              </a:rPr>
              <a:t>Banana → 1</a:t>
            </a:r>
          </a:p>
          <a:p>
            <a:r>
              <a:rPr lang="en-US" sz="2400" dirty="0">
                <a:highlight>
                  <a:srgbClr val="FFFFFF"/>
                </a:highlight>
              </a:rPr>
              <a:t>Orange → 2</a:t>
            </a:r>
          </a:p>
          <a:p>
            <a:r>
              <a:rPr lang="en-IN" sz="2400" b="1" u="sng" dirty="0">
                <a:solidFill>
                  <a:srgbClr val="FF0000"/>
                </a:solidFill>
                <a:highlight>
                  <a:srgbClr val="FFFFFF"/>
                </a:highlight>
              </a:rPr>
              <a:t>Encoded Values:</a:t>
            </a:r>
          </a:p>
          <a:p>
            <a:r>
              <a:rPr lang="it-IT" sz="2400" dirty="0"/>
              <a:t>["Apple", "Banana", "Orange", "Apple", "Orange"]</a:t>
            </a:r>
          </a:p>
          <a:p>
            <a:r>
              <a:rPr lang="it-IT" sz="2400" dirty="0"/>
              <a:t>   ↓</a:t>
            </a:r>
          </a:p>
          <a:p>
            <a:r>
              <a:rPr lang="it-IT" sz="2400" dirty="0"/>
              <a:t>[0, 1, 2, 0, 2]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102015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F93D8-B782-759A-3FE6-6C4928BC0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809F8-FCE6-46F1-D3E2-325DBF056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5A30D-B712-6A34-862C-B86ACC10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4488B-324E-83DD-612B-99A602F7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7647B-7C5A-4772-1208-1CEBB606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72EFCC-ECE2-DE12-00E1-0395736A8717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F354BA-1630-387B-DED3-DF1C8BB6D821}"/>
              </a:ext>
            </a:extLst>
          </p:cNvPr>
          <p:cNvSpPr txBox="1"/>
          <p:nvPr/>
        </p:nvSpPr>
        <p:spPr>
          <a:xfrm>
            <a:off x="603504" y="856501"/>
            <a:ext cx="822350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3. Encoding Categorical Data</a:t>
            </a:r>
          </a:p>
          <a:p>
            <a:pPr algn="ctr"/>
            <a:r>
              <a:rPr lang="en-IN" sz="2800" b="1" u="sng" dirty="0">
                <a:solidFill>
                  <a:srgbClr val="FF0000"/>
                </a:solidFill>
                <a:highlight>
                  <a:srgbClr val="FFFFFF"/>
                </a:highlight>
              </a:rPr>
              <a:t>2. One-Hot Encoding</a:t>
            </a:r>
            <a:r>
              <a:rPr lang="en-IN" sz="2800" u="sng" dirty="0">
                <a:solidFill>
                  <a:srgbClr val="FF0000"/>
                </a:solidFill>
                <a:highlight>
                  <a:srgbClr val="FFFFFF"/>
                </a:highlight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is a technique used to convert </a:t>
            </a:r>
            <a:r>
              <a:rPr lang="en-US" sz="2800" b="1" dirty="0"/>
              <a:t>categorical values</a:t>
            </a:r>
            <a:r>
              <a:rPr lang="en-US" sz="2800" dirty="0"/>
              <a:t> into a </a:t>
            </a:r>
            <a:r>
              <a:rPr lang="en-US" sz="2800" b="1" dirty="0"/>
              <a:t>binary vector representation</a:t>
            </a:r>
            <a:r>
              <a:rPr lang="en-US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only one "1" is hot, rest are "0".</a:t>
            </a:r>
            <a:endParaRPr lang="en-US" sz="28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Example:</a:t>
            </a:r>
          </a:p>
          <a:p>
            <a:r>
              <a:rPr lang="en-US" sz="2400" dirty="0"/>
              <a:t>Suppose you have a feature </a:t>
            </a:r>
            <a:r>
              <a:rPr lang="en-US" sz="2400" b="1" dirty="0"/>
              <a:t>"Color"</a:t>
            </a:r>
            <a:r>
              <a:rPr lang="en-US" sz="2400" dirty="0"/>
              <a:t> with 3 possible categories: Red, Green, Blue</a:t>
            </a:r>
          </a:p>
          <a:p>
            <a:endParaRPr lang="en-US" sz="2400" dirty="0"/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6878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F93D8-B782-759A-3FE6-6C4928BC0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809F8-FCE6-46F1-D3E2-325DBF056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5A30D-B712-6A34-862C-B86ACC10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4488B-324E-83DD-612B-99A602F7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7647B-7C5A-4772-1208-1CEBB6064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72EFCC-ECE2-DE12-00E1-0395736A8717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AF354BA-1630-387B-DED3-DF1C8BB6D821}"/>
              </a:ext>
            </a:extLst>
          </p:cNvPr>
          <p:cNvSpPr txBox="1"/>
          <p:nvPr/>
        </p:nvSpPr>
        <p:spPr>
          <a:xfrm>
            <a:off x="603504" y="856501"/>
            <a:ext cx="8223504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3. Encoding Categorical Data</a:t>
            </a:r>
          </a:p>
          <a:p>
            <a:r>
              <a:rPr lang="en-IN" sz="2800" b="1" dirty="0">
                <a:solidFill>
                  <a:srgbClr val="FF0000"/>
                </a:solidFill>
                <a:highlight>
                  <a:srgbClr val="FFFFFF"/>
                </a:highlight>
              </a:rPr>
              <a:t>2. One-Hot Encoding</a:t>
            </a:r>
            <a:r>
              <a:rPr lang="en-IN" sz="2800" dirty="0">
                <a:solidFill>
                  <a:srgbClr val="FF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n-US" sz="2400" dirty="0" err="1"/>
              <a:t>Orginal</a:t>
            </a:r>
            <a:r>
              <a:rPr lang="en-US" sz="2400" dirty="0"/>
              <a:t> Data: Colors</a:t>
            </a:r>
          </a:p>
          <a:p>
            <a:r>
              <a:rPr lang="en-US" sz="2400" dirty="0"/>
              <a:t>Red</a:t>
            </a:r>
          </a:p>
          <a:p>
            <a:r>
              <a:rPr lang="en-US" sz="2400" dirty="0"/>
              <a:t>Blue</a:t>
            </a:r>
          </a:p>
          <a:p>
            <a:r>
              <a:rPr lang="en-US" sz="2400" dirty="0"/>
              <a:t>Green</a:t>
            </a:r>
          </a:p>
          <a:p>
            <a:r>
              <a:rPr lang="en-US" sz="2400" dirty="0"/>
              <a:t>Red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243" y="2965460"/>
            <a:ext cx="6552261" cy="275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649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3BA76-AF6C-A334-F9F5-B529B161F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A628-CB7B-AEAF-A112-989424628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86433-145A-FEEB-C6D1-9700B438A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B7604-EC84-7D9F-7ADF-B923EED6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5A38D-E358-3372-A1F4-066348845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2C8ED2-E417-F760-B070-C496321244A0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C111BF3-9110-5C97-E6FD-404563093C9E}"/>
              </a:ext>
            </a:extLst>
          </p:cNvPr>
          <p:cNvSpPr txBox="1"/>
          <p:nvPr/>
        </p:nvSpPr>
        <p:spPr>
          <a:xfrm>
            <a:off x="603504" y="856501"/>
            <a:ext cx="82235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4. Binning / Discretization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highlight>
                  <a:srgbClr val="FFFFFF"/>
                </a:highlight>
              </a:rPr>
              <a:t>Converts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</a:rPr>
              <a:t>continuous variables into categories </a:t>
            </a:r>
            <a:r>
              <a:rPr lang="en-US" sz="3200" dirty="0">
                <a:highlight>
                  <a:srgbClr val="FFFFFF"/>
                </a:highlight>
              </a:rPr>
              <a:t>/ bins</a:t>
            </a:r>
          </a:p>
          <a:p>
            <a:r>
              <a:rPr lang="en-US" sz="3200" dirty="0">
                <a:highlight>
                  <a:srgbClr val="FFFFFF"/>
                </a:highlight>
              </a:rPr>
              <a:t> </a:t>
            </a: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</a:rPr>
              <a:t>Example: </a:t>
            </a:r>
            <a:r>
              <a:rPr lang="en-US" sz="3200" dirty="0">
                <a:highlight>
                  <a:srgbClr val="FFFFFF"/>
                </a:highlight>
              </a:rPr>
              <a:t>Age → [0–12: Child, 13–19: Teen, 20–59: Adult, 60+: Senior].</a:t>
            </a:r>
          </a:p>
          <a:p>
            <a:r>
              <a:rPr lang="en-US" sz="3200" b="1" dirty="0"/>
              <a:t>Example:</a:t>
            </a:r>
          </a:p>
          <a:p>
            <a:r>
              <a:rPr lang="en-US" sz="3200" dirty="0"/>
              <a:t>Suppose you have students’ </a:t>
            </a:r>
          </a:p>
          <a:p>
            <a:r>
              <a:rPr lang="en-US" sz="3200" b="1" dirty="0"/>
              <a:t>ages</a:t>
            </a:r>
            <a:r>
              <a:rPr lang="en-US" sz="3200" dirty="0"/>
              <a:t>: [5, 12, 17, 19, 24, 32, 45, 52, 61, 77]</a:t>
            </a:r>
          </a:p>
          <a:p>
            <a:endParaRPr lang="en-US" sz="3200" dirty="0"/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5294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3BA76-AF6C-A334-F9F5-B529B161F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A628-CB7B-AEAF-A112-989424628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86433-145A-FEEB-C6D1-9700B438A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B7604-EC84-7D9F-7ADF-B923EED6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5A38D-E358-3372-A1F4-066348845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2C8ED2-E417-F760-B070-C496321244A0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C111BF3-9110-5C97-E6FD-404563093C9E}"/>
              </a:ext>
            </a:extLst>
          </p:cNvPr>
          <p:cNvSpPr txBox="1"/>
          <p:nvPr/>
        </p:nvSpPr>
        <p:spPr>
          <a:xfrm>
            <a:off x="603504" y="856501"/>
            <a:ext cx="8223504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4. Binning / Discretization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Example:</a:t>
            </a:r>
          </a:p>
          <a:p>
            <a:r>
              <a:rPr lang="en-US" sz="3200" dirty="0"/>
              <a:t>Suppose you have students’ </a:t>
            </a:r>
          </a:p>
          <a:p>
            <a:r>
              <a:rPr lang="en-US" sz="3200" b="1" dirty="0"/>
              <a:t>ages</a:t>
            </a:r>
            <a:r>
              <a:rPr lang="en-US" sz="3200" dirty="0"/>
              <a:t>: [5, 12, 17, 19, 24, 32, 45, 52, 61, 77]</a:t>
            </a:r>
          </a:p>
          <a:p>
            <a:endParaRPr lang="en-US" sz="3200" dirty="0"/>
          </a:p>
          <a:p>
            <a:r>
              <a:rPr lang="en-US" sz="3200" b="1" dirty="0">
                <a:solidFill>
                  <a:srgbClr val="FF0000"/>
                </a:solidFill>
              </a:rPr>
              <a:t>Step 1: Define bins</a:t>
            </a:r>
          </a:p>
          <a:p>
            <a:r>
              <a:rPr lang="en-US" sz="3200" dirty="0"/>
              <a:t>We divide ages into 4 bins:</a:t>
            </a:r>
          </a:p>
          <a:p>
            <a:r>
              <a:rPr lang="en-US" sz="2800" b="1" dirty="0"/>
              <a:t>Child (0–12)</a:t>
            </a:r>
            <a:endParaRPr lang="en-US" sz="2800" dirty="0"/>
          </a:p>
          <a:p>
            <a:r>
              <a:rPr lang="en-US" sz="2800" b="1" dirty="0"/>
              <a:t>Teen (13–19)</a:t>
            </a:r>
            <a:endParaRPr lang="en-US" sz="2800" dirty="0"/>
          </a:p>
          <a:p>
            <a:r>
              <a:rPr lang="en-US" sz="2800" b="1" dirty="0"/>
              <a:t>Adult (20–59)</a:t>
            </a:r>
            <a:endParaRPr lang="en-US" sz="2800" dirty="0"/>
          </a:p>
          <a:p>
            <a:r>
              <a:rPr lang="en-US" sz="2800" b="1" dirty="0"/>
              <a:t>Senior (60+)</a:t>
            </a:r>
            <a:endParaRPr lang="en-US" sz="2800" dirty="0"/>
          </a:p>
          <a:p>
            <a:endParaRPr lang="en-US" sz="3200" dirty="0"/>
          </a:p>
          <a:p>
            <a:endParaRPr lang="en-US" sz="3200" dirty="0"/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3593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3BA76-AF6C-A334-F9F5-B529B161F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A628-CB7B-AEAF-A112-989424628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86433-145A-FEEB-C6D1-9700B438A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B7604-EC84-7D9F-7ADF-B923EED6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5A38D-E358-3372-A1F4-066348845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2C8ED2-E417-F760-B070-C496321244A0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C111BF3-9110-5C97-E6FD-404563093C9E}"/>
              </a:ext>
            </a:extLst>
          </p:cNvPr>
          <p:cNvSpPr txBox="1"/>
          <p:nvPr/>
        </p:nvSpPr>
        <p:spPr>
          <a:xfrm>
            <a:off x="603504" y="856501"/>
            <a:ext cx="822350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4. Binning / Discretization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838" y="1371599"/>
            <a:ext cx="4820323" cy="457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660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4A068-B263-AE56-A742-C59FD172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17C1C-0DAE-DFA6-5875-1492174F0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23241-CE69-94D1-E285-EF4E16D1C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7103B-2460-9283-7B79-20B1B15F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79DFB-CCC4-DE32-E984-09683792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D1AF88-AED2-DF14-E0E3-635FCD18B9B5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0B7459-6AA8-02D9-617D-77B230134BFF}"/>
              </a:ext>
            </a:extLst>
          </p:cNvPr>
          <p:cNvSpPr txBox="1"/>
          <p:nvPr/>
        </p:nvSpPr>
        <p:spPr>
          <a:xfrm>
            <a:off x="603504" y="856501"/>
            <a:ext cx="8223504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5. Log / Power Transformations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Applies log to compress large values.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Reduces skewness and stabilizes variance.</a:t>
            </a:r>
          </a:p>
          <a:p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highlight>
                  <a:srgbClr val="FFFFFF"/>
                </a:highlight>
              </a:rPr>
              <a:t>Example: </a:t>
            </a:r>
            <a:r>
              <a:rPr lang="en-US" sz="3200" dirty="0">
                <a:highlight>
                  <a:srgbClr val="FFFFFF"/>
                </a:highlight>
              </a:rPr>
              <a:t>Income, sales, population counts.</a:t>
            </a:r>
          </a:p>
          <a:p>
            <a:r>
              <a:rPr lang="en-US" sz="3200" b="1" dirty="0"/>
              <a:t>Example Data:</a:t>
            </a:r>
          </a:p>
          <a:p>
            <a:r>
              <a:rPr lang="en-US" sz="3200" dirty="0"/>
              <a:t>Suppose you have income values (highly skewed data):</a:t>
            </a:r>
          </a:p>
          <a:p>
            <a:pPr algn="ctr"/>
            <a:r>
              <a:rPr lang="en-IN" sz="2400" dirty="0">
                <a:solidFill>
                  <a:srgbClr val="272C37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[1000, 2000, 5000, 10000, 50000, 100000]</a:t>
            </a:r>
            <a:endParaRPr lang="en-IN" sz="24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4268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4A068-B263-AE56-A742-C59FD172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17C1C-0DAE-DFA6-5875-1492174F0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23241-CE69-94D1-E285-EF4E16D1C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7103B-2460-9283-7B79-20B1B15F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79DFB-CCC4-DE32-E984-09683792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D1AF88-AED2-DF14-E0E3-635FCD18B9B5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0B7459-6AA8-02D9-617D-77B230134BFF}"/>
              </a:ext>
            </a:extLst>
          </p:cNvPr>
          <p:cNvSpPr txBox="1"/>
          <p:nvPr/>
        </p:nvSpPr>
        <p:spPr>
          <a:xfrm>
            <a:off x="603504" y="856501"/>
            <a:ext cx="822350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5. Log / Power Transformations</a:t>
            </a:r>
          </a:p>
          <a:p>
            <a:r>
              <a:rPr lang="en-US" sz="3200" b="1" dirty="0"/>
              <a:t>Example Data:</a:t>
            </a:r>
          </a:p>
          <a:p>
            <a:r>
              <a:rPr lang="en-US" sz="3200" dirty="0"/>
              <a:t>Suppose you have income values (highly skewed data):</a:t>
            </a:r>
          </a:p>
          <a:p>
            <a:r>
              <a:rPr lang="en-IN" sz="2400" dirty="0">
                <a:solidFill>
                  <a:srgbClr val="272C37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[1000, 2000, 5000, 10000, 50000, 100000]</a:t>
            </a:r>
          </a:p>
          <a:p>
            <a:pPr marL="457200" indent="-457200">
              <a:buAutoNum type="arabicPeriod"/>
            </a:pPr>
            <a:r>
              <a:rPr lang="fr-FR" sz="2800" u="sng" dirty="0">
                <a:solidFill>
                  <a:srgbClr val="FF0000"/>
                </a:solidFill>
              </a:rPr>
              <a:t>Log Transformation (log base 10): (Log Transformation)</a:t>
            </a:r>
          </a:p>
          <a:p>
            <a:pPr algn="ctr"/>
            <a:r>
              <a:rPr lang="sv-SE" sz="2800" dirty="0">
                <a:solidFill>
                  <a:srgbClr val="272C37"/>
                </a:solidFill>
                <a:highlight>
                  <a:srgbClr val="FFFFFF"/>
                </a:highlight>
              </a:rPr>
              <a:t>log10([1000, 2000, 5000, 10000, 50000, 100000])</a:t>
            </a:r>
          </a:p>
          <a:p>
            <a:pPr algn="ctr"/>
            <a:r>
              <a:rPr lang="sv-SE" sz="2800" dirty="0">
                <a:solidFill>
                  <a:srgbClr val="272C37"/>
                </a:solidFill>
                <a:highlight>
                  <a:srgbClr val="FFFFFF"/>
                </a:highlight>
              </a:rPr>
              <a:t>=[3, 3.3, 3.7, 4, 4.7, 5]</a:t>
            </a:r>
          </a:p>
          <a:p>
            <a:pPr algn="ctr"/>
            <a:endParaRPr lang="sv-SE" sz="2800" b="0" i="0" dirty="0">
              <a:solidFill>
                <a:srgbClr val="272C37"/>
              </a:solidFill>
              <a:effectLst/>
              <a:highlight>
                <a:srgbClr val="FFFFFF"/>
              </a:highlight>
            </a:endParaRPr>
          </a:p>
          <a:p>
            <a:pPr algn="ctr"/>
            <a:r>
              <a:rPr lang="en-US" sz="2800" dirty="0">
                <a:solidFill>
                  <a:srgbClr val="FF0000"/>
                </a:solidFill>
              </a:rPr>
              <a:t>Compresses large values and reduces skewness.</a:t>
            </a:r>
            <a:endParaRPr lang="en-IN" sz="2800" b="0" i="0" dirty="0">
              <a:solidFill>
                <a:srgbClr val="FF0000"/>
              </a:solidFill>
              <a:effectLst/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806543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4A068-B263-AE56-A742-C59FD1725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17C1C-0DAE-DFA6-5875-1492174F0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23241-CE69-94D1-E285-EF4E16D1C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7103B-2460-9283-7B79-20B1B15F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79DFB-CCC4-DE32-E984-09683792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D1AF88-AED2-DF14-E0E3-635FCD18B9B5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0B7459-6AA8-02D9-617D-77B230134BFF}"/>
              </a:ext>
            </a:extLst>
          </p:cNvPr>
          <p:cNvSpPr txBox="1"/>
          <p:nvPr/>
        </p:nvSpPr>
        <p:spPr>
          <a:xfrm>
            <a:off x="603504" y="856501"/>
            <a:ext cx="822350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5. Log / Power Transformations</a:t>
            </a:r>
          </a:p>
          <a:p>
            <a:r>
              <a:rPr lang="en-US" sz="3200" b="1" dirty="0"/>
              <a:t>Example Data:</a:t>
            </a:r>
          </a:p>
          <a:p>
            <a:r>
              <a:rPr lang="en-US" sz="3200" dirty="0"/>
              <a:t>Suppose you have income values (highly skewed data):</a:t>
            </a:r>
          </a:p>
          <a:p>
            <a:r>
              <a:rPr lang="en-IN" sz="2400" dirty="0">
                <a:solidFill>
                  <a:srgbClr val="272C37"/>
                </a:solidFill>
                <a:highlight>
                  <a:srgbClr val="FFFFFF"/>
                </a:highlight>
                <a:latin typeface="Roboto" panose="02000000000000000000" pitchFamily="2" charset="0"/>
              </a:rPr>
              <a:t>[1000, 2000, 5000, 10000, 50000, 100000]</a:t>
            </a:r>
            <a:r>
              <a:rPr lang="en-IN" sz="2800" dirty="0"/>
              <a:t>.      </a:t>
            </a:r>
          </a:p>
          <a:p>
            <a:r>
              <a:rPr lang="en-IN" sz="2800" dirty="0"/>
              <a:t> </a:t>
            </a:r>
            <a:r>
              <a:rPr lang="en-IN" sz="2800" u="sng" dirty="0">
                <a:solidFill>
                  <a:srgbClr val="FF0000"/>
                </a:solidFill>
              </a:rPr>
              <a:t>2. Square Root Transformation: (power Transformation)</a:t>
            </a:r>
          </a:p>
          <a:p>
            <a:pPr algn="ctr"/>
            <a:r>
              <a:rPr lang="en-US" sz="2800" dirty="0" err="1">
                <a:solidFill>
                  <a:srgbClr val="272C37"/>
                </a:solidFill>
                <a:highlight>
                  <a:srgbClr val="FFFFFF"/>
                </a:highlight>
              </a:rPr>
              <a:t>sqrt</a:t>
            </a:r>
            <a:r>
              <a:rPr lang="en-US" sz="2800" dirty="0">
                <a:solidFill>
                  <a:srgbClr val="272C37"/>
                </a:solidFill>
                <a:highlight>
                  <a:srgbClr val="FFFFFF"/>
                </a:highlight>
              </a:rPr>
              <a:t>([1000, 2000, 5000, 10000, 50000, 100000])</a:t>
            </a:r>
          </a:p>
          <a:p>
            <a:pPr algn="ctr"/>
            <a:r>
              <a:rPr lang="en-US" sz="2800" dirty="0">
                <a:solidFill>
                  <a:srgbClr val="272C37"/>
                </a:solidFill>
                <a:highlight>
                  <a:srgbClr val="FFFFFF"/>
                </a:highlight>
              </a:rPr>
              <a:t>≈ [31.6, 44.7, 70.7, 100, 223.6, 316.2]</a:t>
            </a:r>
          </a:p>
          <a:p>
            <a:pPr algn="ctr"/>
            <a:endParaRPr lang="sv-SE" sz="2800" b="0" i="0" dirty="0">
              <a:solidFill>
                <a:srgbClr val="272C37"/>
              </a:solidFill>
              <a:effectLst/>
              <a:highlight>
                <a:srgbClr val="FFFFFF"/>
              </a:highlight>
            </a:endParaRPr>
          </a:p>
          <a:p>
            <a:pPr algn="ctr"/>
            <a:r>
              <a:rPr lang="en-US" sz="2800" dirty="0"/>
              <a:t>Compresses large values and reduces skewness.</a:t>
            </a:r>
            <a:endParaRPr lang="en-IN" sz="2800" b="0" i="0" dirty="0">
              <a:solidFill>
                <a:srgbClr val="272C37"/>
              </a:solidFill>
              <a:effectLst/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935247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841C-0FE8-97FE-3A2F-84E0F5632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2D79-BA0A-B108-A8E8-32E8C106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8BDBA-F5A0-E311-DC40-6C364B398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8B22B-F070-F376-33C1-E5D1BF34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D8747-A12A-C939-12A6-C3119071C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3C6BC8-D675-F0A9-2156-54707FF724AD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1634E0-9A53-6B07-8BD8-1D528A8D17C6}"/>
              </a:ext>
            </a:extLst>
          </p:cNvPr>
          <p:cNvSpPr txBox="1"/>
          <p:nvPr/>
        </p:nvSpPr>
        <p:spPr>
          <a:xfrm>
            <a:off x="603504" y="856501"/>
            <a:ext cx="82235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6. Feature Engineering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Create new features by transforming existing ones.</a:t>
            </a:r>
          </a:p>
          <a:p>
            <a:r>
              <a:rPr lang="en-US" sz="2800" dirty="0"/>
              <a:t>Examples:</a:t>
            </a:r>
          </a:p>
          <a:p>
            <a:r>
              <a:rPr lang="en-US" sz="2800" dirty="0"/>
              <a:t>Ratios (Price per </a:t>
            </a:r>
            <a:r>
              <a:rPr lang="en-US" sz="2800" dirty="0" err="1"/>
              <a:t>Sqft</a:t>
            </a:r>
            <a:r>
              <a:rPr lang="en-US" sz="2800" dirty="0"/>
              <a:t>, BMI).</a:t>
            </a:r>
          </a:p>
          <a:p>
            <a:r>
              <a:rPr lang="en-US" sz="2800" dirty="0"/>
              <a:t>Polynomial features (x², x³).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04" y="3241958"/>
            <a:ext cx="8140789" cy="296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2127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841C-0FE8-97FE-3A2F-84E0F5632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2D79-BA0A-B108-A8E8-32E8C106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8BDBA-F5A0-E311-DC40-6C364B398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8B22B-F070-F376-33C1-E5D1BF34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D8747-A12A-C939-12A6-C3119071C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3C6BC8-D675-F0A9-2156-54707FF724AD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1634E0-9A53-6B07-8BD8-1D528A8D17C6}"/>
              </a:ext>
            </a:extLst>
          </p:cNvPr>
          <p:cNvSpPr txBox="1"/>
          <p:nvPr/>
        </p:nvSpPr>
        <p:spPr>
          <a:xfrm>
            <a:off x="603504" y="856501"/>
            <a:ext cx="8223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6. Feature Engineering</a:t>
            </a:r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378" y="1524000"/>
            <a:ext cx="7822195" cy="393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0269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841C-0FE8-97FE-3A2F-84E0F5632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2D79-BA0A-B108-A8E8-32E8C106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8BDBA-F5A0-E311-DC40-6C364B398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8B22B-F070-F376-33C1-E5D1BF348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D8747-A12A-C939-12A6-C3119071C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3C6BC8-D675-F0A9-2156-54707FF724AD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1634E0-9A53-6B07-8BD8-1D528A8D17C6}"/>
              </a:ext>
            </a:extLst>
          </p:cNvPr>
          <p:cNvSpPr txBox="1"/>
          <p:nvPr/>
        </p:nvSpPr>
        <p:spPr>
          <a:xfrm>
            <a:off x="603504" y="856501"/>
            <a:ext cx="8223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6. Feature Engineering</a:t>
            </a:r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30" y="1927009"/>
            <a:ext cx="8049748" cy="20576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3260" y="4482489"/>
            <a:ext cx="850073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By creating </a:t>
            </a:r>
            <a:r>
              <a:rPr lang="en-US" sz="2800" b="1" dirty="0">
                <a:solidFill>
                  <a:srgbClr val="FF0000"/>
                </a:solidFill>
              </a:rPr>
              <a:t>better, more informative features</a:t>
            </a:r>
            <a:r>
              <a:rPr lang="en-US" sz="2800" dirty="0"/>
              <a:t>, the model can learn patterns more effectively.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679763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97C13-53F3-3D70-E174-C5B59741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C234-1B6C-A626-AEAB-5A414570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543A7-64E5-7F5F-862A-22256586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CB780-445C-E3D4-1652-BFFDB3A41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770E7-59EC-0110-E685-AB58164EE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9D5C3A-2107-ADFF-2302-26D77D2F07A8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458B23-9367-57E8-1332-367380651E64}"/>
              </a:ext>
            </a:extLst>
          </p:cNvPr>
          <p:cNvSpPr txBox="1"/>
          <p:nvPr/>
        </p:nvSpPr>
        <p:spPr>
          <a:xfrm>
            <a:off x="603504" y="856501"/>
            <a:ext cx="82235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7. Aggregation &amp; Grouping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Aggregation</a:t>
            </a:r>
            <a:r>
              <a:rPr lang="en-US" sz="3200" dirty="0"/>
              <a:t> means summarizing data (e.g., sum, average, count).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Grouping</a:t>
            </a:r>
            <a:r>
              <a:rPr lang="en-US" sz="3200" dirty="0"/>
              <a:t> means organizing data based on categories before applying aggregation.</a:t>
            </a:r>
          </a:p>
          <a:p>
            <a:endParaRPr lang="en-IN" sz="3200" dirty="0">
              <a:solidFill>
                <a:srgbClr val="272C37"/>
              </a:solidFill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Summarize data into meaningful features.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Example: </a:t>
            </a:r>
            <a:r>
              <a:rPr lang="en-US" sz="3200" dirty="0"/>
              <a:t>Total sales per customer, average order value.</a:t>
            </a:r>
          </a:p>
        </p:txBody>
      </p:sp>
    </p:spTree>
    <p:extLst>
      <p:ext uri="{BB962C8B-B14F-4D97-AF65-F5344CB8AC3E}">
        <p14:creationId xmlns:p14="http://schemas.microsoft.com/office/powerpoint/2010/main" val="32717493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97C13-53F3-3D70-E174-C5B59741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C234-1B6C-A626-AEAB-5A414570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543A7-64E5-7F5F-862A-22256586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CB780-445C-E3D4-1652-BFFDB3A41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770E7-59EC-0110-E685-AB58164EE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9D5C3A-2107-ADFF-2302-26D77D2F07A8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458B23-9367-57E8-1332-367380651E64}"/>
              </a:ext>
            </a:extLst>
          </p:cNvPr>
          <p:cNvSpPr txBox="1"/>
          <p:nvPr/>
        </p:nvSpPr>
        <p:spPr>
          <a:xfrm>
            <a:off x="603504" y="856501"/>
            <a:ext cx="8223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7. Aggregation &amp; Grouping</a:t>
            </a:r>
          </a:p>
          <a:p>
            <a:pPr algn="ctr"/>
            <a:endParaRPr lang="en-US" sz="3200" b="1" dirty="0">
              <a:solidFill>
                <a:srgbClr val="00B050"/>
              </a:solidFill>
              <a:highlight>
                <a:srgbClr val="FFFFFF"/>
              </a:highligh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10" y="1790471"/>
            <a:ext cx="7726690" cy="392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918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97C13-53F3-3D70-E174-C5B59741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C234-1B6C-A626-AEAB-5A4145707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543A7-64E5-7F5F-862A-22256586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CB780-445C-E3D4-1652-BFFDB3A41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770E7-59EC-0110-E685-AB58164EE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9D5C3A-2107-ADFF-2302-26D77D2F07A8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458B23-9367-57E8-1332-367380651E64}"/>
              </a:ext>
            </a:extLst>
          </p:cNvPr>
          <p:cNvSpPr txBox="1"/>
          <p:nvPr/>
        </p:nvSpPr>
        <p:spPr>
          <a:xfrm>
            <a:off x="603504" y="856501"/>
            <a:ext cx="8223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7. Aggregation &amp; Grouping</a:t>
            </a:r>
          </a:p>
          <a:p>
            <a:pPr algn="ctr"/>
            <a:endParaRPr lang="en-US" sz="3200" b="1" dirty="0">
              <a:solidFill>
                <a:srgbClr val="00B050"/>
              </a:solidFill>
              <a:highlight>
                <a:srgbClr val="FFFFFF"/>
              </a:highligh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209800"/>
            <a:ext cx="6353790" cy="232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066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0C433-0B73-F37A-F123-625A1506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B4855-35E5-32CF-E483-A58A8FF01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28BA0-28C2-63AF-DD04-7A0136A5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016B4-CF62-3184-3036-17090C87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3A0BB-892C-D604-208A-743C3A472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6C6599-FF51-C31D-B463-6583EE982329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1031902-C0CA-AF28-7E9B-30D28B8A3D9A}"/>
              </a:ext>
            </a:extLst>
          </p:cNvPr>
          <p:cNvSpPr txBox="1"/>
          <p:nvPr/>
        </p:nvSpPr>
        <p:spPr>
          <a:xfrm>
            <a:off x="603504" y="856501"/>
            <a:ext cx="822350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8. Dimensionality Reduction</a:t>
            </a:r>
          </a:p>
          <a:p>
            <a:r>
              <a:rPr lang="en-US" sz="3200" b="1" dirty="0"/>
              <a:t>Dimensionality Reduction</a:t>
            </a:r>
            <a:r>
              <a:rPr lang="en-US" sz="3200" dirty="0"/>
              <a:t> is the process of reducing the number of input features (dimensions) while keeping as much important information as possible.</a:t>
            </a:r>
          </a:p>
          <a:p>
            <a:r>
              <a:rPr lang="en-US" sz="3200" dirty="0">
                <a:highlight>
                  <a:srgbClr val="FFFFFF"/>
                </a:highlight>
              </a:rPr>
              <a:t>Techniques: </a:t>
            </a:r>
            <a:r>
              <a:rPr lang="en-US" sz="3200" b="1" dirty="0">
                <a:highlight>
                  <a:srgbClr val="FFFFFF"/>
                </a:highlight>
              </a:rPr>
              <a:t>PCA (Principal Component Analysis), LDA (Linear Discriminant Analysis)</a:t>
            </a:r>
            <a:r>
              <a:rPr lang="en-US" sz="3200" dirty="0">
                <a:highlight>
                  <a:srgbClr val="FFFFFF"/>
                </a:highlight>
              </a:rPr>
              <a:t>.</a:t>
            </a:r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975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0C433-0B73-F37A-F123-625A1506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B4855-35E5-32CF-E483-A58A8FF01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28BA0-28C2-63AF-DD04-7A0136A5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016B4-CF62-3184-3036-17090C87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3A0BB-892C-D604-208A-743C3A472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6C6599-FF51-C31D-B463-6583EE982329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1031902-C0CA-AF28-7E9B-30D28B8A3D9A}"/>
              </a:ext>
            </a:extLst>
          </p:cNvPr>
          <p:cNvSpPr txBox="1"/>
          <p:nvPr/>
        </p:nvSpPr>
        <p:spPr>
          <a:xfrm>
            <a:off x="356682" y="902941"/>
            <a:ext cx="8223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8. Dimensionality Reduction</a:t>
            </a:r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584" y="1636786"/>
            <a:ext cx="6036615" cy="434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1511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0C433-0B73-F37A-F123-625A1506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B4855-35E5-32CF-E483-A58A8FF01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28BA0-28C2-63AF-DD04-7A0136A5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016B4-CF62-3184-3036-17090C87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3A0BB-892C-D604-208A-743C3A472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6C6599-FF51-C31D-B463-6583EE982329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1031902-C0CA-AF28-7E9B-30D28B8A3D9A}"/>
              </a:ext>
            </a:extLst>
          </p:cNvPr>
          <p:cNvSpPr txBox="1"/>
          <p:nvPr/>
        </p:nvSpPr>
        <p:spPr>
          <a:xfrm>
            <a:off x="356682" y="902941"/>
            <a:ext cx="82235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8. Dimensionality Reduction</a:t>
            </a:r>
          </a:p>
          <a:p>
            <a:r>
              <a:rPr lang="en-IN" sz="2800" b="1" dirty="0"/>
              <a:t>Popular Dimensionality Reduction Techniques:</a:t>
            </a:r>
          </a:p>
          <a:p>
            <a:r>
              <a:rPr lang="en-IN" sz="2800" b="1" dirty="0"/>
              <a:t>PCA (Principal Component Analysis)</a:t>
            </a:r>
            <a:r>
              <a:rPr lang="en-IN" sz="2800" dirty="0"/>
              <a:t> → Linear technique</a:t>
            </a:r>
          </a:p>
          <a:p>
            <a:r>
              <a:rPr lang="en-IN" sz="2800" b="1" dirty="0"/>
              <a:t>LDA (Linear Discriminant Analysis)</a:t>
            </a:r>
            <a:r>
              <a:rPr lang="en-IN" sz="2800" dirty="0"/>
              <a:t> → For classification problems</a:t>
            </a:r>
          </a:p>
          <a:p>
            <a:r>
              <a:rPr lang="en-IN" sz="2800" b="1" dirty="0"/>
              <a:t>t-SNE</a:t>
            </a:r>
            <a:r>
              <a:rPr lang="en-IN" sz="2800" dirty="0"/>
              <a:t> → Nonlinear, great for visualization of clusters</a:t>
            </a:r>
          </a:p>
          <a:p>
            <a:r>
              <a:rPr lang="en-IN" sz="2800" b="1" dirty="0"/>
              <a:t>UMAP</a:t>
            </a:r>
            <a:r>
              <a:rPr lang="en-IN" sz="2800" dirty="0"/>
              <a:t> → Faster than t-SNE, preserves local + global structure</a:t>
            </a:r>
          </a:p>
          <a:p>
            <a:pPr algn="ctr"/>
            <a:endParaRPr lang="en-US" sz="3200" b="1" dirty="0">
              <a:solidFill>
                <a:srgbClr val="00B050"/>
              </a:solidFill>
              <a:highlight>
                <a:srgbClr val="FFFFFF"/>
              </a:highlight>
            </a:endParaRPr>
          </a:p>
          <a:p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7723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D628D-E06F-E6A6-733A-2F56EB97E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6B1A6-5DA4-0E7A-0A14-1EA42347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DACC4-54E4-2C1B-FBBC-30D535E7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21BBA-B5B3-D175-325A-F7F923FD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61CBF-84E4-F7ED-EC83-C6EB77DF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785B78-7495-4FA3-283A-EE3526F8C867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E8E153-85B9-9448-1E1D-04041A240EA7}"/>
              </a:ext>
            </a:extLst>
          </p:cNvPr>
          <p:cNvSpPr txBox="1"/>
          <p:nvPr/>
        </p:nvSpPr>
        <p:spPr>
          <a:xfrm>
            <a:off x="603504" y="856501"/>
            <a:ext cx="822350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9. Data Integration &amp; Consolidation</a:t>
            </a:r>
          </a:p>
          <a:p>
            <a:r>
              <a:rPr lang="en-US" sz="3200" b="1" dirty="0"/>
              <a:t>Data Integration</a:t>
            </a:r>
            <a:r>
              <a:rPr lang="en-US" sz="32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Combining data from multiple sources into a single, unified view.</a:t>
            </a:r>
          </a:p>
          <a:p>
            <a:r>
              <a:rPr lang="en-US" sz="3200" b="1" dirty="0"/>
              <a:t>Data Consolidation</a:t>
            </a:r>
            <a:r>
              <a:rPr lang="en-US" sz="32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Merging, cleaning, and standardizing that integrated data so it’s consistent and usable.</a:t>
            </a:r>
            <a:endParaRPr lang="en-IN" sz="3200" b="0" i="0" dirty="0">
              <a:solidFill>
                <a:srgbClr val="272C37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1751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D628D-E06F-E6A6-733A-2F56EB97E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6B1A6-5DA4-0E7A-0A14-1EA42347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DACC4-54E4-2C1B-FBBC-30D535E7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21BBA-B5B3-D175-325A-F7F923FD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61CBF-84E4-F7ED-EC83-C6EB77DF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785B78-7495-4FA3-283A-EE3526F8C867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E8E153-85B9-9448-1E1D-04041A240EA7}"/>
              </a:ext>
            </a:extLst>
          </p:cNvPr>
          <p:cNvSpPr txBox="1"/>
          <p:nvPr/>
        </p:nvSpPr>
        <p:spPr>
          <a:xfrm>
            <a:off x="603504" y="856501"/>
            <a:ext cx="8223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9. Data Integration &amp; Consolidation</a:t>
            </a:r>
          </a:p>
          <a:p>
            <a:pPr algn="ctr"/>
            <a:endParaRPr lang="en-US" sz="3200" b="1" dirty="0">
              <a:solidFill>
                <a:srgbClr val="00B050"/>
              </a:solidFill>
              <a:highlight>
                <a:srgbClr val="FFFFFF"/>
              </a:highligh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130" y="1458942"/>
            <a:ext cx="5920252" cy="42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024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D628D-E06F-E6A6-733A-2F56EB97E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6B1A6-5DA4-0E7A-0A14-1EA42347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65112"/>
            <a:ext cx="8458200" cy="571500"/>
          </a:xfrm>
        </p:spPr>
        <p:txBody>
          <a:bodyPr bIns="91440" anchor="b" anchorCtr="0"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Transformation Techniques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DACC4-54E4-2C1B-FBBC-30D535E7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21BBA-B5B3-D175-325A-F7F923FD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61CBF-84E4-F7ED-EC83-C6EB77DF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785B78-7495-4FA3-283A-EE3526F8C867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E8E153-85B9-9448-1E1D-04041A240EA7}"/>
              </a:ext>
            </a:extLst>
          </p:cNvPr>
          <p:cNvSpPr txBox="1"/>
          <p:nvPr/>
        </p:nvSpPr>
        <p:spPr>
          <a:xfrm>
            <a:off x="603504" y="856501"/>
            <a:ext cx="8223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highlight>
                  <a:srgbClr val="FFFFFF"/>
                </a:highlight>
              </a:rPr>
              <a:t>9. Data Integration &amp; Consolidation</a:t>
            </a:r>
          </a:p>
          <a:p>
            <a:pPr algn="ctr"/>
            <a:endParaRPr lang="en-US" sz="3200" b="1" dirty="0">
              <a:solidFill>
                <a:srgbClr val="00B050"/>
              </a:solidFill>
              <a:highlight>
                <a:srgbClr val="FFFFFF"/>
              </a:highligh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26" y="1524000"/>
            <a:ext cx="6963747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019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UNIT 3 – NO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229600" cy="4953000"/>
          </a:xfrm>
        </p:spPr>
        <p:txBody>
          <a:bodyPr>
            <a:normAutofit/>
          </a:bodyPr>
          <a:lstStyle/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solidFill>
                  <a:srgbClr val="494949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Some say the term “NoSQL” stands for “</a:t>
            </a:r>
            <a:r>
              <a:rPr lang="en-IN" sz="2800" dirty="0">
                <a:solidFill>
                  <a:srgbClr val="FF0000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non SQL</a:t>
            </a:r>
            <a:r>
              <a:rPr lang="en-IN" sz="2800" dirty="0">
                <a:solidFill>
                  <a:srgbClr val="494949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” while others say it stands for “</a:t>
            </a:r>
            <a:r>
              <a:rPr lang="en-IN" sz="2800" dirty="0">
                <a:solidFill>
                  <a:srgbClr val="FF0000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not only SQL</a:t>
            </a:r>
            <a:r>
              <a:rPr lang="en-IN" sz="2800" dirty="0">
                <a:solidFill>
                  <a:srgbClr val="494949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.”</a:t>
            </a:r>
            <a:endParaRPr lang="en-US" sz="2800" dirty="0"/>
          </a:p>
          <a:p>
            <a:r>
              <a:rPr lang="en-US" sz="2800" dirty="0">
                <a:solidFill>
                  <a:srgbClr val="494949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These are non-relational, open-source, distributed databases</a:t>
            </a:r>
            <a:endParaRPr lang="en-IN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 err="1">
                <a:solidFill>
                  <a:srgbClr val="494949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NoSQL</a:t>
            </a:r>
            <a:r>
              <a:rPr lang="en-IN" sz="2800" dirty="0">
                <a:solidFill>
                  <a:srgbClr val="494949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 databases are databases that </a:t>
            </a:r>
            <a:r>
              <a:rPr lang="en-IN" sz="2800" dirty="0">
                <a:solidFill>
                  <a:srgbClr val="FF0000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store data in a format other than relational tables.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200" b="1" dirty="0">
                <a:solidFill>
                  <a:schemeClr val="accent1"/>
                </a:solidFill>
                <a:latin typeface="+mn-lt"/>
              </a:rPr>
              <a:t>UNIT 3 – </a:t>
            </a:r>
            <a:r>
              <a:rPr lang="en-IN" sz="3200" b="1" dirty="0">
                <a:solidFill>
                  <a:schemeClr val="accent1"/>
                </a:solidFill>
                <a:latin typeface="+mn-lt"/>
              </a:rPr>
              <a:t>Characteristics of 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NO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229600" cy="4953000"/>
          </a:xfrm>
        </p:spPr>
        <p:txBody>
          <a:bodyPr>
            <a:normAutofit lnSpcReduction="10000"/>
          </a:bodyPr>
          <a:lstStyle/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solidFill>
                  <a:srgbClr val="FF0000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Schema free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solidFill>
                  <a:srgbClr val="494949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Eventually consistent (as in the BASE property)</a:t>
            </a:r>
            <a:r>
              <a:rPr lang="en-US" dirty="0"/>
              <a:t> (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asically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vailable,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oft State, and </a:t>
            </a:r>
            <a:r>
              <a:rPr lang="en-US" b="1" dirty="0">
                <a:solidFill>
                  <a:srgbClr val="FF0000"/>
                </a:solidFill>
              </a:rPr>
              <a:t>E</a:t>
            </a:r>
            <a:r>
              <a:rPr lang="en-US" dirty="0"/>
              <a:t>ventual Consistency)</a:t>
            </a:r>
          </a:p>
          <a:p>
            <a:pPr marL="34290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US" altLang="en-US" sz="2800" dirty="0">
                <a:solidFill>
                  <a:srgbClr val="494949"/>
                </a:solidFill>
                <a:latin typeface="inherit"/>
                <a:cs typeface="Open Sans" panose="020B0606030504020204" pitchFamily="34" charset="0"/>
              </a:rPr>
              <a:t>CAP Theorem: </a:t>
            </a:r>
            <a:r>
              <a:rPr lang="en-US" altLang="en-US" dirty="0">
                <a:solidFill>
                  <a:srgbClr val="FF0000"/>
                </a:solidFill>
              </a:rPr>
              <a:t>C</a:t>
            </a:r>
            <a:r>
              <a:rPr lang="en-US" altLang="en-US" dirty="0"/>
              <a:t>onsistency, </a:t>
            </a:r>
            <a:r>
              <a:rPr lang="en-US" altLang="en-US" dirty="0">
                <a:solidFill>
                  <a:srgbClr val="FF0000"/>
                </a:solidFill>
              </a:rPr>
              <a:t>A</a:t>
            </a:r>
            <a:r>
              <a:rPr lang="en-US" altLang="en-US" dirty="0"/>
              <a:t>vailability, and </a:t>
            </a:r>
            <a:r>
              <a:rPr lang="en-US" altLang="en-US" dirty="0">
                <a:solidFill>
                  <a:srgbClr val="FF0000"/>
                </a:solidFill>
              </a:rPr>
              <a:t>P</a:t>
            </a:r>
            <a:r>
              <a:rPr lang="en-US" altLang="en-US" dirty="0"/>
              <a:t>artition Tolerance.</a:t>
            </a:r>
            <a:endParaRPr lang="en-IN" dirty="0"/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solidFill>
                  <a:srgbClr val="00B050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Replication of data stores </a:t>
            </a:r>
            <a:r>
              <a:rPr lang="en-IN" sz="2800" dirty="0">
                <a:solidFill>
                  <a:srgbClr val="FF0000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to avoid Single Point of Failure.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solidFill>
                  <a:srgbClr val="494949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Can handle </a:t>
            </a:r>
            <a:r>
              <a:rPr lang="en-IN" sz="2800" dirty="0">
                <a:solidFill>
                  <a:srgbClr val="FF0000"/>
                </a:solidFill>
                <a:latin typeface="inherit"/>
                <a:ea typeface="Times New Roman" panose="02020603050405020304" pitchFamily="18" charset="0"/>
                <a:cs typeface="Open Sans" panose="020B0606030504020204" pitchFamily="34" charset="0"/>
              </a:rPr>
              <a:t>Data variety and huge amounts of data.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sz="3200" b="1" dirty="0">
                <a:solidFill>
                  <a:schemeClr val="accent1"/>
                </a:solidFill>
                <a:latin typeface="+mn-lt"/>
              </a:rPr>
              <a:t>UNIT 3 – </a:t>
            </a:r>
            <a:r>
              <a:rPr lang="en-IN" sz="3200" b="1" dirty="0">
                <a:solidFill>
                  <a:schemeClr val="accent1"/>
                </a:solidFill>
                <a:latin typeface="+mn-lt"/>
              </a:rPr>
              <a:t>Special Features of 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NO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229600" cy="4953000"/>
          </a:xfrm>
        </p:spPr>
        <p:txBody>
          <a:bodyPr>
            <a:normAutofit/>
          </a:bodyPr>
          <a:lstStyle/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Are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Non-relational</a:t>
            </a: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data storage systems</a:t>
            </a: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Are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 fixed table schema</a:t>
            </a: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Are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Distributed</a:t>
            </a: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No joins</a:t>
            </a: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 multi-document </a:t>
            </a: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transaction</a:t>
            </a: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Release</a:t>
            </a: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one or more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ACID properties</a:t>
            </a: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(CAP Properties)</a:t>
            </a: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UNIT 3 – NO SQL  Types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229600" cy="29718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400" b="1" u="sng" dirty="0"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Graph Databases: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it-IT" sz="2800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Graph-oriented</a:t>
            </a:r>
            <a:endParaRPr lang="en-IN" sz="2800" dirty="0">
              <a:solidFill>
                <a:srgbClr val="FF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dirty="0"/>
              <a:t>It is designed to </a:t>
            </a:r>
            <a:r>
              <a:rPr lang="en-US" sz="2800" dirty="0">
                <a:solidFill>
                  <a:srgbClr val="FF0000"/>
                </a:solidFill>
              </a:rPr>
              <a:t>store and navigate relationships between data</a:t>
            </a:r>
            <a:r>
              <a:rPr lang="en-US" sz="2800" dirty="0"/>
              <a:t>. Instead of tables or documents, it uses </a:t>
            </a:r>
            <a:r>
              <a:rPr lang="en-US" sz="2800" b="1" dirty="0"/>
              <a:t>nodes, edges, and properties</a:t>
            </a:r>
            <a:r>
              <a:rPr lang="en-US" sz="2800" dirty="0"/>
              <a:t>.</a:t>
            </a:r>
            <a:r>
              <a:rPr lang="it-IT" sz="2800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800" dirty="0">
              <a:solidFill>
                <a:srgbClr val="FF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800" dirty="0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Graph Databases: </a:t>
            </a:r>
            <a:r>
              <a:rPr lang="en-IN" sz="2800" b="1" dirty="0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Amazon Neptune, </a:t>
            </a:r>
            <a:r>
              <a:rPr lang="en-IN" sz="2800" b="1" dirty="0">
                <a:solidFill>
                  <a:srgbClr val="FF0000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Neo4j, </a:t>
            </a:r>
            <a:r>
              <a:rPr lang="en-IN" sz="2800" dirty="0" err="1"/>
              <a:t>OrientDB</a:t>
            </a:r>
            <a:endParaRPr lang="en-IN" sz="2800" dirty="0">
              <a:solidFill>
                <a:srgbClr val="FF0000"/>
              </a:solidFill>
              <a:ea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7D0FE6-420D-8C66-DEF1-986A815BBD8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1" y="4214680"/>
            <a:ext cx="2667000" cy="1728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See the source image">
            <a:extLst>
              <a:ext uri="{FF2B5EF4-FFF2-40B4-BE49-F238E27FC236}">
                <a16:creationId xmlns:a16="http://schemas.microsoft.com/office/drawing/2014/main" id="{B0BA4A29-4F3D-55B1-DEEC-261E108B64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267200"/>
            <a:ext cx="3572828" cy="1693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UNIT 3 – NO SQL  Types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229600" cy="31242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u="sng" dirty="0"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Key value Store: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it-IT" sz="2800" dirty="0">
                <a:ea typeface="Calibri" panose="020F0502020204030204" pitchFamily="34" charset="0"/>
                <a:cs typeface="Times New Roman" panose="02020603050405020304" pitchFamily="18" charset="0"/>
              </a:rPr>
              <a:t>The Key-Value Store Data Model is also very similar to the RDBMS structure.</a:t>
            </a:r>
            <a:br>
              <a:rPr lang="it-IT" sz="28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2800" dirty="0">
                <a:ea typeface="Calibri" panose="020F0502020204030204" pitchFamily="34" charset="0"/>
                <a:cs typeface="Times New Roman" panose="02020603050405020304" pitchFamily="18" charset="0"/>
              </a:rPr>
              <a:t>In a Key-Value Store Data Model, </a:t>
            </a:r>
            <a:r>
              <a:rPr lang="it-IT" sz="2800" b="1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we have a key in the left side and a value in the right side.</a:t>
            </a:r>
            <a:endParaRPr lang="en-IN" sz="2800" dirty="0">
              <a:solidFill>
                <a:srgbClr val="FF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it-IT" sz="2800" dirty="0">
                <a:ea typeface="Calibri" panose="020F0502020204030204" pitchFamily="34" charset="0"/>
                <a:cs typeface="Times New Roman" panose="02020603050405020304" pitchFamily="18" charset="0"/>
              </a:rPr>
              <a:t>Key-valueue store: </a:t>
            </a:r>
            <a:r>
              <a:rPr lang="it-IT" sz="2800" b="1" dirty="0">
                <a:ea typeface="Calibri" panose="020F0502020204030204" pitchFamily="34" charset="0"/>
                <a:cs typeface="Times New Roman" panose="02020603050405020304" pitchFamily="18" charset="0"/>
              </a:rPr>
              <a:t>Memcached, </a:t>
            </a:r>
            <a:r>
              <a:rPr lang="it-IT" sz="2800" b="1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Redis</a:t>
            </a:r>
            <a:r>
              <a:rPr lang="it-IT" sz="2800" b="1" dirty="0">
                <a:ea typeface="Calibri" panose="020F0502020204030204" pitchFamily="34" charset="0"/>
                <a:cs typeface="Times New Roman" panose="02020603050405020304" pitchFamily="18" charset="0"/>
              </a:rPr>
              <a:t>, Coherence</a:t>
            </a:r>
            <a:endParaRPr lang="en-IN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97B7694-54E9-3F92-60F0-FE82ED13B14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24162" y="4114799"/>
            <a:ext cx="3447098" cy="2071541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UNIT 3 – NO SQL  Types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229600" cy="31242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u="sng" dirty="0"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Wide-column stores: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b="1" dirty="0"/>
              <a:t>NoSQL database</a:t>
            </a:r>
            <a:r>
              <a:rPr lang="en-US" sz="2800" dirty="0"/>
              <a:t> that organizes data into rows and dynamic columns, but unlike relational databases, each row doesn’t need to have the same columns.</a:t>
            </a: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800" dirty="0"/>
              <a:t>Tables → Rows → Columns (similar to RDBMS, but more flexible).</a:t>
            </a: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it-IT" sz="2800" dirty="0">
                <a:ea typeface="Calibri" panose="020F0502020204030204" pitchFamily="34" charset="0"/>
                <a:cs typeface="Times New Roman" panose="02020603050405020304" pitchFamily="18" charset="0"/>
              </a:rPr>
              <a:t>The Row key identifies the row consisting of multiple columns.</a:t>
            </a:r>
            <a:endParaRPr lang="en-IN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2800" dirty="0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Wide Column Stores: Apache </a:t>
            </a:r>
            <a:r>
              <a:rPr lang="en-IN" sz="2800" dirty="0">
                <a:solidFill>
                  <a:srgbClr val="FF0000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Cassandra</a:t>
            </a:r>
            <a:r>
              <a:rPr lang="en-IN" sz="2800" dirty="0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 and </a:t>
            </a:r>
            <a:r>
              <a:rPr lang="en-IN" sz="2800" dirty="0">
                <a:solidFill>
                  <a:srgbClr val="FF0000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HBase.</a:t>
            </a:r>
            <a:endParaRPr lang="en-IN" sz="2800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C92FBB9-718A-F0A3-0A0C-4CCCDD55F46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3581" y="4366260"/>
            <a:ext cx="2893219" cy="16306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69F06C-6169-D217-039F-9AB6E01CFF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446590"/>
            <a:ext cx="4631443" cy="1138236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UNIT 3 – NO SQL  Types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8229600" cy="312420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u="sng" dirty="0">
                <a:solidFill>
                  <a:srgbClr val="42494F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Document-based: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‌Document stores use JSON, XML documents to store data.</a:t>
            </a:r>
            <a:endParaRPr lang="en-IN" sz="2800" dirty="0">
              <a:ea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It is like a key-value database, but a document store consists of </a:t>
            </a:r>
            <a:r>
              <a:rPr lang="en-IN" sz="2800" b="1" dirty="0">
                <a:solidFill>
                  <a:srgbClr val="FF0000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semi-structured data</a:t>
            </a:r>
            <a:r>
              <a:rPr lang="en-IN" sz="2800" dirty="0">
                <a:solidFill>
                  <a:srgbClr val="FF0000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.</a:t>
            </a:r>
            <a:endParaRPr lang="en-IN" sz="2800" dirty="0">
              <a:solidFill>
                <a:srgbClr val="FF0000"/>
              </a:solidFill>
              <a:ea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A single document is to store records and its data.</a:t>
            </a:r>
            <a:endParaRPr lang="en-IN" sz="2800" dirty="0">
              <a:ea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‌It </a:t>
            </a:r>
            <a:r>
              <a:rPr lang="en-IN" sz="2800" b="1" dirty="0">
                <a:solidFill>
                  <a:srgbClr val="FF0000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does not support relations or joins</a:t>
            </a:r>
            <a:r>
              <a:rPr lang="en-IN" sz="2800" b="1" dirty="0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.</a:t>
            </a:r>
            <a:endParaRPr lang="en-IN" sz="2800" dirty="0">
              <a:ea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"/>
              <a:tabLst>
                <a:tab pos="914400" algn="l"/>
              </a:tabLst>
            </a:pPr>
            <a:r>
              <a:rPr lang="en-IN" sz="2800" dirty="0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Document-based: </a:t>
            </a:r>
            <a:r>
              <a:rPr lang="en-IN" sz="2800" dirty="0" err="1">
                <a:solidFill>
                  <a:srgbClr val="FF0000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MongoDB</a:t>
            </a:r>
            <a:r>
              <a:rPr lang="en-IN" sz="2800" dirty="0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, </a:t>
            </a:r>
            <a:r>
              <a:rPr lang="en-IN" sz="2800" dirty="0" err="1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CouchDB</a:t>
            </a:r>
            <a:r>
              <a:rPr lang="en-IN" sz="2800" dirty="0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, </a:t>
            </a:r>
            <a:r>
              <a:rPr lang="en-IN" sz="2800" dirty="0" err="1">
                <a:solidFill>
                  <a:srgbClr val="494949"/>
                </a:solidFill>
                <a:ea typeface="Times New Roman" panose="02020603050405020304" pitchFamily="18" charset="0"/>
                <a:cs typeface="Open Sans" panose="020B0606030504020204" pitchFamily="34" charset="0"/>
              </a:rPr>
              <a:t>Cloudant</a:t>
            </a:r>
            <a:endParaRPr lang="en-IN" sz="2800" dirty="0">
              <a:ea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ee the source image">
            <a:extLst>
              <a:ext uri="{FF2B5EF4-FFF2-40B4-BE49-F238E27FC236}">
                <a16:creationId xmlns:a16="http://schemas.microsoft.com/office/drawing/2014/main" id="{27CE9F53-49DE-7841-78CA-9B5210D0FE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664" y="4186555"/>
            <a:ext cx="6279356" cy="2031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Advantages of NoSQL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0292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Handle large volumes </a:t>
            </a:r>
            <a:r>
              <a:rPr lang="en-US" sz="3600" dirty="0"/>
              <a:t>of data at </a:t>
            </a:r>
            <a:r>
              <a:rPr lang="en-US" sz="3600" dirty="0">
                <a:solidFill>
                  <a:srgbClr val="FF0000"/>
                </a:solidFill>
              </a:rPr>
              <a:t>high speed </a:t>
            </a:r>
            <a:r>
              <a:rPr lang="en-US" sz="3600" dirty="0"/>
              <a:t>with a scale-out architecture</a:t>
            </a:r>
          </a:p>
          <a:p>
            <a:r>
              <a:rPr lang="en-US" sz="3600" dirty="0"/>
              <a:t>Store </a:t>
            </a:r>
            <a:r>
              <a:rPr lang="en-US" sz="3600" dirty="0">
                <a:solidFill>
                  <a:srgbClr val="FF0000"/>
                </a:solidFill>
              </a:rPr>
              <a:t>unstructured</a:t>
            </a:r>
            <a:r>
              <a:rPr lang="en-US" sz="3600" dirty="0"/>
              <a:t>, </a:t>
            </a:r>
            <a:r>
              <a:rPr lang="en-US" sz="3600" dirty="0">
                <a:solidFill>
                  <a:srgbClr val="FF0000"/>
                </a:solidFill>
              </a:rPr>
              <a:t>semi-structured</a:t>
            </a:r>
            <a:r>
              <a:rPr lang="en-US" sz="3600" dirty="0"/>
              <a:t>, or </a:t>
            </a:r>
            <a:r>
              <a:rPr lang="en-US" sz="3600" dirty="0">
                <a:solidFill>
                  <a:srgbClr val="FF0000"/>
                </a:solidFill>
              </a:rPr>
              <a:t>structured data</a:t>
            </a:r>
          </a:p>
          <a:p>
            <a:r>
              <a:rPr lang="en-US" sz="3600" dirty="0"/>
              <a:t>Be </a:t>
            </a:r>
            <a:r>
              <a:rPr lang="en-US" sz="3600" dirty="0">
                <a:solidFill>
                  <a:srgbClr val="FF0000"/>
                </a:solidFill>
              </a:rPr>
              <a:t>developer-friendly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b="1" dirty="0" err="1"/>
              <a:t>NoSQL</a:t>
            </a:r>
            <a:r>
              <a:rPr lang="en-US" b="1" dirty="0"/>
              <a:t> Vendors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133600"/>
            <a:ext cx="7037917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D01CC-DE77-9818-7645-C4D76D0A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B8FDA-F0AB-3D2A-FE06-2E7DC0AE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b="1" dirty="0"/>
              <a:t>SQL </a:t>
            </a:r>
            <a:r>
              <a:rPr lang="en-US" b="1" dirty="0" err="1"/>
              <a:t>vs</a:t>
            </a:r>
            <a:r>
              <a:rPr lang="en-US" b="1" dirty="0"/>
              <a:t> </a:t>
            </a:r>
            <a:r>
              <a:rPr lang="en-US" b="1" dirty="0" err="1"/>
              <a:t>NoSQL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94DC5-0406-647B-5770-59130E12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3209E-5CEE-E0E6-A6AD-4EF747D7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987C3-5741-67DE-E3F4-A269C382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3C139E-2907-446F-0FBD-7123B3F25A7A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8D96D2D-655A-4F98-E2B6-D0433C6B062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921560"/>
            <a:ext cx="5562600" cy="5093900"/>
          </a:xfrm>
        </p:spPr>
      </p:pic>
    </p:spTree>
    <p:extLst>
      <p:ext uri="{BB962C8B-B14F-4D97-AF65-F5344CB8AC3E}">
        <p14:creationId xmlns:p14="http://schemas.microsoft.com/office/powerpoint/2010/main" val="18369830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D9F6A-B970-B3B6-0607-DE25A7AFB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A50FA-6A7F-238F-4B16-B1F5DB87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b="1" dirty="0"/>
              <a:t>SQL </a:t>
            </a:r>
            <a:r>
              <a:rPr lang="en-US" b="1" dirty="0" err="1"/>
              <a:t>vs</a:t>
            </a:r>
            <a:r>
              <a:rPr lang="en-US" b="1" dirty="0"/>
              <a:t> </a:t>
            </a:r>
            <a:r>
              <a:rPr lang="en-US" b="1" dirty="0" err="1"/>
              <a:t>NoSQL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0AE63-9001-2E29-2A4F-B2DA7AFF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A4622-55E7-69E2-9E9E-FAD82B370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D284F-1B8F-E939-7E8D-FAD58CF7A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0040D1-F412-3049-9DE5-D84929612FD2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111C11B-4019-6B64-4ADA-15ED33C030A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79357"/>
            <a:ext cx="5806190" cy="5247076"/>
          </a:xfrm>
        </p:spPr>
      </p:pic>
    </p:spTree>
    <p:extLst>
      <p:ext uri="{BB962C8B-B14F-4D97-AF65-F5344CB8AC3E}">
        <p14:creationId xmlns:p14="http://schemas.microsoft.com/office/powerpoint/2010/main" val="38393257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1EE26-0D05-2E1E-BC7D-AE4C7045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B2F28-225A-CF28-1105-3F7893AFF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b="1" dirty="0"/>
              <a:t>SQL </a:t>
            </a:r>
            <a:r>
              <a:rPr lang="en-US" b="1" dirty="0" err="1"/>
              <a:t>vs</a:t>
            </a:r>
            <a:r>
              <a:rPr lang="en-US" b="1" dirty="0"/>
              <a:t> </a:t>
            </a:r>
            <a:r>
              <a:rPr lang="en-US" b="1" dirty="0" err="1"/>
              <a:t>NoSQL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F84A6-5767-3F01-792B-9B8CFC2C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5AEB8-FF55-0643-6030-9851CBA4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07ECA-FAA4-9355-63D6-E803E0B8B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E0A4BD-E86D-21A2-A25D-E1E0C71B2AE5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8D3E160-2F60-422F-B014-A9A05D13960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861695"/>
            <a:ext cx="5943599" cy="5134610"/>
          </a:xfrm>
        </p:spPr>
      </p:pic>
    </p:spTree>
    <p:extLst>
      <p:ext uri="{BB962C8B-B14F-4D97-AF65-F5344CB8AC3E}">
        <p14:creationId xmlns:p14="http://schemas.microsoft.com/office/powerpoint/2010/main" val="11296298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124F0-A506-E4D2-5775-489ABF1D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34B64-D162-C062-4025-79088FD6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b="1" dirty="0"/>
              <a:t>SQL </a:t>
            </a:r>
            <a:r>
              <a:rPr lang="en-US" b="1" dirty="0" err="1"/>
              <a:t>vs</a:t>
            </a:r>
            <a:r>
              <a:rPr lang="en-US" b="1" dirty="0"/>
              <a:t> </a:t>
            </a:r>
            <a:r>
              <a:rPr lang="en-US" b="1" dirty="0" err="1"/>
              <a:t>NoSQL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AE9F7-A399-D24A-5EC6-198843576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214DA-1A03-7C77-75A3-4CCFADED3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79D96-C672-9E00-903D-8D67D7895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380FCD-09E1-E164-73B3-87BEA4CC7185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2910D45-DEDB-F140-3A42-D1D6E820DFE7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910449"/>
            <a:ext cx="5653790" cy="5109351"/>
          </a:xfrm>
        </p:spPr>
      </p:pic>
    </p:spTree>
    <p:extLst>
      <p:ext uri="{BB962C8B-B14F-4D97-AF65-F5344CB8AC3E}">
        <p14:creationId xmlns:p14="http://schemas.microsoft.com/office/powerpoint/2010/main" val="42183525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738B3-98D0-EC03-98DA-D67C1E468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739A-E7B5-2BD3-FCE2-188077FE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b="1" dirty="0"/>
              <a:t>SQL </a:t>
            </a:r>
            <a:r>
              <a:rPr lang="en-US" b="1" dirty="0" err="1"/>
              <a:t>vs</a:t>
            </a:r>
            <a:r>
              <a:rPr lang="en-US" b="1" dirty="0"/>
              <a:t> </a:t>
            </a:r>
            <a:r>
              <a:rPr lang="en-US" b="1" dirty="0" err="1"/>
              <a:t>NoSQL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FB472-8F34-4C47-5294-BBF858AF4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A5420-3E62-AF28-285B-B81CB943A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36769-BD82-2F21-8B4D-6F62DE9EB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5C7C21-8A93-0BD7-4D34-DDC0EF485CB8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11D66FC-1C9F-68C8-2D5F-FE92F980DBF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990599"/>
            <a:ext cx="5638800" cy="4886961"/>
          </a:xfrm>
        </p:spPr>
      </p:pic>
    </p:spTree>
    <p:extLst>
      <p:ext uri="{BB962C8B-B14F-4D97-AF65-F5344CB8AC3E}">
        <p14:creationId xmlns:p14="http://schemas.microsoft.com/office/powerpoint/2010/main" val="145959329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3EF8-9F8D-DC65-36A9-D128E96CD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7DF9-4A60-B9B2-7D54-6519E8AB4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b="1" dirty="0"/>
              <a:t>SQL </a:t>
            </a:r>
            <a:r>
              <a:rPr lang="en-US" b="1" dirty="0" err="1"/>
              <a:t>vs</a:t>
            </a:r>
            <a:r>
              <a:rPr lang="en-US" b="1" dirty="0"/>
              <a:t> </a:t>
            </a:r>
            <a:r>
              <a:rPr lang="en-US" b="1" dirty="0" err="1"/>
              <a:t>NoSQL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609CF-4854-590C-90C3-5C46DC878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9469F-24C0-0240-BDA6-1F838BFD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691FA-2628-32BA-F464-91C0FBC66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6EA4B4-12EA-9927-8176-DB89D666CC46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31DBAC5-6D79-DB1A-BA9C-7677FD6F113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486" y="990599"/>
            <a:ext cx="5612313" cy="4858809"/>
          </a:xfrm>
        </p:spPr>
      </p:pic>
    </p:spTree>
    <p:extLst>
      <p:ext uri="{BB962C8B-B14F-4D97-AF65-F5344CB8AC3E}">
        <p14:creationId xmlns:p14="http://schemas.microsoft.com/office/powerpoint/2010/main" val="295005997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b="1" dirty="0"/>
              <a:t>SQL </a:t>
            </a:r>
            <a:r>
              <a:rPr lang="en-US" b="1" dirty="0" err="1"/>
              <a:t>vs</a:t>
            </a:r>
            <a:r>
              <a:rPr lang="en-US" b="1" dirty="0"/>
              <a:t> </a:t>
            </a:r>
            <a:r>
              <a:rPr lang="en-US" b="1" dirty="0" err="1"/>
              <a:t>NoSQL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 descr="Untitled.png"/>
          <p:cNvPicPr>
            <a:picLocks noGrp="1" noChangeAspect="1"/>
          </p:cNvPicPr>
          <p:nvPr>
            <p:ph sz="quarter" idx="1"/>
          </p:nvPr>
        </p:nvPicPr>
        <p:blipFill>
          <a:blip r:embed="rId3" cstate="print"/>
          <a:stretch>
            <a:fillRect/>
          </a:stretch>
        </p:blipFill>
        <p:spPr>
          <a:xfrm>
            <a:off x="533400" y="1143000"/>
            <a:ext cx="8305800" cy="4672013"/>
          </a:xfr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029200"/>
          </a:xfrm>
        </p:spPr>
        <p:txBody>
          <a:bodyPr>
            <a:normAutofit/>
          </a:bodyPr>
          <a:lstStyle/>
          <a:p>
            <a:r>
              <a:rPr lang="en-US" dirty="0"/>
              <a:t>MongoDB is the </a:t>
            </a:r>
            <a:r>
              <a:rPr lang="en-US" b="1" dirty="0">
                <a:solidFill>
                  <a:srgbClr val="FF0000"/>
                </a:solidFill>
              </a:rPr>
              <a:t>most popular document-based NoSQL database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en-US" dirty="0"/>
              <a:t>It stores data as </a:t>
            </a:r>
            <a:r>
              <a:rPr lang="en-US" b="1" dirty="0"/>
              <a:t>documents</a:t>
            </a:r>
            <a:r>
              <a:rPr lang="en-US" dirty="0"/>
              <a:t> in a JSON-like format (BSON internally).</a:t>
            </a:r>
          </a:p>
          <a:p>
            <a:r>
              <a:rPr lang="en-US" dirty="0"/>
              <a:t>MongoDB  is</a:t>
            </a:r>
          </a:p>
          <a:p>
            <a:pPr>
              <a:buNone/>
            </a:pPr>
            <a:r>
              <a:rPr lang="en-US" dirty="0"/>
              <a:t>		1.Cross-platform.</a:t>
            </a:r>
          </a:p>
          <a:p>
            <a:pPr>
              <a:buNone/>
            </a:pPr>
            <a:r>
              <a:rPr lang="en-US" dirty="0"/>
              <a:t>		2.Open source.</a:t>
            </a:r>
          </a:p>
          <a:p>
            <a:pPr>
              <a:buNone/>
            </a:pPr>
            <a:r>
              <a:rPr lang="en-US" dirty="0"/>
              <a:t>		3.Non-relational.</a:t>
            </a:r>
          </a:p>
          <a:p>
            <a:pPr>
              <a:buNone/>
            </a:pPr>
            <a:r>
              <a:rPr lang="en-US" dirty="0"/>
              <a:t>		4.Distributed.</a:t>
            </a:r>
          </a:p>
          <a:p>
            <a:pPr>
              <a:buNone/>
            </a:pPr>
            <a:r>
              <a:rPr lang="en-US" dirty="0"/>
              <a:t>		5.NoSQL.</a:t>
            </a:r>
          </a:p>
          <a:p>
            <a:pPr>
              <a:buNone/>
            </a:pPr>
            <a:r>
              <a:rPr lang="en-US" dirty="0"/>
              <a:t>		6.Document-oriented datastore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C1DD8F0-F310-7FC2-1945-1426FF007D63}"/>
              </a:ext>
            </a:extLst>
          </p:cNvPr>
          <p:cNvSpPr txBox="1"/>
          <p:nvPr/>
        </p:nvSpPr>
        <p:spPr>
          <a:xfrm>
            <a:off x="5867400" y="2514600"/>
            <a:ext cx="2971800" cy="3201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029200"/>
          </a:xfrm>
        </p:spPr>
        <p:txBody>
          <a:bodyPr>
            <a:normAutofit/>
          </a:bodyPr>
          <a:lstStyle/>
          <a:p>
            <a:r>
              <a:rPr lang="en-US" dirty="0"/>
              <a:t>The structure of JSON objects.</a:t>
            </a:r>
          </a:p>
          <a:p>
            <a:pPr lvl="3">
              <a:buNone/>
            </a:pPr>
            <a:r>
              <a:rPr lang="en-US" sz="2400" dirty="0"/>
              <a:t>{ </a:t>
            </a:r>
          </a:p>
          <a:p>
            <a:pPr lvl="3">
              <a:buNone/>
            </a:pPr>
            <a:r>
              <a:rPr lang="en-US" sz="2400" dirty="0"/>
              <a:t>title: "Post Title 1", </a:t>
            </a:r>
          </a:p>
          <a:p>
            <a:pPr lvl="3">
              <a:buNone/>
            </a:pPr>
            <a:r>
              <a:rPr lang="en-US" sz="2400" dirty="0"/>
              <a:t>body: "Body of post.", </a:t>
            </a:r>
          </a:p>
          <a:p>
            <a:pPr lvl="3">
              <a:buNone/>
            </a:pPr>
            <a:r>
              <a:rPr lang="en-US" sz="2400" dirty="0"/>
              <a:t>category: "News", </a:t>
            </a:r>
          </a:p>
          <a:p>
            <a:pPr lvl="3">
              <a:buNone/>
            </a:pPr>
            <a:r>
              <a:rPr lang="en-US" sz="2400" dirty="0"/>
              <a:t>likes: 1, </a:t>
            </a:r>
          </a:p>
          <a:p>
            <a:pPr lvl="3">
              <a:buNone/>
            </a:pPr>
            <a:r>
              <a:rPr lang="en-US" sz="2400" dirty="0"/>
              <a:t>tags: ["news", "events"], </a:t>
            </a:r>
          </a:p>
          <a:p>
            <a:pPr lvl="3">
              <a:buNone/>
            </a:pPr>
            <a:r>
              <a:rPr lang="en-US" sz="2400" dirty="0"/>
              <a:t>date: Date() </a:t>
            </a:r>
          </a:p>
          <a:p>
            <a:pPr lvl="3">
              <a:buNone/>
            </a:pPr>
            <a:r>
              <a:rPr lang="en-US" sz="2400" dirty="0"/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TERMS USED IN RDBMS AND MONGODB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0" name="Picture 4" descr="C:\Users\AGS-08-12-2023\Desktop\mongodb-lay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81200" y="914400"/>
            <a:ext cx="5249862" cy="34999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4DEB0-DB28-0DC6-6C40-D7990F83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4554-258D-01E6-E69A-A95AFBCCA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RDBMS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vs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MONGODB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5F683-B00E-2EA0-B005-A5BD2A15A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4E324-D3E9-CC07-4015-2F1DF261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B9F23-2E56-1548-7F89-136A3087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C525E8-F24A-FF31-8815-8613B075848D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6FD996DB-B2A1-7AE8-FD9A-2867B7AC432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92792430"/>
              </p:ext>
            </p:extLst>
          </p:nvPr>
        </p:nvGraphicFramePr>
        <p:xfrm>
          <a:off x="685800" y="1377250"/>
          <a:ext cx="7772400" cy="432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941985249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890115532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009384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RDBMS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MongoDB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674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+mn-lt"/>
                        </a:rPr>
                        <a:t>Data Model</a:t>
                      </a:r>
                      <a:endParaRPr lang="en-IN" sz="2000" dirty="0">
                        <a:latin typeface="+mn-lt"/>
                      </a:endParaRP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+mn-lt"/>
                        </a:rPr>
                        <a:t>Structured data in </a:t>
                      </a:r>
                      <a:r>
                        <a:rPr lang="en-US" sz="2000" b="1" dirty="0">
                          <a:latin typeface="+mn-lt"/>
                        </a:rPr>
                        <a:t>tables (rows &amp; columns)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+mn-lt"/>
                        </a:rPr>
                        <a:t>Unstructured/semi-structured data in </a:t>
                      </a:r>
                      <a:r>
                        <a:rPr lang="en-US" sz="2000" b="1" dirty="0">
                          <a:latin typeface="+mn-lt"/>
                        </a:rPr>
                        <a:t>documents (JSON/BSON)</a:t>
                      </a:r>
                      <a:endParaRPr lang="en-US" sz="2000" dirty="0">
                        <a:latin typeface="+mn-lt"/>
                      </a:endParaRP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966141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+mn-lt"/>
                        </a:rPr>
                        <a:t>Schema</a:t>
                      </a:r>
                      <a:endParaRPr lang="en-IN" sz="2000">
                        <a:latin typeface="+mn-lt"/>
                      </a:endParaRP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+mn-lt"/>
                        </a:rPr>
                        <a:t>Fixed schema</a:t>
                      </a:r>
                      <a:r>
                        <a:rPr lang="en-US" sz="2000" dirty="0">
                          <a:latin typeface="+mn-lt"/>
                        </a:rPr>
                        <a:t> → all rows must follow the same structure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+mn-lt"/>
                        </a:rPr>
                        <a:t>Schema-less</a:t>
                      </a:r>
                      <a:r>
                        <a:rPr lang="en-US" sz="2000" dirty="0">
                          <a:latin typeface="+mn-lt"/>
                        </a:rPr>
                        <a:t> → each document can have different fields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906311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+mn-lt"/>
                        </a:rPr>
                        <a:t>Storage Unit</a:t>
                      </a:r>
                      <a:endParaRPr lang="en-IN" sz="2000">
                        <a:latin typeface="+mn-lt"/>
                      </a:endParaRP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n-lt"/>
                        </a:rPr>
                        <a:t>Tables → Rows → Columns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n-lt"/>
                        </a:rPr>
                        <a:t>Collections → Documents → Fields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188617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+mn-lt"/>
                        </a:rPr>
                        <a:t>Relationships</a:t>
                      </a:r>
                      <a:endParaRPr lang="en-IN" sz="2000" dirty="0">
                        <a:latin typeface="+mn-lt"/>
                      </a:endParaRP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n-lt"/>
                        </a:rPr>
                        <a:t>Uses </a:t>
                      </a:r>
                      <a:r>
                        <a:rPr lang="en-IN" sz="2000" b="1" dirty="0">
                          <a:latin typeface="+mn-lt"/>
                        </a:rPr>
                        <a:t>joins</a:t>
                      </a:r>
                      <a:r>
                        <a:rPr lang="en-IN" sz="2000" dirty="0">
                          <a:latin typeface="+mn-lt"/>
                        </a:rPr>
                        <a:t> to connect multiple tables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+mn-lt"/>
                        </a:rPr>
                        <a:t>Embedding (nested docs) or references instead of joins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423803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Scalability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Vertical scaling (add CPU/RAM to one server)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Horizontal scaling (sharding across multiple servers)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959030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817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694F-4143-D651-5C07-1336A0634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5203D-6AA4-1409-E281-6C33A76A3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762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RDBMS </a:t>
            </a:r>
            <a:r>
              <a:rPr lang="en-US" sz="3200" b="1" dirty="0" err="1">
                <a:solidFill>
                  <a:schemeClr val="accent1"/>
                </a:solidFill>
                <a:latin typeface="+mn-lt"/>
              </a:rPr>
              <a:t>vs</a:t>
            </a:r>
            <a:r>
              <a:rPr lang="en-US" sz="3200" b="1" dirty="0">
                <a:solidFill>
                  <a:schemeClr val="accent1"/>
                </a:solidFill>
                <a:latin typeface="+mn-lt"/>
              </a:rPr>
              <a:t> MONGODB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E9598-0B40-9A50-D453-38042C28F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CB0FB-D4B8-CB07-503D-A325987C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4B574-1EE1-0551-886B-512145CAF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B7A217-9619-5DD7-DD99-A9286A52728D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E01944A-F5F3-2490-9256-865C4AAEF3EE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539405503"/>
              </p:ext>
            </p:extLst>
          </p:nvPr>
        </p:nvGraphicFramePr>
        <p:xfrm>
          <a:off x="914400" y="1447800"/>
          <a:ext cx="7772400" cy="332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38613710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402302052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21246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RDBMS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MongoDB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498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Transactions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Strong ACID Properties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CAP properties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2731638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20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Query Language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SQL (Structured Query Language)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MQL (MongoDB Query Language)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535789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Best For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US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Traditional applications needing strict consistency (banking, ERP, etc.)</a:t>
                      </a:r>
                    </a:p>
                  </a:txBody>
                  <a:tcPr marL="58615" marR="58615" marT="29308" marB="2930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Applications with </a:t>
                      </a:r>
                      <a:r>
                        <a:rPr kumimoji="0" lang="en-US" sz="2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dynamic, large, and fast-changing data 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(social media, IoT, e-commerce, etc.)</a:t>
                      </a:r>
                    </a:p>
                  </a:txBody>
                  <a:tcPr marL="58615" marR="58615" marT="29308" marB="29308" anchor="ctr"/>
                </a:tc>
                <a:extLst>
                  <a:ext uri="{0D108BD9-81ED-4DB2-BD59-A6C34878D82A}">
                    <a16:rowId xmlns:a16="http://schemas.microsoft.com/office/drawing/2014/main" val="148826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MySQL, PostgreSQL, Oracle, SQL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MongoDB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972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009970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405A-E4F5-580A-1475-FA27A699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F508A-8CCF-0F78-D231-CD25B179C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381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00A2E-1000-F8EF-A366-E5382320DEA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15240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0292F-4D0B-1554-D8B2-87D3F2FD6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204EF-5B4C-D84C-9468-D6E6D33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89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DBBC9-497C-DBBE-452D-C995F506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D19A33-8950-C9D2-964C-3306499C7B6C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186C66-3A82-773C-1554-00FB0070F777}"/>
              </a:ext>
            </a:extLst>
          </p:cNvPr>
          <p:cNvSpPr txBox="1"/>
          <p:nvPr/>
        </p:nvSpPr>
        <p:spPr>
          <a:xfrm>
            <a:off x="603504" y="990600"/>
            <a:ext cx="77724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rgbClr val="FF0000"/>
                </a:solidFill>
              </a:rPr>
              <a:t>1. To report the name of the current database:</a:t>
            </a:r>
          </a:p>
          <a:p>
            <a:r>
              <a:rPr lang="en-IN" sz="2600" dirty="0"/>
              <a:t>&gt;</a:t>
            </a:r>
            <a:r>
              <a:rPr lang="en-IN" sz="2600" b="1" dirty="0">
                <a:solidFill>
                  <a:srgbClr val="00B050"/>
                </a:solidFill>
              </a:rPr>
              <a:t> </a:t>
            </a:r>
            <a:r>
              <a:rPr lang="en-IN" sz="2600" b="1" dirty="0" err="1">
                <a:solidFill>
                  <a:srgbClr val="00B050"/>
                </a:solidFill>
              </a:rPr>
              <a:t>db</a:t>
            </a:r>
            <a:r>
              <a:rPr lang="en-IN" sz="2600" b="1" dirty="0">
                <a:solidFill>
                  <a:srgbClr val="00B050"/>
                </a:solidFill>
              </a:rPr>
              <a:t>  </a:t>
            </a:r>
          </a:p>
          <a:p>
            <a:r>
              <a:rPr lang="en-IN" sz="2600" dirty="0"/>
              <a:t>test</a:t>
            </a:r>
          </a:p>
          <a:p>
            <a:r>
              <a:rPr lang="en-IN" sz="2600" b="1" dirty="0">
                <a:solidFill>
                  <a:srgbClr val="FF0000"/>
                </a:solidFill>
              </a:rPr>
              <a:t>2. To display the list of databases: (</a:t>
            </a:r>
            <a:r>
              <a:rPr lang="en-US" sz="2600" b="1" u="sng" dirty="0"/>
              <a:t>Show all databases)</a:t>
            </a:r>
            <a:endParaRPr lang="en-IN" sz="2600" b="1" dirty="0">
              <a:solidFill>
                <a:srgbClr val="FF0000"/>
              </a:solidFill>
            </a:endParaRPr>
          </a:p>
          <a:p>
            <a:r>
              <a:rPr lang="en-IN" sz="2600" dirty="0"/>
              <a:t>&gt; </a:t>
            </a:r>
            <a:r>
              <a:rPr lang="en-IN" sz="2600" b="1" dirty="0">
                <a:solidFill>
                  <a:srgbClr val="00B050"/>
                </a:solidFill>
              </a:rPr>
              <a:t>show </a:t>
            </a:r>
            <a:r>
              <a:rPr lang="en-IN" sz="2600" b="1" dirty="0" err="1">
                <a:solidFill>
                  <a:srgbClr val="00B050"/>
                </a:solidFill>
              </a:rPr>
              <a:t>dbs</a:t>
            </a:r>
            <a:r>
              <a:rPr lang="en-IN" sz="2600" b="1" dirty="0">
                <a:solidFill>
                  <a:srgbClr val="00B050"/>
                </a:solidFill>
              </a:rPr>
              <a:t>  </a:t>
            </a:r>
          </a:p>
          <a:p>
            <a:r>
              <a:rPr lang="en-IN" sz="2600" dirty="0"/>
              <a:t>admin   (empty)  </a:t>
            </a:r>
          </a:p>
          <a:p>
            <a:r>
              <a:rPr lang="en-IN" sz="2600" dirty="0"/>
              <a:t>local   0.078GB  </a:t>
            </a:r>
          </a:p>
          <a:p>
            <a:r>
              <a:rPr lang="en-IN" sz="2600" dirty="0"/>
              <a:t>myDB1   0.078GB</a:t>
            </a:r>
          </a:p>
          <a:p>
            <a:r>
              <a:rPr lang="en-IN" sz="2600" b="1" dirty="0">
                <a:solidFill>
                  <a:srgbClr val="FF0000"/>
                </a:solidFill>
              </a:rPr>
              <a:t>3. To switch to a new database, for example, myDB1: (</a:t>
            </a:r>
            <a:r>
              <a:rPr lang="en-US" sz="2600" b="1" u="sng" dirty="0"/>
              <a:t>Create a Database and change)</a:t>
            </a:r>
            <a:endParaRPr lang="en-IN" sz="2600" b="1" dirty="0">
              <a:solidFill>
                <a:srgbClr val="FF0000"/>
              </a:solidFill>
            </a:endParaRPr>
          </a:p>
          <a:p>
            <a:r>
              <a:rPr lang="en-IN" sz="2600" dirty="0"/>
              <a:t>&gt; </a:t>
            </a:r>
            <a:r>
              <a:rPr lang="en-IN" sz="2600" b="1" dirty="0">
                <a:solidFill>
                  <a:srgbClr val="00B050"/>
                </a:solidFill>
              </a:rPr>
              <a:t>use myDB1  </a:t>
            </a:r>
          </a:p>
          <a:p>
            <a:r>
              <a:rPr lang="en-IN" sz="2600" dirty="0"/>
              <a:t>switched to </a:t>
            </a:r>
            <a:r>
              <a:rPr lang="en-IN" sz="2600" dirty="0" err="1"/>
              <a:t>db</a:t>
            </a:r>
            <a:r>
              <a:rPr lang="en-IN" sz="2600" dirty="0"/>
              <a:t> myDB1</a:t>
            </a:r>
          </a:p>
        </p:txBody>
      </p:sp>
    </p:spTree>
    <p:extLst>
      <p:ext uri="{BB962C8B-B14F-4D97-AF65-F5344CB8AC3E}">
        <p14:creationId xmlns:p14="http://schemas.microsoft.com/office/powerpoint/2010/main" val="249163511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48938-72F9-87CB-AF4D-7755022B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9633F-7E10-F8B6-B613-68583F63A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3810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6937E-5E7E-054F-93D2-BD19B27345E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15240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84E77-F4BF-CF89-2535-A1B9705A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55F8C-D09E-43C2-4FD3-F0CEBCCE7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62A28-E47E-0C5C-2DBF-D9F98876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2A4F79-7803-5D9F-63CF-C103474A6645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EF894AE-0BF3-63A2-8FD5-8195E5A6B5C6}"/>
              </a:ext>
            </a:extLst>
          </p:cNvPr>
          <p:cNvSpPr txBox="1"/>
          <p:nvPr/>
        </p:nvSpPr>
        <p:spPr>
          <a:xfrm>
            <a:off x="603504" y="990600"/>
            <a:ext cx="7772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4. To display the list of collections (tables) in the current database:</a:t>
            </a:r>
          </a:p>
          <a:p>
            <a:r>
              <a:rPr lang="en-US" sz="2800" b="1" dirty="0"/>
              <a:t>&gt;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00B050"/>
                </a:solidFill>
              </a:rPr>
              <a:t>show collections  </a:t>
            </a:r>
          </a:p>
          <a:p>
            <a:r>
              <a:rPr lang="en-US" sz="2800" b="1" dirty="0" err="1"/>
              <a:t>system.indexes</a:t>
            </a:r>
            <a:r>
              <a:rPr lang="en-US" sz="2800" b="1" dirty="0"/>
              <a:t>  </a:t>
            </a:r>
          </a:p>
          <a:p>
            <a:r>
              <a:rPr lang="en-US" sz="2800" b="1" dirty="0"/>
              <a:t>system.js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5. To display the current version of the MongoDB server:</a:t>
            </a:r>
          </a:p>
          <a:p>
            <a:r>
              <a:rPr lang="en-US" sz="2800" b="1" dirty="0"/>
              <a:t>&gt;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00B050"/>
                </a:solidFill>
              </a:rPr>
              <a:t>db.version</a:t>
            </a:r>
            <a:r>
              <a:rPr lang="en-US" sz="2800" b="1" dirty="0">
                <a:solidFill>
                  <a:srgbClr val="00B050"/>
                </a:solidFill>
              </a:rPr>
              <a:t>()  </a:t>
            </a:r>
          </a:p>
          <a:p>
            <a:r>
              <a:rPr lang="en-US" sz="2800" b="1" dirty="0"/>
              <a:t>2.6.1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6. </a:t>
            </a:r>
            <a:r>
              <a:rPr lang="en-US" sz="2800" b="1" dirty="0" err="1">
                <a:solidFill>
                  <a:srgbClr val="FF0000"/>
                </a:solidFill>
              </a:rPr>
              <a:t>DropDatabase</a:t>
            </a:r>
            <a:endParaRPr lang="en-US" sz="28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800" b="1" dirty="0"/>
              <a:t>&gt;</a:t>
            </a:r>
            <a:r>
              <a:rPr lang="en-US" sz="2800" b="1" dirty="0" err="1">
                <a:solidFill>
                  <a:srgbClr val="00B050"/>
                </a:solidFill>
              </a:rPr>
              <a:t>db.dropDatabase</a:t>
            </a:r>
            <a:r>
              <a:rPr lang="en-US" sz="2800" b="1" dirty="0">
                <a:solidFill>
                  <a:srgbClr val="00B050"/>
                </a:solidFill>
              </a:rPr>
              <a:t>();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584300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8001000" cy="213360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/>
              <a:t>CRUD (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b="1" dirty="0"/>
              <a:t>reate, </a:t>
            </a:r>
            <a:r>
              <a:rPr lang="en-US" b="1" dirty="0">
                <a:solidFill>
                  <a:srgbClr val="FF0000"/>
                </a:solidFill>
              </a:rPr>
              <a:t>R</a:t>
            </a:r>
            <a:r>
              <a:rPr lang="en-US" b="1" dirty="0"/>
              <a:t>ead, </a:t>
            </a:r>
            <a:r>
              <a:rPr lang="en-US" b="1" dirty="0">
                <a:solidFill>
                  <a:srgbClr val="FF0000"/>
                </a:solidFill>
              </a:rPr>
              <a:t>U</a:t>
            </a:r>
            <a:r>
              <a:rPr lang="en-US" b="1" dirty="0"/>
              <a:t>pdate, and </a:t>
            </a:r>
            <a:r>
              <a:rPr lang="en-US" b="1" dirty="0">
                <a:solidFill>
                  <a:srgbClr val="FF0000"/>
                </a:solidFill>
              </a:rPr>
              <a:t>D</a:t>
            </a:r>
            <a:r>
              <a:rPr lang="en-US" b="1" dirty="0"/>
              <a:t>elete) operations in </a:t>
            </a:r>
            <a:r>
              <a:rPr lang="en-US" b="1" dirty="0" err="1"/>
              <a:t>MongoDB</a:t>
            </a:r>
            <a:r>
              <a:rPr lang="en-US" b="1" dirty="0"/>
              <a:t>  </a:t>
            </a:r>
            <a:r>
              <a:rPr lang="en-US" dirty="0"/>
              <a:t>are the basic set of operations that allow users to interact with the </a:t>
            </a:r>
            <a:r>
              <a:rPr lang="en-US" dirty="0" err="1"/>
              <a:t>MongoDB</a:t>
            </a:r>
            <a:r>
              <a:rPr lang="en-US" dirty="0"/>
              <a:t> server.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91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BE9EC61-E442-3C88-47EF-99D86364C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759381"/>
            <a:ext cx="6248400" cy="2962204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23A39-A999-4E3E-CA76-0EDAAA1B8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EF419-E754-464B-B5DE-865F9B8F2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E53E01A-AA56-7E42-8B2B-048B9339C3A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834" y="1066800"/>
            <a:ext cx="5943600" cy="498051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2A5E9-EE6E-E604-3294-78B271E1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CDCB1-A1CE-5BD1-FA59-701EE945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167DC-A08C-DDF4-92F0-5402DC324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9B0A85-1A8B-9C62-5802-88D0B070D532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9467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001000" cy="48768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5900" b="1" u="sng" dirty="0">
                <a:solidFill>
                  <a:srgbClr val="0070C0"/>
                </a:solidFill>
              </a:rPr>
              <a:t>1. Create: (Insert Data)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4800" dirty="0"/>
              <a:t>Used to insert documents (records) into a collection (Table)</a:t>
            </a:r>
            <a:r>
              <a:rPr lang="en-US" sz="4600" dirty="0"/>
              <a:t>. 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Ø"/>
            </a:pPr>
            <a:r>
              <a:rPr lang="en-US" sz="4600" dirty="0"/>
              <a:t>If the collection (table) does not currently exist, insert operations will create the collection (table).</a:t>
            </a:r>
          </a:p>
          <a:p>
            <a:pPr>
              <a:lnSpc>
                <a:spcPct val="170000"/>
              </a:lnSpc>
            </a:pPr>
            <a:r>
              <a:rPr lang="en-US" sz="4600" dirty="0"/>
              <a:t>MongoDB provides the following methods to insert documents into a collection:</a:t>
            </a:r>
          </a:p>
          <a:p>
            <a:pPr lvl="1">
              <a:lnSpc>
                <a:spcPct val="170000"/>
              </a:lnSpc>
            </a:pPr>
            <a:r>
              <a:rPr lang="en-US" sz="4400" b="1" dirty="0" err="1">
                <a:solidFill>
                  <a:srgbClr val="00B050"/>
                </a:solidFill>
              </a:rPr>
              <a:t>db.collecetion.insertOne</a:t>
            </a:r>
            <a:r>
              <a:rPr lang="en-US" sz="4400" b="1" dirty="0">
                <a:solidFill>
                  <a:srgbClr val="00B050"/>
                </a:solidFill>
              </a:rPr>
              <a:t>()  </a:t>
            </a:r>
            <a:r>
              <a:rPr lang="en-US" sz="2500" dirty="0"/>
              <a:t>// insert single document  into collection</a:t>
            </a:r>
          </a:p>
          <a:p>
            <a:pPr lvl="1">
              <a:lnSpc>
                <a:spcPct val="170000"/>
              </a:lnSpc>
            </a:pPr>
            <a:r>
              <a:rPr lang="en-US" sz="4400" b="1" dirty="0" err="1">
                <a:solidFill>
                  <a:srgbClr val="00B050"/>
                </a:solidFill>
              </a:rPr>
              <a:t>db.collecetion.insertMany</a:t>
            </a:r>
            <a:r>
              <a:rPr lang="en-US" sz="4400" b="1" dirty="0">
                <a:solidFill>
                  <a:srgbClr val="00B050"/>
                </a:solidFill>
              </a:rPr>
              <a:t>() </a:t>
            </a:r>
            <a:r>
              <a:rPr lang="en-US" sz="4400" b="1" dirty="0"/>
              <a:t>//</a:t>
            </a:r>
            <a:r>
              <a:rPr lang="en-US" sz="4400" b="1" dirty="0">
                <a:solidFill>
                  <a:srgbClr val="00B050"/>
                </a:solidFill>
              </a:rPr>
              <a:t> </a:t>
            </a:r>
            <a:r>
              <a:rPr lang="en-IN" sz="2500" dirty="0"/>
              <a:t>to insert multiple documents into a collection</a:t>
            </a:r>
            <a:endParaRPr lang="en-US" sz="2500" b="1" dirty="0">
              <a:solidFill>
                <a:srgbClr val="00B050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0010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70C0"/>
                </a:solidFill>
              </a:rPr>
              <a:t>1. Create:</a:t>
            </a:r>
          </a:p>
          <a:p>
            <a:pPr>
              <a:buNone/>
            </a:pPr>
            <a:r>
              <a:rPr lang="en-US" b="1" u="sng" dirty="0">
                <a:solidFill>
                  <a:schemeClr val="accent1"/>
                </a:solidFill>
              </a:rPr>
              <a:t>Example: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1250" name="Picture 2" descr="C:\Users\AGS-08-12-2023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438400"/>
            <a:ext cx="7033497" cy="2362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B4880-6C00-45E9-07B9-6354E175D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A1A6-E240-3C1F-0F31-DAD2FDF82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22AC4-1028-EB62-AA93-148128493C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0010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70C0"/>
                </a:solidFill>
              </a:rPr>
              <a:t>1. Create:</a:t>
            </a:r>
          </a:p>
          <a:p>
            <a:pPr>
              <a:buNone/>
            </a:pPr>
            <a:r>
              <a:rPr lang="en-US" b="1" u="sng" dirty="0">
                <a:solidFill>
                  <a:schemeClr val="accent1"/>
                </a:solidFill>
              </a:rPr>
              <a:t>Example</a:t>
            </a:r>
            <a:r>
              <a:rPr lang="en-US" dirty="0"/>
              <a:t>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A9E74-E510-FB9C-B709-46A7089B7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87836-8F5B-7BF3-71B5-786DBA89A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CB217-0753-D2CF-0447-2C6A30D96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2CBEF6-D8D8-0D0C-B9B8-2C82E6E19223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A003E5-1B4F-5609-1361-CB5CD24A2B54}"/>
              </a:ext>
            </a:extLst>
          </p:cNvPr>
          <p:cNvSpPr txBox="1"/>
          <p:nvPr/>
        </p:nvSpPr>
        <p:spPr>
          <a:xfrm>
            <a:off x="304800" y="2362200"/>
            <a:ext cx="92964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db.students.</a:t>
            </a:r>
            <a:r>
              <a:rPr lang="en-IN" sz="2800" dirty="0" err="1">
                <a:solidFill>
                  <a:srgbClr val="FF0000"/>
                </a:solidFill>
              </a:rPr>
              <a:t>insertOne</a:t>
            </a:r>
            <a:r>
              <a:rPr lang="en-IN" sz="2800" dirty="0"/>
              <a:t>({ name: "Rahul", age: 21, course: "CSE" });</a:t>
            </a:r>
          </a:p>
          <a:p>
            <a:endParaRPr lang="en-IN" sz="2800" dirty="0"/>
          </a:p>
          <a:p>
            <a:r>
              <a:rPr lang="en-IN" sz="2800" dirty="0" err="1"/>
              <a:t>db.students.</a:t>
            </a:r>
            <a:r>
              <a:rPr lang="en-IN" sz="2800" dirty="0" err="1">
                <a:solidFill>
                  <a:srgbClr val="FF0000"/>
                </a:solidFill>
              </a:rPr>
              <a:t>insertMany</a:t>
            </a:r>
            <a:r>
              <a:rPr lang="en-IN" sz="2800" dirty="0"/>
              <a:t>([</a:t>
            </a:r>
          </a:p>
          <a:p>
            <a:r>
              <a:rPr lang="en-IN" sz="2800" dirty="0"/>
              <a:t>  { name: "Anu", age: 20, course: "IT" },</a:t>
            </a:r>
          </a:p>
          <a:p>
            <a:r>
              <a:rPr lang="en-IN" sz="2800" dirty="0"/>
              <a:t>  { name: "Vikram", age: 22, course: "ECE" }</a:t>
            </a:r>
          </a:p>
          <a:p>
            <a:r>
              <a:rPr lang="en-IN" sz="2800" dirty="0"/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205381606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0010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70C0"/>
                </a:solidFill>
              </a:rPr>
              <a:t>Read Operations: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Read operations </a:t>
            </a:r>
            <a:r>
              <a:rPr lang="en-US" sz="2800" dirty="0">
                <a:solidFill>
                  <a:srgbClr val="FF0000"/>
                </a:solidFill>
              </a:rPr>
              <a:t>retrieve documents</a:t>
            </a:r>
            <a:r>
              <a:rPr lang="en-US" sz="2800" dirty="0"/>
              <a:t> from a </a:t>
            </a:r>
            <a:r>
              <a:rPr lang="en-US" sz="2800" dirty="0">
                <a:solidFill>
                  <a:srgbClr val="FF0000"/>
                </a:solidFill>
              </a:rPr>
              <a:t>collection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MongoDB</a:t>
            </a:r>
            <a:r>
              <a:rPr lang="en-US" sz="2800" dirty="0"/>
              <a:t> provides the following methods to read documents from a collection: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rgbClr val="00B050"/>
                </a:solidFill>
              </a:rPr>
              <a:t>db.collection.find</a:t>
            </a:r>
            <a:r>
              <a:rPr lang="en-US" sz="2400" b="1" dirty="0">
                <a:solidFill>
                  <a:srgbClr val="00B050"/>
                </a:solidFill>
              </a:rPr>
              <a:t>()  --   </a:t>
            </a:r>
            <a:r>
              <a:rPr lang="en-US" sz="2800" dirty="0"/>
              <a:t>// Returns all documents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rgbClr val="00B050"/>
                </a:solidFill>
              </a:rPr>
              <a:t>db.collection.find</a:t>
            </a:r>
            <a:r>
              <a:rPr lang="en-US" sz="2400" b="1" dirty="0">
                <a:solidFill>
                  <a:srgbClr val="00B050"/>
                </a:solidFill>
              </a:rPr>
              <a:t>({ key: value });  </a:t>
            </a:r>
            <a:r>
              <a:rPr lang="en-US" sz="2800" dirty="0"/>
              <a:t>// Filtered documents</a:t>
            </a:r>
            <a:endParaRPr lang="en-US" sz="2800" b="1" dirty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  <a:buNone/>
            </a:pP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96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9FF83-722B-B1A5-4D54-DE6D246C5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8052-4C2D-34C0-601E-45AB521A1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D56FB-31EC-EA9A-00BF-C921F9E87DF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0010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70C0"/>
                </a:solidFill>
              </a:rPr>
              <a:t>Read Operations: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31CF9-2AF9-FB7F-19FB-65E9AA66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539C89-2534-DB08-A661-24C9053A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97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07DF6-4B82-FA88-13C0-E7698EC46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726DEA-7A14-B148-1938-5363EBD52DEF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Untitl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7077" y="1752600"/>
            <a:ext cx="8229598" cy="1371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5EAB92-1F47-B6D5-A427-04F1DD8AFBEC}"/>
              </a:ext>
            </a:extLst>
          </p:cNvPr>
          <p:cNvSpPr txBox="1"/>
          <p:nvPr/>
        </p:nvSpPr>
        <p:spPr>
          <a:xfrm>
            <a:off x="603504" y="3429000"/>
            <a:ext cx="7473696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/>
              <a:t>db.students.find</a:t>
            </a:r>
            <a:r>
              <a:rPr lang="en-US" sz="2400" dirty="0"/>
              <a:t>();                      // All students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db.students.find</a:t>
            </a:r>
            <a:r>
              <a:rPr lang="en-US" sz="2400" dirty="0"/>
              <a:t>({ course: "CSE" });     // Students in CSE</a:t>
            </a:r>
            <a:endParaRPr lang="en-US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1673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0010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70C0"/>
                </a:solidFill>
              </a:rPr>
              <a:t>Update Operations:</a:t>
            </a:r>
          </a:p>
          <a:p>
            <a:r>
              <a:rPr lang="en-US" sz="2800" dirty="0"/>
              <a:t>Used to </a:t>
            </a:r>
            <a:r>
              <a:rPr lang="en-US" sz="2800" dirty="0">
                <a:solidFill>
                  <a:srgbClr val="FF0000"/>
                </a:solidFill>
              </a:rPr>
              <a:t>modify existing documents </a:t>
            </a:r>
            <a:r>
              <a:rPr lang="en-US" sz="2800" dirty="0"/>
              <a:t>in a </a:t>
            </a:r>
            <a:r>
              <a:rPr lang="en-US" sz="2800" dirty="0">
                <a:solidFill>
                  <a:srgbClr val="FF0000"/>
                </a:solidFill>
              </a:rPr>
              <a:t>collection</a:t>
            </a:r>
            <a:r>
              <a:rPr lang="en-US" sz="2800" dirty="0"/>
              <a:t>. </a:t>
            </a:r>
          </a:p>
          <a:p>
            <a:r>
              <a:rPr lang="en-US" sz="2800" dirty="0" err="1"/>
              <a:t>MongoDB</a:t>
            </a:r>
            <a:r>
              <a:rPr lang="en-US" sz="2800" dirty="0"/>
              <a:t> provides the following methods to update documents of a collection:</a:t>
            </a:r>
          </a:p>
          <a:p>
            <a:pPr lvl="1"/>
            <a:r>
              <a:rPr lang="en-US" sz="2800" b="1" dirty="0" err="1">
                <a:solidFill>
                  <a:srgbClr val="00B050"/>
                </a:solidFill>
              </a:rPr>
              <a:t>db.collecetion.updateOne</a:t>
            </a:r>
            <a:r>
              <a:rPr lang="en-US" sz="2800" b="1" dirty="0">
                <a:solidFill>
                  <a:srgbClr val="00B050"/>
                </a:solidFill>
              </a:rPr>
              <a:t>() -- </a:t>
            </a:r>
            <a:r>
              <a:rPr lang="en-US" sz="2800" dirty="0"/>
              <a:t>update the first document that matches the query provided. </a:t>
            </a:r>
            <a:r>
              <a:rPr lang="en-US" sz="2800" b="1" dirty="0" err="1">
                <a:solidFill>
                  <a:srgbClr val="00B050"/>
                </a:solidFill>
              </a:rPr>
              <a:t>db.collecetion.updateMany</a:t>
            </a:r>
            <a:r>
              <a:rPr lang="en-US" sz="2800" b="1" dirty="0">
                <a:solidFill>
                  <a:srgbClr val="00B050"/>
                </a:solidFill>
              </a:rPr>
              <a:t>()  -- </a:t>
            </a:r>
            <a:r>
              <a:rPr lang="en-US" sz="2800" dirty="0"/>
              <a:t>update the all document that matches the query provided.</a:t>
            </a:r>
            <a:endParaRPr lang="en-US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0010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70C0"/>
                </a:solidFill>
              </a:rPr>
              <a:t>Update Operations: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99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Untitl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4400" y="2362200"/>
            <a:ext cx="712763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305800" cy="4876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70C0"/>
                </a:solidFill>
              </a:rPr>
              <a:t>Delete Operations: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Used to </a:t>
            </a:r>
            <a:r>
              <a:rPr lang="en-US" sz="2800" dirty="0">
                <a:solidFill>
                  <a:srgbClr val="FF0000"/>
                </a:solidFill>
              </a:rPr>
              <a:t>delete documents </a:t>
            </a:r>
            <a:r>
              <a:rPr lang="en-US" sz="2800" dirty="0"/>
              <a:t>from a collection.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MongoDB</a:t>
            </a:r>
            <a:r>
              <a:rPr lang="en-US" sz="2800" dirty="0"/>
              <a:t> provides the following methods to delete documents of a collection:</a:t>
            </a:r>
          </a:p>
          <a:p>
            <a:pPr lvl="1">
              <a:lnSpc>
                <a:spcPct val="150000"/>
              </a:lnSpc>
            </a:pPr>
            <a:r>
              <a:rPr lang="en-US" b="1" dirty="0" err="1">
                <a:solidFill>
                  <a:srgbClr val="00B050"/>
                </a:solidFill>
              </a:rPr>
              <a:t>db.collection.deleteOne</a:t>
            </a:r>
            <a:r>
              <a:rPr lang="en-US" b="1" dirty="0">
                <a:solidFill>
                  <a:srgbClr val="00B050"/>
                </a:solidFill>
              </a:rPr>
              <a:t>(filter)   --</a:t>
            </a:r>
            <a:r>
              <a:rPr lang="en-US" dirty="0">
                <a:solidFill>
                  <a:srgbClr val="00B0F0"/>
                </a:solidFill>
              </a:rPr>
              <a:t> delete the first document that matches the query provided</a:t>
            </a:r>
            <a:r>
              <a:rPr lang="en-US" dirty="0"/>
              <a:t>.</a:t>
            </a:r>
            <a:endParaRPr lang="en-US" b="1" dirty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b="1" dirty="0" err="1">
                <a:solidFill>
                  <a:srgbClr val="00B050"/>
                </a:solidFill>
              </a:rPr>
              <a:t>db.collection.deleteMany</a:t>
            </a:r>
            <a:r>
              <a:rPr lang="en-US" b="1" dirty="0">
                <a:solidFill>
                  <a:srgbClr val="00B050"/>
                </a:solidFill>
              </a:rPr>
              <a:t>(filter)   -- </a:t>
            </a:r>
            <a:r>
              <a:rPr lang="en-US" dirty="0">
                <a:solidFill>
                  <a:srgbClr val="00B0F0"/>
                </a:solidFill>
              </a:rPr>
              <a:t>delete the all document that matches the query provided</a:t>
            </a:r>
            <a:r>
              <a:rPr lang="en-US" dirty="0"/>
              <a:t>.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100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3058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70C0"/>
                </a:solidFill>
              </a:rPr>
              <a:t>Delete Operations: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Untitl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0601" y="2286000"/>
            <a:ext cx="70104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30B64-5A7C-2309-8908-EDC3AA95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18C1E-F17F-F5B0-951A-61E89FC2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19DDF-1D2B-A7A2-90A8-1B9270D288D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3058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u="sng" dirty="0">
                <a:solidFill>
                  <a:srgbClr val="0070C0"/>
                </a:solidFill>
              </a:rPr>
              <a:t>Question 1:</a:t>
            </a:r>
          </a:p>
          <a:p>
            <a:r>
              <a:rPr lang="en-US" sz="3600" b="1" dirty="0"/>
              <a:t>Apply CRUD operations in MongoDB with suitable examples. Create a </a:t>
            </a:r>
            <a:r>
              <a:rPr lang="en-US" b="1" dirty="0"/>
              <a:t>STUDENT</a:t>
            </a:r>
            <a:r>
              <a:rPr lang="en-US" sz="3600" b="1" dirty="0"/>
              <a:t> collection and demonstrate how to:</a:t>
            </a:r>
            <a:endParaRPr lang="en-US" sz="3600" dirty="0"/>
          </a:p>
          <a:p>
            <a:pPr lvl="2"/>
            <a:r>
              <a:rPr lang="en-US" sz="3000" dirty="0"/>
              <a:t>Insert multiple student documents</a:t>
            </a:r>
          </a:p>
          <a:p>
            <a:pPr lvl="2"/>
            <a:r>
              <a:rPr lang="en-US" sz="3000" dirty="0"/>
              <a:t>Retrieve students whose marks are above 80</a:t>
            </a:r>
          </a:p>
          <a:p>
            <a:pPr lvl="2"/>
            <a:r>
              <a:rPr lang="en-US" sz="3000" dirty="0"/>
              <a:t>Update a student’s department</a:t>
            </a:r>
          </a:p>
          <a:p>
            <a:pPr lvl="2"/>
            <a:r>
              <a:rPr lang="en-US" sz="3000" dirty="0"/>
              <a:t>Delete students with attendance less than 75%</a:t>
            </a:r>
          </a:p>
          <a:p>
            <a:pPr>
              <a:buNone/>
            </a:pPr>
            <a:endParaRPr lang="en-US" sz="3600" b="1" u="sng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9EAB8-121E-982A-6F63-674A6B25A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B1507-F057-BA53-DE7A-4FBF53852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C27D9-6D94-C56C-8CD3-5D814B59B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779AE1-596F-A29D-BA6A-DF69B83D0491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49096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A96AB-B96F-F26E-51D0-030731F5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483D9-D5F1-8AFD-39E2-D7FBCF7F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F932A-17E1-CE05-1F6B-D4E3FF66CD0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3058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3600" dirty="0"/>
              <a:t>✅ Create a Collection</a:t>
            </a:r>
          </a:p>
          <a:p>
            <a:pPr>
              <a:buNone/>
            </a:pPr>
            <a:endParaRPr lang="en-IN" sz="3600" b="1" u="sng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3200" dirty="0">
                <a:solidFill>
                  <a:srgbClr val="0070C0"/>
                </a:solidFill>
              </a:rPr>
              <a:t>use </a:t>
            </a:r>
            <a:r>
              <a:rPr lang="en-US" sz="3200" dirty="0" err="1">
                <a:solidFill>
                  <a:srgbClr val="0070C0"/>
                </a:solidFill>
              </a:rPr>
              <a:t>collegeDB</a:t>
            </a:r>
            <a:r>
              <a:rPr lang="en-US" sz="3200" dirty="0">
                <a:solidFill>
                  <a:srgbClr val="0070C0"/>
                </a:solidFill>
              </a:rPr>
              <a:t>   </a:t>
            </a:r>
            <a:r>
              <a:rPr lang="en-US" sz="2000" dirty="0">
                <a:solidFill>
                  <a:srgbClr val="0070C0"/>
                </a:solidFill>
              </a:rPr>
              <a:t>// Switch to database (or create if not exists)</a:t>
            </a:r>
          </a:p>
          <a:p>
            <a:pPr>
              <a:buNone/>
            </a:pPr>
            <a:endParaRPr lang="en-US" sz="3600" b="1" u="sng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D0A6B-3D0E-0E72-7521-C1D60ABED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C4D47-2EAF-9A42-6BE4-0E912A289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DB3D2-08BE-6A70-B7E0-7F79AB2C1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6198F-7062-E740-4019-9ACCF8C82192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06390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12603-DB6D-5481-E104-1666BDA17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549AF-0DE6-FD82-6F06-AC211C802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3D117-C372-924D-7159-CBA080CB3A8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305800" cy="48768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fr-FR" sz="3600" b="1" dirty="0"/>
              <a:t>1️⃣ Insert multiple </a:t>
            </a:r>
            <a:r>
              <a:rPr lang="fr-FR" sz="3600" b="1" dirty="0" err="1"/>
              <a:t>student</a:t>
            </a:r>
            <a:r>
              <a:rPr lang="fr-FR" sz="3600" b="1" dirty="0"/>
              <a:t> documents:</a:t>
            </a:r>
          </a:p>
          <a:p>
            <a:pPr>
              <a:buNone/>
            </a:pPr>
            <a:r>
              <a:rPr lang="en-US" sz="3600" dirty="0" err="1">
                <a:solidFill>
                  <a:srgbClr val="0070C0"/>
                </a:solidFill>
              </a:rPr>
              <a:t>db.STUDENT.insertMany</a:t>
            </a:r>
            <a:r>
              <a:rPr lang="en-US" sz="3600" dirty="0">
                <a:solidFill>
                  <a:srgbClr val="FF0000"/>
                </a:solidFill>
              </a:rPr>
              <a:t>(</a:t>
            </a:r>
            <a:r>
              <a:rPr lang="en-US" sz="3600" dirty="0">
                <a:solidFill>
                  <a:srgbClr val="00B050"/>
                </a:solidFill>
              </a:rPr>
              <a:t>[</a:t>
            </a:r>
          </a:p>
          <a:p>
            <a:pPr>
              <a:buNone/>
            </a:pPr>
            <a:r>
              <a:rPr lang="en-US" sz="3600" dirty="0">
                <a:solidFill>
                  <a:srgbClr val="0070C0"/>
                </a:solidFill>
              </a:rPr>
              <a:t>  { </a:t>
            </a:r>
            <a:r>
              <a:rPr lang="en-US" sz="3600" dirty="0" err="1">
                <a:solidFill>
                  <a:srgbClr val="0070C0"/>
                </a:solidFill>
              </a:rPr>
              <a:t>RollNo</a:t>
            </a:r>
            <a:r>
              <a:rPr lang="en-US" sz="3600" dirty="0">
                <a:solidFill>
                  <a:srgbClr val="0070C0"/>
                </a:solidFill>
              </a:rPr>
              <a:t>: 101, Name: "Arun", Dept: "CSE", Marks: 85, Attendance: 90 },</a:t>
            </a:r>
          </a:p>
          <a:p>
            <a:pPr>
              <a:buNone/>
            </a:pPr>
            <a:r>
              <a:rPr lang="en-US" sz="3600" dirty="0">
                <a:solidFill>
                  <a:srgbClr val="0070C0"/>
                </a:solidFill>
              </a:rPr>
              <a:t>  { </a:t>
            </a:r>
            <a:r>
              <a:rPr lang="en-US" sz="3600" dirty="0" err="1">
                <a:solidFill>
                  <a:srgbClr val="0070C0"/>
                </a:solidFill>
              </a:rPr>
              <a:t>RollNo</a:t>
            </a:r>
            <a:r>
              <a:rPr lang="en-US" sz="3600" dirty="0">
                <a:solidFill>
                  <a:srgbClr val="0070C0"/>
                </a:solidFill>
              </a:rPr>
              <a:t>: 102, Name: "Divya", Dept: "ECE", Marks: 78, Attendance: 88 },</a:t>
            </a:r>
          </a:p>
          <a:p>
            <a:pPr>
              <a:buNone/>
            </a:pPr>
            <a:r>
              <a:rPr lang="en-US" sz="3600" dirty="0">
                <a:solidFill>
                  <a:srgbClr val="0070C0"/>
                </a:solidFill>
              </a:rPr>
              <a:t>  { </a:t>
            </a:r>
            <a:r>
              <a:rPr lang="en-US" sz="3600" dirty="0" err="1">
                <a:solidFill>
                  <a:srgbClr val="0070C0"/>
                </a:solidFill>
              </a:rPr>
              <a:t>RollNo</a:t>
            </a:r>
            <a:r>
              <a:rPr lang="en-US" sz="3600" dirty="0">
                <a:solidFill>
                  <a:srgbClr val="0070C0"/>
                </a:solidFill>
              </a:rPr>
              <a:t>: 103, Name: "Karthik", Dept: "IT", Marks: 92, Attendance: 70 },</a:t>
            </a:r>
          </a:p>
          <a:p>
            <a:pPr>
              <a:buNone/>
            </a:pPr>
            <a:r>
              <a:rPr lang="en-US" sz="3600" dirty="0">
                <a:solidFill>
                  <a:srgbClr val="0070C0"/>
                </a:solidFill>
              </a:rPr>
              <a:t>  { </a:t>
            </a:r>
            <a:r>
              <a:rPr lang="en-US" sz="3600" dirty="0" err="1">
                <a:solidFill>
                  <a:srgbClr val="0070C0"/>
                </a:solidFill>
              </a:rPr>
              <a:t>RollNo</a:t>
            </a:r>
            <a:r>
              <a:rPr lang="en-US" sz="3600" dirty="0">
                <a:solidFill>
                  <a:srgbClr val="0070C0"/>
                </a:solidFill>
              </a:rPr>
              <a:t>: 104, Name: "Meena", Dept: "CSE", Marks: 65, Attendance: 60 },</a:t>
            </a:r>
          </a:p>
          <a:p>
            <a:pPr>
              <a:buNone/>
            </a:pPr>
            <a:r>
              <a:rPr lang="en-US" sz="3600" dirty="0">
                <a:solidFill>
                  <a:srgbClr val="0070C0"/>
                </a:solidFill>
              </a:rPr>
              <a:t>  { </a:t>
            </a:r>
            <a:r>
              <a:rPr lang="en-US" sz="3600" dirty="0" err="1">
                <a:solidFill>
                  <a:srgbClr val="0070C0"/>
                </a:solidFill>
              </a:rPr>
              <a:t>RollNo</a:t>
            </a:r>
            <a:r>
              <a:rPr lang="en-US" sz="3600" dirty="0">
                <a:solidFill>
                  <a:srgbClr val="0070C0"/>
                </a:solidFill>
              </a:rPr>
              <a:t>: 105, Name: "Vishal", Dept: "EEE", Marks: 81, Attendance: 80 }</a:t>
            </a:r>
          </a:p>
          <a:p>
            <a:pPr>
              <a:buNone/>
            </a:pPr>
            <a:r>
              <a:rPr lang="en-US" sz="3600" dirty="0">
                <a:solidFill>
                  <a:srgbClr val="00B050"/>
                </a:solidFill>
              </a:rPr>
              <a:t>]</a:t>
            </a:r>
            <a:r>
              <a:rPr lang="en-US" sz="3600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endParaRPr lang="en-US" sz="3600" b="1" u="sng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6075C-5D06-C5ED-6E4B-C08B1799D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83A48-F727-3AC7-F6C8-F524AB4F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104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A5949-2544-F26B-4CE7-E3E885614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E489F5-6176-74E0-AF6B-76B7B5B5C3B2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68348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66843-FDB8-A1F3-FA25-B6875E99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52CB5-4C67-2B52-476F-9F75AFB4B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BB3D8-CFC4-0731-ED55-973BAB6F083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3058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dirty="0"/>
              <a:t>2️⃣ </a:t>
            </a:r>
            <a:r>
              <a:rPr lang="en-US" sz="3200" dirty="0"/>
              <a:t>Retrieve students whose marks are above 80:</a:t>
            </a:r>
          </a:p>
          <a:p>
            <a:pPr algn="ctr">
              <a:buNone/>
            </a:pPr>
            <a:r>
              <a:rPr lang="en-US" sz="3200" dirty="0" err="1">
                <a:solidFill>
                  <a:srgbClr val="0070C0"/>
                </a:solidFill>
              </a:rPr>
              <a:t>db.STUDENT.find</a:t>
            </a:r>
            <a:r>
              <a:rPr lang="en-US" sz="3200" dirty="0">
                <a:solidFill>
                  <a:srgbClr val="FF0000"/>
                </a:solidFill>
              </a:rPr>
              <a:t>(</a:t>
            </a:r>
            <a:r>
              <a:rPr lang="en-US" sz="3200" dirty="0">
                <a:solidFill>
                  <a:srgbClr val="0070C0"/>
                </a:solidFill>
              </a:rPr>
              <a:t>{ Marks: { $</a:t>
            </a:r>
            <a:r>
              <a:rPr lang="en-US" sz="3200" dirty="0" err="1">
                <a:solidFill>
                  <a:srgbClr val="0070C0"/>
                </a:solidFill>
              </a:rPr>
              <a:t>gt</a:t>
            </a:r>
            <a:r>
              <a:rPr lang="en-US" sz="3200" dirty="0">
                <a:solidFill>
                  <a:srgbClr val="0070C0"/>
                </a:solidFill>
              </a:rPr>
              <a:t>: 80 } }</a:t>
            </a:r>
            <a:r>
              <a:rPr lang="en-US" sz="3200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r>
              <a:rPr lang="en-US" sz="3200" dirty="0"/>
              <a:t>3️⃣ Update a student’s department</a:t>
            </a:r>
          </a:p>
          <a:p>
            <a:pPr>
              <a:buNone/>
            </a:pPr>
            <a:r>
              <a:rPr lang="en-US" sz="3200" dirty="0"/>
              <a:t>(Example: Change </a:t>
            </a:r>
            <a:r>
              <a:rPr lang="en-US" sz="3200" b="1" dirty="0"/>
              <a:t>Dept of </a:t>
            </a:r>
            <a:r>
              <a:rPr lang="en-US" sz="3200" b="1" dirty="0" err="1"/>
              <a:t>RollNo</a:t>
            </a:r>
            <a:r>
              <a:rPr lang="en-US" sz="3200" b="1" dirty="0"/>
              <a:t> 105</a:t>
            </a:r>
            <a:r>
              <a:rPr lang="en-US" sz="3200" dirty="0"/>
              <a:t> from </a:t>
            </a:r>
            <a:r>
              <a:rPr lang="en-US" sz="3200" b="1" dirty="0"/>
              <a:t>EEE</a:t>
            </a:r>
            <a:r>
              <a:rPr lang="en-US" sz="3200" dirty="0"/>
              <a:t> to </a:t>
            </a:r>
            <a:r>
              <a:rPr lang="en-US" sz="3200" b="1" dirty="0"/>
              <a:t>MECH</a:t>
            </a:r>
            <a:r>
              <a:rPr lang="en-US" sz="3200" dirty="0"/>
              <a:t>)</a:t>
            </a:r>
          </a:p>
          <a:p>
            <a:pPr lvl="3">
              <a:buNone/>
            </a:pPr>
            <a:r>
              <a:rPr lang="en-US" sz="2600" dirty="0" err="1">
                <a:solidFill>
                  <a:srgbClr val="0070C0"/>
                </a:solidFill>
              </a:rPr>
              <a:t>db.STUDENT.updateOne</a:t>
            </a:r>
            <a:r>
              <a:rPr lang="en-US" sz="2600" dirty="0">
                <a:solidFill>
                  <a:srgbClr val="FF0000"/>
                </a:solidFill>
              </a:rPr>
              <a:t>(</a:t>
            </a:r>
          </a:p>
          <a:p>
            <a:pPr lvl="3">
              <a:buNone/>
            </a:pPr>
            <a:r>
              <a:rPr lang="en-US" sz="2600" dirty="0">
                <a:solidFill>
                  <a:srgbClr val="0070C0"/>
                </a:solidFill>
              </a:rPr>
              <a:t>  { </a:t>
            </a:r>
            <a:r>
              <a:rPr lang="en-US" sz="2600" dirty="0" err="1">
                <a:solidFill>
                  <a:srgbClr val="0070C0"/>
                </a:solidFill>
              </a:rPr>
              <a:t>RollNo</a:t>
            </a:r>
            <a:r>
              <a:rPr lang="en-US" sz="2600" dirty="0">
                <a:solidFill>
                  <a:srgbClr val="0070C0"/>
                </a:solidFill>
              </a:rPr>
              <a:t>: 105 },</a:t>
            </a:r>
          </a:p>
          <a:p>
            <a:pPr lvl="3">
              <a:buNone/>
            </a:pPr>
            <a:r>
              <a:rPr lang="en-US" sz="2600" dirty="0">
                <a:solidFill>
                  <a:srgbClr val="0070C0"/>
                </a:solidFill>
              </a:rPr>
              <a:t>  { $set: { Dept: "MECH" } </a:t>
            </a:r>
          </a:p>
          <a:p>
            <a:pPr lvl="3">
              <a:buNone/>
            </a:pPr>
            <a:r>
              <a:rPr lang="en-US" sz="2600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endParaRPr lang="en-US" sz="3200" b="1" u="sng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5AAB6-4BCF-3DB1-408A-54095F61B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4E6EA-32DB-53FE-8A0C-D42DA3ED6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105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476AA-E25C-C940-EDD2-FC2A23F3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4C5F20-D5C9-F634-E08B-7C9FF2217E85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06098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1F82C-6DCB-1A2B-623D-A50170849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D5E7A-1A5E-BA46-DB00-F31C2A86E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F5697-A653-5F49-941E-D06EF8D05AF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3058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/>
              <a:t>4️⃣ Delete students with attendance less than 75%</a:t>
            </a:r>
            <a:endParaRPr lang="en-US" sz="3200" dirty="0">
              <a:solidFill>
                <a:srgbClr val="00B0F0"/>
              </a:solidFill>
            </a:endParaRPr>
          </a:p>
          <a:p>
            <a:pPr>
              <a:buNone/>
            </a:pPr>
            <a:endParaRPr lang="en-US" sz="3200" dirty="0">
              <a:solidFill>
                <a:srgbClr val="00B0F0"/>
              </a:solidFill>
            </a:endParaRPr>
          </a:p>
          <a:p>
            <a:pPr algn="ctr">
              <a:buNone/>
            </a:pPr>
            <a:r>
              <a:rPr lang="en-US" sz="2800" dirty="0" err="1">
                <a:solidFill>
                  <a:srgbClr val="00B0F0"/>
                </a:solidFill>
              </a:rPr>
              <a:t>db.STUDENT.deleteMany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dirty="0">
                <a:solidFill>
                  <a:srgbClr val="00B0F0"/>
                </a:solidFill>
              </a:rPr>
              <a:t>{ Attendance: { $</a:t>
            </a:r>
            <a:r>
              <a:rPr lang="en-US" sz="2800" dirty="0" err="1">
                <a:solidFill>
                  <a:srgbClr val="00B0F0"/>
                </a:solidFill>
              </a:rPr>
              <a:t>lt</a:t>
            </a:r>
            <a:r>
              <a:rPr lang="en-US" sz="2800" dirty="0">
                <a:solidFill>
                  <a:srgbClr val="00B0F0"/>
                </a:solidFill>
              </a:rPr>
              <a:t>: 75 } </a:t>
            </a:r>
            <a:r>
              <a:rPr lang="en-US" sz="2800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endParaRPr lang="en-US" sz="3200" b="1" u="sng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50602-E5A5-3383-8492-99BEB2EBA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66A791-B02A-2907-431B-952F0DE8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D1E412-B3F7-916F-5DD7-C7D33937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469585-53F9-4022-84FC-79D68D6A0C75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16412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51DCB-DF38-474A-80DC-B24CC2BD7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6D3DF-E212-1627-C44A-FBAEF4A5B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1A2C-377E-F974-75A9-E99E86EE678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3058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u="sng" dirty="0">
                <a:solidFill>
                  <a:srgbClr val="0070C0"/>
                </a:solidFill>
              </a:rPr>
              <a:t>Example: 2</a:t>
            </a:r>
          </a:p>
          <a:p>
            <a:pPr marL="0" indent="0">
              <a:buNone/>
            </a:pPr>
            <a:r>
              <a:rPr lang="en-US" sz="3200" b="1" dirty="0"/>
              <a:t>Demonstrate CRUD operations by creating an </a:t>
            </a:r>
            <a:r>
              <a:rPr lang="en-US" b="1" dirty="0"/>
              <a:t>EMPLOYEE</a:t>
            </a:r>
            <a:r>
              <a:rPr lang="en-US" sz="3200" b="1" dirty="0"/>
              <a:t> collection. Write MongoDB queries to:</a:t>
            </a:r>
            <a:endParaRPr lang="en-US" sz="3200" dirty="0"/>
          </a:p>
          <a:p>
            <a:pPr lvl="2"/>
            <a:r>
              <a:rPr lang="en-US" sz="2600" dirty="0"/>
              <a:t>Insert employee records (with fields: </a:t>
            </a:r>
            <a:r>
              <a:rPr lang="en-US" sz="2600" dirty="0" err="1"/>
              <a:t>EmpID</a:t>
            </a:r>
            <a:r>
              <a:rPr lang="en-US" sz="2600" dirty="0"/>
              <a:t>, Name, Dept, Salary)</a:t>
            </a:r>
          </a:p>
          <a:p>
            <a:pPr lvl="2"/>
            <a:r>
              <a:rPr lang="en-US" sz="2600" dirty="0"/>
              <a:t>Display all employees working in the ‘IT’ department</a:t>
            </a:r>
          </a:p>
          <a:p>
            <a:pPr lvl="2"/>
            <a:r>
              <a:rPr lang="en-US" sz="2600" dirty="0"/>
              <a:t>Increase salary by 10% for employees with salary less than 30000</a:t>
            </a:r>
          </a:p>
          <a:p>
            <a:pPr lvl="2"/>
            <a:r>
              <a:rPr lang="en-US" sz="2600" dirty="0"/>
              <a:t>Delete an employee record with a specific </a:t>
            </a:r>
            <a:r>
              <a:rPr lang="en-US" sz="2600" dirty="0" err="1"/>
              <a:t>EmpID</a:t>
            </a:r>
            <a:endParaRPr lang="en-US" sz="2600" dirty="0"/>
          </a:p>
          <a:p>
            <a:pPr>
              <a:buNone/>
            </a:pPr>
            <a:endParaRPr lang="en-US" sz="3200" b="1" u="sng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9CCAB-26D5-1BF3-C234-66D75E1D5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F3F76-0EB4-F43A-547E-27829A4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107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F6022-EDAC-4296-E67E-B0C57808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B0ED3D-170D-DFCA-31BC-43CBEAB57B04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6660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C024-A093-14DC-3911-0C9A06FFD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C54E3-4960-9E43-188C-DAD3A3BA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B7FF2-322E-828F-B70E-42B7883C3AD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1066800"/>
            <a:ext cx="8534400" cy="48768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IN" sz="3200" dirty="0"/>
              <a:t>✅ Create</a:t>
            </a:r>
          </a:p>
          <a:p>
            <a:pPr algn="ctr">
              <a:buNone/>
            </a:pPr>
            <a:r>
              <a:rPr lang="en-US" sz="2800" b="1" u="sng" dirty="0">
                <a:solidFill>
                  <a:srgbClr val="0070C0"/>
                </a:solidFill>
              </a:rPr>
              <a:t>use </a:t>
            </a:r>
            <a:r>
              <a:rPr lang="en-US" sz="2800" b="1" u="sng" dirty="0" err="1">
                <a:solidFill>
                  <a:srgbClr val="0070C0"/>
                </a:solidFill>
              </a:rPr>
              <a:t>companyDB</a:t>
            </a:r>
            <a:r>
              <a:rPr lang="en-US" sz="2800" b="1" u="sng" dirty="0">
                <a:solidFill>
                  <a:srgbClr val="0070C0"/>
                </a:solidFill>
              </a:rPr>
              <a:t>   </a:t>
            </a:r>
            <a:r>
              <a:rPr lang="en-US" sz="1800" b="1" u="sng" dirty="0"/>
              <a:t>// Creates/uses the database</a:t>
            </a:r>
          </a:p>
          <a:p>
            <a:pPr>
              <a:buNone/>
            </a:pPr>
            <a:r>
              <a:rPr lang="en-IN" sz="3200" dirty="0"/>
              <a:t>1️⃣ Insert employee records</a:t>
            </a:r>
          </a:p>
          <a:p>
            <a:pPr>
              <a:buNone/>
            </a:pPr>
            <a:r>
              <a:rPr lang="en-US" sz="2800" dirty="0" err="1">
                <a:solidFill>
                  <a:srgbClr val="0070C0"/>
                </a:solidFill>
              </a:rPr>
              <a:t>db.EMPLOYEE.insertMany</a:t>
            </a:r>
            <a:r>
              <a:rPr lang="en-US" sz="2800" dirty="0">
                <a:solidFill>
                  <a:srgbClr val="00B050"/>
                </a:solidFill>
              </a:rPr>
              <a:t>(</a:t>
            </a:r>
            <a:r>
              <a:rPr lang="en-US" sz="2800" dirty="0">
                <a:solidFill>
                  <a:srgbClr val="FF0000"/>
                </a:solidFill>
              </a:rPr>
              <a:t>[</a:t>
            </a:r>
          </a:p>
          <a:p>
            <a:pPr>
              <a:buNone/>
            </a:pPr>
            <a:r>
              <a:rPr lang="en-US" sz="2800" dirty="0">
                <a:solidFill>
                  <a:srgbClr val="0070C0"/>
                </a:solidFill>
              </a:rPr>
              <a:t>  { </a:t>
            </a:r>
            <a:r>
              <a:rPr lang="en-US" sz="2800" dirty="0" err="1">
                <a:solidFill>
                  <a:srgbClr val="0070C0"/>
                </a:solidFill>
              </a:rPr>
              <a:t>EmpID</a:t>
            </a:r>
            <a:r>
              <a:rPr lang="en-US" sz="2800" dirty="0">
                <a:solidFill>
                  <a:srgbClr val="0070C0"/>
                </a:solidFill>
              </a:rPr>
              <a:t>: 201, Name: "Arun", Dept: "IT", Salary: 28000 },</a:t>
            </a:r>
          </a:p>
          <a:p>
            <a:pPr>
              <a:buNone/>
            </a:pPr>
            <a:r>
              <a:rPr lang="en-US" sz="2800" dirty="0">
                <a:solidFill>
                  <a:srgbClr val="0070C0"/>
                </a:solidFill>
              </a:rPr>
              <a:t>  { </a:t>
            </a:r>
            <a:r>
              <a:rPr lang="en-US" sz="2800" dirty="0" err="1">
                <a:solidFill>
                  <a:srgbClr val="0070C0"/>
                </a:solidFill>
              </a:rPr>
              <a:t>EmpID</a:t>
            </a:r>
            <a:r>
              <a:rPr lang="en-US" sz="2800" dirty="0">
                <a:solidFill>
                  <a:srgbClr val="0070C0"/>
                </a:solidFill>
              </a:rPr>
              <a:t>: 202, Name: "Divya", Dept: "HR", Salary: 35000 },</a:t>
            </a:r>
          </a:p>
          <a:p>
            <a:pPr>
              <a:buNone/>
            </a:pPr>
            <a:r>
              <a:rPr lang="en-US" sz="2800" dirty="0">
                <a:solidFill>
                  <a:srgbClr val="0070C0"/>
                </a:solidFill>
              </a:rPr>
              <a:t>  { </a:t>
            </a:r>
            <a:r>
              <a:rPr lang="en-US" sz="2800" dirty="0" err="1">
                <a:solidFill>
                  <a:srgbClr val="0070C0"/>
                </a:solidFill>
              </a:rPr>
              <a:t>EmpID</a:t>
            </a:r>
            <a:r>
              <a:rPr lang="en-US" sz="2800" dirty="0">
                <a:solidFill>
                  <a:srgbClr val="0070C0"/>
                </a:solidFill>
              </a:rPr>
              <a:t>: 203, Name: "Karthik", Dept: "IT", Salary: 27000 },</a:t>
            </a:r>
          </a:p>
          <a:p>
            <a:pPr>
              <a:buNone/>
            </a:pPr>
            <a:r>
              <a:rPr lang="en-US" sz="2800" dirty="0">
                <a:solidFill>
                  <a:srgbClr val="0070C0"/>
                </a:solidFill>
              </a:rPr>
              <a:t>  { </a:t>
            </a:r>
            <a:r>
              <a:rPr lang="en-US" sz="2800" dirty="0" err="1">
                <a:solidFill>
                  <a:srgbClr val="0070C0"/>
                </a:solidFill>
              </a:rPr>
              <a:t>EmpID</a:t>
            </a:r>
            <a:r>
              <a:rPr lang="en-US" sz="2800" dirty="0">
                <a:solidFill>
                  <a:srgbClr val="0070C0"/>
                </a:solidFill>
              </a:rPr>
              <a:t>: 204, Name: "Meena", Dept: "Finance", Salary: 40000 },</a:t>
            </a:r>
          </a:p>
          <a:p>
            <a:pPr>
              <a:buNone/>
            </a:pPr>
            <a:r>
              <a:rPr lang="en-US" sz="2800" dirty="0">
                <a:solidFill>
                  <a:srgbClr val="0070C0"/>
                </a:solidFill>
              </a:rPr>
              <a:t>  { </a:t>
            </a:r>
            <a:r>
              <a:rPr lang="en-US" sz="2800" dirty="0" err="1">
                <a:solidFill>
                  <a:srgbClr val="0070C0"/>
                </a:solidFill>
              </a:rPr>
              <a:t>EmpID</a:t>
            </a:r>
            <a:r>
              <a:rPr lang="en-US" sz="2800" dirty="0">
                <a:solidFill>
                  <a:srgbClr val="0070C0"/>
                </a:solidFill>
              </a:rPr>
              <a:t>: 205, Name: "Vishal", Dept: "IT", Salary: 50000 }</a:t>
            </a:r>
          </a:p>
          <a:p>
            <a:pPr>
              <a:buNone/>
            </a:pPr>
            <a:r>
              <a:rPr lang="en-US" sz="2800" dirty="0">
                <a:solidFill>
                  <a:srgbClr val="FF0000"/>
                </a:solidFill>
              </a:rPr>
              <a:t>]</a:t>
            </a:r>
            <a:r>
              <a:rPr lang="en-US" sz="2800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54CB8-C060-EAF4-5108-6F9ABC0B3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54979-558F-CD6A-6CFA-F9DBD3721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108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6AAF7-9DF7-6DC7-AB26-787A5DAE9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C0D7B6-D796-89B3-BBF4-5D76B728F672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69314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F443E-3B97-486E-4BA2-E283631D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946A0-077A-D169-60F0-0EF64C68B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A34C650-80DB-7E12-2BF4-CA6FBE0EF97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14" y="2480452"/>
            <a:ext cx="8258986" cy="189709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CD7EC-0F84-380D-C174-A0C5685D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41707-A72A-34BE-4EF8-AF124AFF7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4AAA8-7DF0-9256-5FDE-B61D7BA32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56BDE7-65CC-EEA1-E4BF-B1349B46CB26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">
            <a:extLst>
              <a:ext uri="{FF2B5EF4-FFF2-40B4-BE49-F238E27FC236}">
                <a16:creationId xmlns:a16="http://schemas.microsoft.com/office/drawing/2014/main" id="{2637FE65-5C2D-C4BE-46A1-4B83C22AD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04" y="1612613"/>
            <a:ext cx="695094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 Data (after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insertMany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(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i.e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output)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)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88784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ED534-CC50-85DD-8D77-4CD3B31B3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BD018-7EDE-88A8-A852-32DCBA0A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282CF-6031-B269-1201-ADF1675508F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1066800"/>
            <a:ext cx="85344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/>
              <a:t>2️⃣ </a:t>
            </a:r>
            <a:r>
              <a:rPr lang="en-US" sz="2800" dirty="0"/>
              <a:t>Display all employees working in the </a:t>
            </a:r>
            <a:r>
              <a:rPr lang="en-US" sz="2800" b="1" dirty="0"/>
              <a:t>‘IT’ department</a:t>
            </a:r>
          </a:p>
          <a:p>
            <a:pPr algn="ctr">
              <a:buNone/>
            </a:pPr>
            <a:r>
              <a:rPr lang="en-US" sz="2800" dirty="0" err="1">
                <a:solidFill>
                  <a:srgbClr val="00B0F0"/>
                </a:solidFill>
              </a:rPr>
              <a:t>db.EMPLOYEE.find</a:t>
            </a:r>
            <a:r>
              <a:rPr lang="en-US" sz="2800" dirty="0">
                <a:solidFill>
                  <a:srgbClr val="00B0F0"/>
                </a:solidFill>
              </a:rPr>
              <a:t>({ Dept: "IT" })</a:t>
            </a:r>
          </a:p>
          <a:p>
            <a:pPr>
              <a:buNone/>
            </a:pPr>
            <a:endParaRPr lang="en-US" sz="2800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rgbClr val="00B050"/>
                </a:solidFill>
              </a:rPr>
              <a:t>Output: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64834-0173-788A-2A4D-10A0BE4E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3C612-F582-F25A-B54A-17D81527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49155-510B-E8EC-5CB5-F2317EB0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1D4793-5BCF-5F75-F297-617D63014EDD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E299329-B2B2-47D4-AA41-7F336AA82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3425190"/>
            <a:ext cx="7876261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5623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90D50-E02E-068C-1E9C-15503E1EB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672D0-EA8F-737E-DEDC-34843072D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F8D89-B174-20C4-FAC1-1E91BCAFEAD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599" y="1066800"/>
            <a:ext cx="8686801" cy="49514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3️⃣ Increase salary by </a:t>
            </a:r>
            <a:r>
              <a:rPr lang="en-US" sz="2800" b="1" dirty="0"/>
              <a:t>10%</a:t>
            </a:r>
            <a:r>
              <a:rPr lang="en-US" sz="2800" dirty="0"/>
              <a:t> for employees with salary less than </a:t>
            </a:r>
            <a:r>
              <a:rPr lang="en-US" sz="2800" b="1" dirty="0"/>
              <a:t>30000</a:t>
            </a:r>
          </a:p>
          <a:p>
            <a:pPr lvl="5">
              <a:buNone/>
            </a:pPr>
            <a:r>
              <a:rPr lang="en-US" sz="2400" dirty="0" err="1">
                <a:solidFill>
                  <a:srgbClr val="00B0F0"/>
                </a:solidFill>
              </a:rPr>
              <a:t>db.EMPLOYEE.updateMany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</a:p>
          <a:p>
            <a:pPr lvl="5">
              <a:buNone/>
            </a:pPr>
            <a:r>
              <a:rPr lang="en-US" sz="2400" dirty="0">
                <a:solidFill>
                  <a:srgbClr val="00B0F0"/>
                </a:solidFill>
              </a:rPr>
              <a:t>  { Salary: { $</a:t>
            </a:r>
            <a:r>
              <a:rPr lang="en-US" sz="2400" dirty="0" err="1">
                <a:solidFill>
                  <a:srgbClr val="00B0F0"/>
                </a:solidFill>
              </a:rPr>
              <a:t>lt</a:t>
            </a:r>
            <a:r>
              <a:rPr lang="en-US" sz="2400" dirty="0">
                <a:solidFill>
                  <a:srgbClr val="00B0F0"/>
                </a:solidFill>
              </a:rPr>
              <a:t>: 30000 } },</a:t>
            </a:r>
          </a:p>
          <a:p>
            <a:pPr lvl="5">
              <a:buNone/>
            </a:pPr>
            <a:r>
              <a:rPr lang="en-US" sz="2400" dirty="0">
                <a:solidFill>
                  <a:srgbClr val="00B0F0"/>
                </a:solidFill>
              </a:rPr>
              <a:t>  { $</a:t>
            </a:r>
            <a:r>
              <a:rPr lang="en-US" sz="2400" dirty="0" err="1">
                <a:solidFill>
                  <a:srgbClr val="00B0F0"/>
                </a:solidFill>
              </a:rPr>
              <a:t>mul</a:t>
            </a:r>
            <a:r>
              <a:rPr lang="en-US" sz="2400" dirty="0">
                <a:solidFill>
                  <a:srgbClr val="00B0F0"/>
                </a:solidFill>
              </a:rPr>
              <a:t>: { Salary: 1.10 } }</a:t>
            </a:r>
            <a:endParaRPr lang="en-US" sz="2400" dirty="0">
              <a:solidFill>
                <a:srgbClr val="00B050"/>
              </a:solidFill>
            </a:endParaRPr>
          </a:p>
          <a:p>
            <a:pPr lvl="5">
              <a:buNone/>
            </a:pPr>
            <a:r>
              <a:rPr lang="en-US" sz="2400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BE373-FE22-89A0-E782-E5BB3B6D2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74C6B-E4F9-4053-0697-C32DFADC7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111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CD4F8-5051-6D3F-9704-FEC90A3E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D05829-BE2B-71DA-0DAB-4FE6BFBF581F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0A2694BA-4A2B-8DB9-9129-244F5AC63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08" y="3473778"/>
            <a:ext cx="80986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$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mul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multiplies the existing salary by 1.10 (10% increment).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D617F8-AEA5-DEA5-1D8B-434C6E0C2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3963988"/>
            <a:ext cx="8686800" cy="196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3854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7B1DD-3942-7478-C935-A72639831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6CD01-1FE6-0349-8A34-42CDA00A2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27197-4E3E-AEA1-4173-362279C1DF7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1066800"/>
            <a:ext cx="85344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dirty="0"/>
              <a:t>4️⃣ Delete an employee record with a specific </a:t>
            </a:r>
            <a:r>
              <a:rPr lang="en-US" sz="3200" b="1" dirty="0" err="1"/>
              <a:t>EmpID</a:t>
            </a:r>
            <a:r>
              <a:rPr lang="en-US" sz="3200" dirty="0"/>
              <a:t> (Example: </a:t>
            </a:r>
            <a:r>
              <a:rPr lang="en-US" sz="3200" dirty="0" err="1"/>
              <a:t>EmpID</a:t>
            </a:r>
            <a:r>
              <a:rPr lang="en-US" sz="3200" dirty="0"/>
              <a:t> = 202)</a:t>
            </a:r>
          </a:p>
          <a:p>
            <a:pPr algn="ctr">
              <a:buNone/>
            </a:pPr>
            <a:r>
              <a:rPr lang="en-US" sz="2800" dirty="0" err="1">
                <a:solidFill>
                  <a:srgbClr val="00B0F0"/>
                </a:solidFill>
              </a:rPr>
              <a:t>db.EMPLOYEE.deleteOne</a:t>
            </a:r>
            <a:r>
              <a:rPr lang="en-US" sz="2800" dirty="0">
                <a:solidFill>
                  <a:srgbClr val="FF0000"/>
                </a:solidFill>
              </a:rPr>
              <a:t>(</a:t>
            </a:r>
            <a:r>
              <a:rPr lang="en-US" sz="2800" dirty="0">
                <a:solidFill>
                  <a:srgbClr val="00B0F0"/>
                </a:solidFill>
              </a:rPr>
              <a:t>{ </a:t>
            </a:r>
            <a:r>
              <a:rPr lang="en-US" sz="2800" dirty="0" err="1">
                <a:solidFill>
                  <a:srgbClr val="00B0F0"/>
                </a:solidFill>
              </a:rPr>
              <a:t>EmpID</a:t>
            </a:r>
            <a:r>
              <a:rPr lang="en-US" sz="2800" dirty="0">
                <a:solidFill>
                  <a:srgbClr val="00B0F0"/>
                </a:solidFill>
              </a:rPr>
              <a:t>: 202 }</a:t>
            </a:r>
            <a:r>
              <a:rPr lang="en-US" sz="2800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D8F0E-516F-FAED-3533-A3828D08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D6F44-4C7C-2627-F7AB-12AAE4DF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2F616-50A1-0BF0-91D2-5F81EE2C5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500BE5-0C0E-A77B-4539-455297E4DCF1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3">
            <a:extLst>
              <a:ext uri="{FF2B5EF4-FFF2-40B4-BE49-F238E27FC236}">
                <a16:creationId xmlns:a16="http://schemas.microsoft.com/office/drawing/2014/main" id="{04B4CF23-4F93-1A55-773D-B813294B6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180999"/>
            <a:ext cx="6194881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/>
              <a:t>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pplied all four CRUD operations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reate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insertMany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ead → find()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pdate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updateMany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elete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deleteOne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16544A-D931-0D82-92F7-314C9F49F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673191"/>
            <a:ext cx="6194881" cy="150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6309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462BC-BDC3-CFDD-7185-233BF2F49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64B-8CB3-80F3-0A5D-5E1FC731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6F942-381E-0223-FD59-A8DD1F6802E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3058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u="sng" dirty="0">
                <a:solidFill>
                  <a:srgbClr val="0070C0"/>
                </a:solidFill>
              </a:rPr>
              <a:t>Example: 3   (Home Work)</a:t>
            </a:r>
          </a:p>
          <a:p>
            <a:pPr marL="0" indent="0">
              <a:buNone/>
            </a:pPr>
            <a:r>
              <a:rPr lang="en-US" sz="3200" b="1" dirty="0"/>
              <a:t>Construct a MongoDB program that implements CRUD operations for a </a:t>
            </a:r>
            <a:r>
              <a:rPr lang="en-US" b="1" dirty="0"/>
              <a:t>PRODUCT</a:t>
            </a:r>
            <a:r>
              <a:rPr lang="en-US" sz="3200" b="1" dirty="0"/>
              <a:t> collection. Show how to:</a:t>
            </a:r>
            <a:endParaRPr lang="en-US" sz="3200" dirty="0"/>
          </a:p>
          <a:p>
            <a:pPr lvl="2"/>
            <a:r>
              <a:rPr lang="en-US" sz="2600" dirty="0"/>
              <a:t>Add product details (</a:t>
            </a:r>
            <a:r>
              <a:rPr lang="en-US" sz="2600" dirty="0" err="1"/>
              <a:t>ProductID</a:t>
            </a:r>
            <a:r>
              <a:rPr lang="en-US" sz="2600" dirty="0"/>
              <a:t>, Name, Price, Stock)</a:t>
            </a:r>
          </a:p>
          <a:p>
            <a:pPr lvl="2"/>
            <a:r>
              <a:rPr lang="en-US" sz="2600" dirty="0"/>
              <a:t>Retrieve products with stock less than 50</a:t>
            </a:r>
          </a:p>
          <a:p>
            <a:pPr lvl="2"/>
            <a:r>
              <a:rPr lang="en-US" sz="2600" dirty="0"/>
              <a:t>Update the price of a specific product</a:t>
            </a:r>
          </a:p>
          <a:p>
            <a:pPr lvl="2"/>
            <a:r>
              <a:rPr lang="en-US" sz="2600" dirty="0"/>
              <a:t>Remove products that are out of stock</a:t>
            </a:r>
          </a:p>
          <a:p>
            <a:pPr>
              <a:buNone/>
            </a:pPr>
            <a:endParaRPr lang="en-US" sz="3200" b="1" u="sng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7745D-6B3D-8C02-7928-DFB12B02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4FE0F-6DE1-1E29-97B1-53840D70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3AA05-810D-C16B-197A-6C8F4729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E3CB93-63C8-2972-4DAA-CC15FECC6DF9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72371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F7E18-3B35-AD1F-F0D1-EEA9355AB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C02F5-D033-EC70-9045-020FD521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MongoDB Query Language (CRUD)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3C690-8CC9-F1E8-6522-EC756CE8B06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066800"/>
            <a:ext cx="83058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u="sng" dirty="0">
                <a:solidFill>
                  <a:srgbClr val="0070C0"/>
                </a:solidFill>
              </a:rPr>
              <a:t>Example: 4  (Home Work)</a:t>
            </a:r>
          </a:p>
          <a:p>
            <a:pPr marL="0" indent="0">
              <a:buNone/>
            </a:pPr>
            <a:r>
              <a:rPr lang="en-US" sz="3200" b="1" dirty="0"/>
              <a:t>Apply CRUD operations on a </a:t>
            </a:r>
            <a:r>
              <a:rPr lang="en-US" b="1" dirty="0"/>
              <a:t>LIBRARY</a:t>
            </a:r>
            <a:r>
              <a:rPr lang="en-US" sz="3200" b="1" dirty="0"/>
              <a:t> collection. Write MongoDB commands to:</a:t>
            </a:r>
            <a:endParaRPr lang="en-US" sz="3200" dirty="0"/>
          </a:p>
          <a:p>
            <a:pPr lvl="2"/>
            <a:r>
              <a:rPr lang="en-US" sz="2600" dirty="0"/>
              <a:t>Insert 5 documents of books (</a:t>
            </a:r>
            <a:r>
              <a:rPr lang="en-US" sz="2600" dirty="0" err="1"/>
              <a:t>BookID</a:t>
            </a:r>
            <a:r>
              <a:rPr lang="en-US" sz="2600" dirty="0"/>
              <a:t>, Title, Author, Year, Copies)</a:t>
            </a:r>
          </a:p>
          <a:p>
            <a:pPr lvl="2"/>
            <a:r>
              <a:rPr lang="en-US" sz="2600" dirty="0"/>
              <a:t>Retrieve books published after 2015</a:t>
            </a:r>
          </a:p>
          <a:p>
            <a:pPr lvl="2"/>
            <a:r>
              <a:rPr lang="en-US" sz="2600" dirty="0"/>
              <a:t>Update the number of copies for a given book</a:t>
            </a:r>
          </a:p>
          <a:p>
            <a:pPr lvl="2"/>
            <a:r>
              <a:rPr lang="en-US" sz="2600" dirty="0"/>
              <a:t>Delete books written by a particular author</a:t>
            </a:r>
          </a:p>
          <a:p>
            <a:pPr>
              <a:buNone/>
            </a:pPr>
            <a:endParaRPr lang="en-US" sz="3200" b="1" u="sng" dirty="0">
              <a:solidFill>
                <a:srgbClr val="0070C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C7DD8-813A-F91D-9DF6-F9DF0E9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5CFB2-752E-BC39-021A-758FE2FFC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114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B4CC5-C076-F6E5-1D98-D7F7C3AD3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0F021F-E6B9-7D5D-1018-EED6D0B62888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22835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18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What is Hive?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Apache Hive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is a </a:t>
            </a:r>
            <a:r>
              <a:rPr lang="en-US" sz="3200" b="1" dirty="0">
                <a:solidFill>
                  <a:srgbClr val="00B050"/>
                </a:solidFill>
              </a:rPr>
              <a:t>data warehouse system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/>
              <a:t>built on top of </a:t>
            </a:r>
            <a:r>
              <a:rPr lang="en-US" sz="3200" b="1" dirty="0">
                <a:solidFill>
                  <a:srgbClr val="00B050"/>
                </a:solidFill>
              </a:rPr>
              <a:t>Hadoop</a:t>
            </a:r>
            <a:r>
              <a:rPr lang="en-US" sz="3200" dirty="0"/>
              <a:t>.</a:t>
            </a:r>
          </a:p>
          <a:p>
            <a:r>
              <a:rPr lang="en-US" sz="3200" dirty="0"/>
              <a:t>It allows you to </a:t>
            </a:r>
            <a:r>
              <a:rPr lang="en-US" sz="3200" dirty="0">
                <a:solidFill>
                  <a:srgbClr val="FF0000"/>
                </a:solidFill>
              </a:rPr>
              <a:t>query and analyze </a:t>
            </a:r>
            <a:r>
              <a:rPr lang="en-US" sz="3200" b="1" dirty="0">
                <a:solidFill>
                  <a:srgbClr val="00B050"/>
                </a:solidFill>
              </a:rPr>
              <a:t>large datasets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/>
              <a:t>stored in </a:t>
            </a:r>
            <a:r>
              <a:rPr lang="en-US" sz="3200" b="1" dirty="0">
                <a:solidFill>
                  <a:srgbClr val="00B050"/>
                </a:solidFill>
              </a:rPr>
              <a:t>HDFS</a:t>
            </a:r>
            <a:r>
              <a:rPr lang="en-US" sz="3200" b="1" dirty="0"/>
              <a:t> (Hadoop Distributed File System)</a:t>
            </a:r>
            <a:r>
              <a:rPr lang="en-US" sz="3200" dirty="0"/>
              <a:t> using a </a:t>
            </a:r>
            <a:r>
              <a:rPr lang="en-US" sz="3200" b="1" dirty="0"/>
              <a:t>SQL-like language called HiveQL</a:t>
            </a:r>
            <a:r>
              <a:rPr lang="en-US" sz="3200" dirty="0"/>
              <a:t>.</a:t>
            </a:r>
          </a:p>
          <a:p>
            <a:r>
              <a:rPr lang="en-US" sz="3200" dirty="0"/>
              <a:t>Hive was originally developed at </a:t>
            </a:r>
            <a:r>
              <a:rPr lang="en-US" sz="3200" b="1" dirty="0">
                <a:solidFill>
                  <a:srgbClr val="00B050"/>
                </a:solidFill>
              </a:rPr>
              <a:t>Facebook</a:t>
            </a:r>
            <a:r>
              <a:rPr lang="en-US" sz="3200" dirty="0"/>
              <a:t> to make Hadoop more accessible to analysts familiar with SQL.</a:t>
            </a:r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74886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90E16-6E8F-0956-0F71-20A24F8CB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6658-3065-82EE-EB5C-7617EC451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B9146-C749-84E0-1E91-61D78746512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1816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3200" b="1" dirty="0">
                <a:solidFill>
                  <a:srgbClr val="FF0000"/>
                </a:solidFill>
              </a:rPr>
              <a:t>Key Features of Hive:</a:t>
            </a:r>
          </a:p>
          <a:p>
            <a:r>
              <a:rPr lang="en-IN" sz="3200" b="1" dirty="0">
                <a:solidFill>
                  <a:srgbClr val="00B050"/>
                </a:solidFill>
              </a:rPr>
              <a:t>SQL-like interface (HiveQL)</a:t>
            </a:r>
            <a:r>
              <a:rPr lang="en-IN" sz="3200" dirty="0">
                <a:solidFill>
                  <a:srgbClr val="00B050"/>
                </a:solidFill>
              </a:rPr>
              <a:t> </a:t>
            </a:r>
            <a:r>
              <a:rPr lang="en-IN" sz="3200" dirty="0"/>
              <a:t>→ Easier for people who know SQL.</a:t>
            </a:r>
          </a:p>
          <a:p>
            <a:r>
              <a:rPr lang="en-IN" sz="3200" b="1" dirty="0">
                <a:solidFill>
                  <a:srgbClr val="00B050"/>
                </a:solidFill>
              </a:rPr>
              <a:t>Batch processing</a:t>
            </a:r>
            <a:r>
              <a:rPr lang="en-IN" sz="3200" dirty="0">
                <a:solidFill>
                  <a:srgbClr val="00B050"/>
                </a:solidFill>
              </a:rPr>
              <a:t> </a:t>
            </a:r>
            <a:r>
              <a:rPr lang="en-IN" sz="3200" dirty="0"/>
              <a:t>→ Converts queries into </a:t>
            </a:r>
            <a:r>
              <a:rPr lang="en-IN" sz="3200" b="1" dirty="0"/>
              <a:t>MapReduce,  or Spark jobs</a:t>
            </a:r>
            <a:r>
              <a:rPr lang="en-IN" sz="3200" dirty="0"/>
              <a:t>.</a:t>
            </a:r>
          </a:p>
          <a:p>
            <a:r>
              <a:rPr lang="en-IN" sz="3200" b="1" dirty="0">
                <a:solidFill>
                  <a:srgbClr val="00B050"/>
                </a:solidFill>
              </a:rPr>
              <a:t>Schema on Read</a:t>
            </a:r>
            <a:r>
              <a:rPr lang="en-IN" sz="3200" dirty="0">
                <a:solidFill>
                  <a:srgbClr val="00B050"/>
                </a:solidFill>
              </a:rPr>
              <a:t> </a:t>
            </a:r>
            <a:r>
              <a:rPr lang="en-IN" sz="3200" dirty="0"/>
              <a:t>→ Data is loaded as-is, schema applied when queried.</a:t>
            </a:r>
          </a:p>
          <a:p>
            <a:r>
              <a:rPr lang="en-IN" sz="3200" b="1" dirty="0">
                <a:solidFill>
                  <a:srgbClr val="00B050"/>
                </a:solidFill>
              </a:rPr>
              <a:t>Supports large datasets</a:t>
            </a:r>
            <a:r>
              <a:rPr lang="en-IN" sz="3200" dirty="0">
                <a:solidFill>
                  <a:srgbClr val="00B050"/>
                </a:solidFill>
              </a:rPr>
              <a:t> </a:t>
            </a:r>
            <a:r>
              <a:rPr lang="en-IN" sz="3200" dirty="0"/>
              <a:t>→ Terabytes to petabytes.</a:t>
            </a:r>
          </a:p>
          <a:p>
            <a:r>
              <a:rPr lang="en-IN" sz="3200" b="1" dirty="0">
                <a:solidFill>
                  <a:srgbClr val="00B050"/>
                </a:solidFill>
              </a:rPr>
              <a:t>Extensibility</a:t>
            </a:r>
            <a:r>
              <a:rPr lang="en-IN" sz="3200" dirty="0"/>
              <a:t> → User-defined functions (UDFs) can be added.</a:t>
            </a:r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4F8F4-1C9B-DE09-D9D1-67EA3C24A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A52D4E-2189-99E7-87EC-4E1ED18F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96FF0-E8C4-7A35-0800-218ECB552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DFE887E-568E-E9E9-DC3A-F6D5C00ADE96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99568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4DDB-9B02-A974-43BB-FED367C8A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930C3-F831-A8F3-CAAB-9C2F8CB89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0B07B-B064-DB7A-B67C-3EAB10899EB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Advantages:</a:t>
            </a:r>
          </a:p>
          <a:p>
            <a:r>
              <a:rPr lang="en-US" sz="3200" dirty="0"/>
              <a:t>Makes Hadoop accessible for SQL users.</a:t>
            </a:r>
          </a:p>
          <a:p>
            <a:r>
              <a:rPr lang="en-US" sz="3200" dirty="0"/>
              <a:t>Handles </a:t>
            </a:r>
            <a:r>
              <a:rPr lang="en-US" sz="3200" b="1" dirty="0">
                <a:solidFill>
                  <a:srgbClr val="00B050"/>
                </a:solidFill>
              </a:rPr>
              <a:t>huge datasets</a:t>
            </a:r>
            <a:r>
              <a:rPr lang="en-US" sz="3200" dirty="0">
                <a:solidFill>
                  <a:srgbClr val="00B050"/>
                </a:solidFill>
              </a:rPr>
              <a:t>.</a:t>
            </a:r>
          </a:p>
          <a:p>
            <a:r>
              <a:rPr lang="en-US" sz="3200" dirty="0"/>
              <a:t>Integration with </a:t>
            </a:r>
            <a:r>
              <a:rPr lang="en-US" sz="3200" b="1" dirty="0">
                <a:solidFill>
                  <a:srgbClr val="00B050"/>
                </a:solidFill>
              </a:rPr>
              <a:t>HDFS, HBase, Spark</a:t>
            </a:r>
            <a:r>
              <a:rPr lang="en-US" sz="3200" dirty="0"/>
              <a:t>.</a:t>
            </a:r>
          </a:p>
          <a:p>
            <a:r>
              <a:rPr lang="en-US" sz="3200" dirty="0"/>
              <a:t>Good for </a:t>
            </a:r>
            <a:r>
              <a:rPr lang="en-US" sz="3200" b="1" dirty="0">
                <a:solidFill>
                  <a:srgbClr val="00B050"/>
                </a:solidFill>
              </a:rPr>
              <a:t>ETL</a:t>
            </a:r>
            <a:r>
              <a:rPr lang="en-US" sz="3200" b="1" dirty="0"/>
              <a:t> (Extract, Transform, Load)</a:t>
            </a:r>
            <a:r>
              <a:rPr lang="en-US" sz="3200" dirty="0"/>
              <a:t>.</a:t>
            </a:r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02CB9-78EA-5C8A-F139-F9BE4D723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C6BEC-8863-BB49-C4F0-491A872A6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0EBB6-9567-8C48-33EC-D75C02C43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9190F9-3CE3-B310-08EA-0199885F42DE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0504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877C2-70A8-B17F-E203-AACD346D8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6D524-94F8-32FB-2783-13E38B3C1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1F5B1-3249-07A7-43A8-5DEEA6FC72B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Limitations:</a:t>
            </a:r>
          </a:p>
          <a:p>
            <a:r>
              <a:rPr lang="en-US" sz="3200" b="1" dirty="0">
                <a:solidFill>
                  <a:srgbClr val="00B050"/>
                </a:solidFill>
              </a:rPr>
              <a:t>Not real-time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/>
              <a:t>→ Hive is designed for </a:t>
            </a:r>
            <a:r>
              <a:rPr lang="en-US" sz="3200" b="1" dirty="0"/>
              <a:t>batch processing</a:t>
            </a:r>
            <a:r>
              <a:rPr lang="en-US" sz="3200" dirty="0"/>
              <a:t> (minutes to hours).</a:t>
            </a:r>
          </a:p>
          <a:p>
            <a:r>
              <a:rPr lang="en-US" sz="3200" b="1" dirty="0">
                <a:solidFill>
                  <a:srgbClr val="00B050"/>
                </a:solidFill>
              </a:rPr>
              <a:t>High latency</a:t>
            </a:r>
            <a:r>
              <a:rPr lang="en-US" sz="3200" dirty="0">
                <a:solidFill>
                  <a:srgbClr val="00B050"/>
                </a:solidFill>
              </a:rPr>
              <a:t> </a:t>
            </a:r>
            <a:r>
              <a:rPr lang="en-US" sz="3200" dirty="0"/>
              <a:t>→ Not suitable for </a:t>
            </a:r>
            <a:r>
              <a:rPr lang="en-US" sz="3200" dirty="0">
                <a:solidFill>
                  <a:srgbClr val="FF0000"/>
                </a:solidFill>
              </a:rPr>
              <a:t>OLTP</a:t>
            </a:r>
            <a:r>
              <a:rPr lang="en-US" sz="3200" dirty="0"/>
              <a:t> (online transaction processing).</a:t>
            </a:r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E49CC-72A2-6600-69AC-FE8510A1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74E89-53A6-CD60-AFA7-D962A08C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8FBF6-BE03-4D8E-9C4F-515763A9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2813CF-ADCE-6E5B-416F-A55871265BF4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65971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181600"/>
          </a:xfrm>
        </p:spPr>
        <p:txBody>
          <a:bodyPr>
            <a:normAutofit/>
          </a:bodyPr>
          <a:lstStyle/>
          <a:p>
            <a:r>
              <a:rPr lang="en-US" sz="3200" dirty="0"/>
              <a:t>Hive sits on top of </a:t>
            </a:r>
            <a:r>
              <a:rPr lang="en-US" sz="3200" b="1" dirty="0"/>
              <a:t>Hadoop</a:t>
            </a:r>
            <a:r>
              <a:rPr lang="en-US" sz="3200" dirty="0"/>
              <a:t> and translates </a:t>
            </a:r>
            <a:r>
              <a:rPr lang="en-US" sz="3200" b="1" dirty="0"/>
              <a:t>HiveQL queries</a:t>
            </a:r>
            <a:r>
              <a:rPr lang="en-US" sz="3200" dirty="0"/>
              <a:t> into </a:t>
            </a:r>
            <a:r>
              <a:rPr lang="en-US" sz="3200" b="1" dirty="0"/>
              <a:t>MapReduce </a:t>
            </a:r>
            <a:r>
              <a:rPr lang="en-US" sz="3200" dirty="0"/>
              <a:t>for execution.</a:t>
            </a:r>
          </a:p>
          <a:p>
            <a:pPr marL="0" indent="0">
              <a:buNone/>
            </a:pPr>
            <a:r>
              <a:rPr lang="en-IN" sz="3200" dirty="0"/>
              <a:t>🔑 </a:t>
            </a:r>
            <a:r>
              <a:rPr lang="en-IN" sz="3200" b="1" dirty="0"/>
              <a:t>Main Components:</a:t>
            </a:r>
          </a:p>
          <a:p>
            <a:r>
              <a:rPr lang="en-IN" sz="3200" dirty="0"/>
              <a:t>User Interface (UI)</a:t>
            </a:r>
          </a:p>
          <a:p>
            <a:r>
              <a:rPr lang="en-IN" sz="3200" dirty="0"/>
              <a:t>Driver</a:t>
            </a:r>
          </a:p>
          <a:p>
            <a:r>
              <a:rPr lang="en-IN" sz="3200" dirty="0" err="1"/>
              <a:t>Metastore</a:t>
            </a:r>
            <a:endParaRPr lang="en-IN" sz="3200" dirty="0"/>
          </a:p>
          <a:p>
            <a:r>
              <a:rPr lang="en-IN" sz="3200" dirty="0"/>
              <a:t>Execution Engine</a:t>
            </a:r>
          </a:p>
          <a:p>
            <a:r>
              <a:rPr lang="en-IN" sz="3200" dirty="0"/>
              <a:t>Hadoop Components</a:t>
            </a: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16690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EA66F-02BB-62DD-CA89-8A8C5A51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9977A-CD29-24C1-A126-196A0C6C1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77B0-7FBD-36B3-64B0-6A76003628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1. User Interface (UI):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/>
              <a:t>Interfaces to </a:t>
            </a:r>
            <a:r>
              <a:rPr lang="en-IN" dirty="0">
                <a:solidFill>
                  <a:srgbClr val="00B050"/>
                </a:solidFill>
              </a:rPr>
              <a:t>interact with Hive</a:t>
            </a:r>
            <a:r>
              <a:rPr lang="en-IN" dirty="0"/>
              <a:t>.</a:t>
            </a:r>
          </a:p>
          <a:p>
            <a:r>
              <a:rPr lang="en-IN" dirty="0">
                <a:solidFill>
                  <a:srgbClr val="FF0000"/>
                </a:solidFill>
              </a:rPr>
              <a:t>Types:</a:t>
            </a:r>
          </a:p>
          <a:p>
            <a:pPr lvl="1"/>
            <a:r>
              <a:rPr lang="en-IN" dirty="0"/>
              <a:t>CLI (Command Line Interface)</a:t>
            </a:r>
          </a:p>
          <a:p>
            <a:pPr lvl="1"/>
            <a:r>
              <a:rPr lang="en-IN" dirty="0"/>
              <a:t>Web UI</a:t>
            </a:r>
          </a:p>
          <a:p>
            <a:pPr lvl="1"/>
            <a:r>
              <a:rPr lang="en-IN" dirty="0"/>
              <a:t>JDBC/ODBC (for BI tools like Tableau, Power BI)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539D9-AD09-15C8-BF4A-3AB8B249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A3AA3-CF6B-B1B8-AF88-AFBDC98F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BF8CF-AE0F-AE91-1D12-E48E53A8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14CD8F-1EE0-F1B0-E650-AE48CBE1D1A2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01935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36B9B-C56C-CE3D-97F9-ABF57492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4B0D5-1642-4554-9C2D-FBABAA63C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D8BF9-49BD-470C-8860-0C28B1F30E9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2. Driver: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00B050"/>
                </a:solidFill>
              </a:rPr>
              <a:t>Manages the lifecycle of a HiveQL query</a:t>
            </a:r>
            <a:r>
              <a:rPr lang="en-IN" dirty="0"/>
              <a:t>.</a:t>
            </a:r>
          </a:p>
          <a:p>
            <a:r>
              <a:rPr lang="en-IN" dirty="0"/>
              <a:t>Sub-components:</a:t>
            </a:r>
          </a:p>
          <a:p>
            <a:pPr lvl="1"/>
            <a:r>
              <a:rPr lang="en-IN" b="1" dirty="0"/>
              <a:t>Parser</a:t>
            </a:r>
            <a:r>
              <a:rPr lang="en-IN" dirty="0"/>
              <a:t> → Checks syntax and </a:t>
            </a:r>
            <a:r>
              <a:rPr lang="en-IN" dirty="0">
                <a:solidFill>
                  <a:srgbClr val="FF0000"/>
                </a:solidFill>
              </a:rPr>
              <a:t>converts HiveQL to an Abstract Syntax Tree (AST).</a:t>
            </a:r>
          </a:p>
          <a:p>
            <a:pPr lvl="1"/>
            <a:r>
              <a:rPr lang="en-IN" b="1" dirty="0"/>
              <a:t>Planner/Compiler</a:t>
            </a:r>
            <a:r>
              <a:rPr lang="en-IN" dirty="0"/>
              <a:t> → Generates a logical plan (</a:t>
            </a:r>
            <a:r>
              <a:rPr lang="en-IN" dirty="0">
                <a:solidFill>
                  <a:srgbClr val="FF0000"/>
                </a:solidFill>
              </a:rPr>
              <a:t>query execution plan</a:t>
            </a:r>
            <a:r>
              <a:rPr lang="en-IN" dirty="0"/>
              <a:t>).</a:t>
            </a:r>
          </a:p>
          <a:p>
            <a:pPr lvl="1"/>
            <a:r>
              <a:rPr lang="en-IN" b="1" dirty="0"/>
              <a:t>Optimizer</a:t>
            </a:r>
            <a:r>
              <a:rPr lang="en-IN" dirty="0"/>
              <a:t> → Optimizes the plan (e.g., reduces MapReduce jobs).</a:t>
            </a:r>
          </a:p>
          <a:p>
            <a:pPr lvl="1"/>
            <a:r>
              <a:rPr lang="en-IN" b="1" dirty="0"/>
              <a:t>Executor</a:t>
            </a:r>
            <a:r>
              <a:rPr lang="en-IN" dirty="0"/>
              <a:t> → Sends the job to Hadoop (MapReduce).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97144-0673-76E8-B9A0-04C62868D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0C90E-E87C-0C7E-F572-B6EE94A8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364DE-A917-822E-141E-143332ED7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74BB0B-A908-CB8C-52C1-5CB8F1FCA7F5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09682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F954B-4AC4-1A7E-1EC5-812024E8E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1BE84-76A1-6C99-836E-66D758A90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A68ED-67C7-2140-E94D-9F666FDC9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D13A2-44B5-F3EA-0DB1-857835EC5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8DA81-D6DA-D094-D395-58880548B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D0AFF9-E4BA-427D-6E49-425ABDA5DBC5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>
            <a:extLst>
              <a:ext uri="{FF2B5EF4-FFF2-40B4-BE49-F238E27FC236}">
                <a16:creationId xmlns:a16="http://schemas.microsoft.com/office/drawing/2014/main" id="{9FB37C11-99D3-25B3-B019-51070E736B4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432216" y="881301"/>
            <a:ext cx="8191500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solidFill>
                  <a:srgbClr val="FF0000"/>
                </a:solidFill>
              </a:rPr>
              <a:t>3. </a:t>
            </a:r>
            <a:r>
              <a:rPr lang="en-US" altLang="en-US" b="1" dirty="0" err="1">
                <a:solidFill>
                  <a:srgbClr val="FF0000"/>
                </a:solidFill>
              </a:rPr>
              <a:t>Metastore</a:t>
            </a:r>
            <a:endParaRPr lang="en-US" altLang="en-US" b="1" dirty="0">
              <a:solidFill>
                <a:srgbClr val="FF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/>
              <a:t>Stores metadata about tables, partitions, schemas, and data locations.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4. Execution Engine</a:t>
            </a:r>
          </a:p>
          <a:p>
            <a:r>
              <a:rPr lang="en-US" dirty="0"/>
              <a:t>Executes the query plan.</a:t>
            </a:r>
          </a:p>
          <a:p>
            <a:r>
              <a:rPr lang="en-US" dirty="0"/>
              <a:t>Converts HiveQL → MapReduce/Tez/Spark jobs.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5. Hadoop Components</a:t>
            </a:r>
          </a:p>
          <a:p>
            <a:r>
              <a:rPr lang="en-US" b="1" dirty="0"/>
              <a:t>HDFS</a:t>
            </a:r>
            <a:r>
              <a:rPr lang="en-US" dirty="0"/>
              <a:t> → Storage of data.</a:t>
            </a:r>
          </a:p>
          <a:p>
            <a:r>
              <a:rPr lang="en-US" b="1" dirty="0"/>
              <a:t>YARN/MapReduce</a:t>
            </a:r>
            <a:r>
              <a:rPr lang="en-US" dirty="0"/>
              <a:t> → Actual query execution engine.</a:t>
            </a:r>
          </a:p>
          <a:p>
            <a:pPr marL="0" indent="0"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22476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20C68-6865-3344-50E8-DEB88DD15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D4576-C4F0-CBE2-CC24-FB932BB50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2D5A0-87F5-12AE-57FE-16A2BA280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31AB38-36AA-0700-2BAB-8D4AF24B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53B33-AD48-1389-F7E1-05069372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C02378-BA36-BC7E-1D17-8836A7408B03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BC1DD63-8B27-84DC-3B5F-E71867C0C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1066800"/>
            <a:ext cx="7854696" cy="4191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B9A491-A939-BF92-D5CC-0DC14AFDCA7B}"/>
              </a:ext>
            </a:extLst>
          </p:cNvPr>
          <p:cNvSpPr txBox="1"/>
          <p:nvPr/>
        </p:nvSpPr>
        <p:spPr>
          <a:xfrm>
            <a:off x="685800" y="5237947"/>
            <a:ext cx="80428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So, Hive acts like a </a:t>
            </a:r>
            <a:r>
              <a:rPr lang="en-US" sz="2800" b="1" dirty="0"/>
              <a:t>bridge between SQL-like queries and Hadoop’s big data processing</a:t>
            </a:r>
            <a:r>
              <a:rPr lang="en-US" sz="2800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3815308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89AF6-357D-B0B1-7EBA-5BB34EB64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549D6-1EC2-61C4-4B41-07E8F0C3E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DD10C-E47E-8358-5307-BCA60797376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b="1" dirty="0"/>
              <a:t>Workflow of a Hive Query</a:t>
            </a:r>
          </a:p>
          <a:p>
            <a:r>
              <a:rPr lang="en-IN" sz="2800" dirty="0"/>
              <a:t>User submits </a:t>
            </a:r>
            <a:r>
              <a:rPr lang="en-IN" sz="2800" b="1" dirty="0"/>
              <a:t>HiveQL query</a:t>
            </a:r>
            <a:r>
              <a:rPr lang="en-IN" sz="2800" dirty="0"/>
              <a:t> via CLI/ODBC/JDBC.</a:t>
            </a:r>
          </a:p>
          <a:p>
            <a:r>
              <a:rPr lang="en-IN" sz="2800" b="1" dirty="0"/>
              <a:t>Driver</a:t>
            </a:r>
            <a:r>
              <a:rPr lang="en-IN" sz="2800" dirty="0"/>
              <a:t> </a:t>
            </a:r>
            <a:r>
              <a:rPr lang="en-IN" sz="2800" dirty="0">
                <a:solidFill>
                  <a:srgbClr val="FF0000"/>
                </a:solidFill>
              </a:rPr>
              <a:t>parses</a:t>
            </a:r>
            <a:r>
              <a:rPr lang="en-IN" sz="2800" dirty="0"/>
              <a:t> and </a:t>
            </a:r>
            <a:r>
              <a:rPr lang="en-IN" sz="2800" dirty="0">
                <a:solidFill>
                  <a:srgbClr val="FF0000"/>
                </a:solidFill>
              </a:rPr>
              <a:t>compiles </a:t>
            </a:r>
            <a:r>
              <a:rPr lang="en-IN" sz="2800" dirty="0"/>
              <a:t>the query.</a:t>
            </a:r>
          </a:p>
          <a:p>
            <a:r>
              <a:rPr lang="en-IN" sz="2800" b="1" dirty="0" err="1"/>
              <a:t>Metastore</a:t>
            </a:r>
            <a:r>
              <a:rPr lang="en-IN" sz="2800" dirty="0"/>
              <a:t> </a:t>
            </a:r>
            <a:r>
              <a:rPr lang="en-IN" sz="2800" dirty="0">
                <a:solidFill>
                  <a:srgbClr val="FF0000"/>
                </a:solidFill>
              </a:rPr>
              <a:t>provides metadata </a:t>
            </a:r>
            <a:r>
              <a:rPr lang="en-IN" sz="2800" dirty="0"/>
              <a:t>(tables, schema, partitions).</a:t>
            </a:r>
          </a:p>
          <a:p>
            <a:r>
              <a:rPr lang="en-IN" sz="2800" b="1" dirty="0"/>
              <a:t>Optimizer</a:t>
            </a:r>
            <a:r>
              <a:rPr lang="en-IN" sz="2800" dirty="0"/>
              <a:t> </a:t>
            </a:r>
            <a:r>
              <a:rPr lang="en-IN" sz="2800" dirty="0">
                <a:solidFill>
                  <a:srgbClr val="FF0000"/>
                </a:solidFill>
              </a:rPr>
              <a:t>creates</a:t>
            </a:r>
            <a:r>
              <a:rPr lang="en-IN" sz="2800" dirty="0"/>
              <a:t> the best </a:t>
            </a:r>
            <a:r>
              <a:rPr lang="en-IN" sz="2800" dirty="0">
                <a:solidFill>
                  <a:srgbClr val="FF0000"/>
                </a:solidFill>
              </a:rPr>
              <a:t>execution plan</a:t>
            </a:r>
            <a:r>
              <a:rPr lang="en-IN" sz="2800" dirty="0"/>
              <a:t>.</a:t>
            </a:r>
          </a:p>
          <a:p>
            <a:r>
              <a:rPr lang="en-IN" sz="2800" b="1" dirty="0"/>
              <a:t>Execution Engine</a:t>
            </a:r>
            <a:r>
              <a:rPr lang="en-IN" sz="2800" dirty="0"/>
              <a:t> </a:t>
            </a:r>
            <a:r>
              <a:rPr lang="en-IN" sz="2800" dirty="0">
                <a:solidFill>
                  <a:srgbClr val="FF0000"/>
                </a:solidFill>
              </a:rPr>
              <a:t>runs jobs </a:t>
            </a:r>
            <a:r>
              <a:rPr lang="en-IN" sz="2800" dirty="0"/>
              <a:t>on Hadoop (MapReduce/Tez/Spark).</a:t>
            </a:r>
          </a:p>
          <a:p>
            <a:r>
              <a:rPr lang="en-IN" sz="2800" dirty="0"/>
              <a:t>Results returned to user.</a:t>
            </a:r>
          </a:p>
          <a:p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331D1-ED2E-D92A-EEC1-0425CE08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68E42-AD81-A458-140E-0B667968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B263B-DD15-9E86-113E-C1682E3B4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3AC16A-BC7B-4F87-623B-D13773951AB2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84642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Types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181600"/>
          </a:xfrm>
        </p:spPr>
        <p:txBody>
          <a:bodyPr>
            <a:normAutofit/>
          </a:bodyPr>
          <a:lstStyle/>
          <a:p>
            <a:r>
              <a:rPr lang="en-US" sz="3200" dirty="0"/>
              <a:t>Hive supports </a:t>
            </a:r>
            <a:r>
              <a:rPr lang="en-US" sz="3200" b="1" dirty="0"/>
              <a:t>three categories</a:t>
            </a:r>
            <a:r>
              <a:rPr lang="en-US" sz="3200" dirty="0"/>
              <a:t> of data types: </a:t>
            </a:r>
            <a:r>
              <a:rPr lang="en-US" sz="3200" b="1" dirty="0"/>
              <a:t>Primitive, Complex, and Null</a:t>
            </a:r>
            <a:r>
              <a:rPr lang="en-US" sz="3200" dirty="0"/>
              <a:t>.</a:t>
            </a:r>
          </a:p>
          <a:p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B1C1D44-09D4-3D35-5431-78AD55066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131" y="2127935"/>
            <a:ext cx="6295869" cy="371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2946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25DCF-B764-47A6-7D2C-B75C0F19B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1F63-8008-ABE2-97D6-3B73D9999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Types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2D42D-AEC2-DE6A-F189-57970959441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181600"/>
          </a:xfrm>
        </p:spPr>
        <p:txBody>
          <a:bodyPr>
            <a:normAutofit/>
          </a:bodyPr>
          <a:lstStyle/>
          <a:p>
            <a:r>
              <a:rPr lang="en-US" sz="3200" dirty="0"/>
              <a:t>Hive supports </a:t>
            </a:r>
            <a:r>
              <a:rPr lang="en-US" sz="3200" b="1" dirty="0"/>
              <a:t>three categories</a:t>
            </a:r>
            <a:r>
              <a:rPr lang="en-US" sz="3200" dirty="0"/>
              <a:t> of data types: </a:t>
            </a:r>
            <a:r>
              <a:rPr lang="en-US" sz="3200" b="1" dirty="0"/>
              <a:t>Primitive, Complex, and Null</a:t>
            </a:r>
            <a:r>
              <a:rPr lang="en-US" sz="3200" dirty="0"/>
              <a:t>.</a:t>
            </a:r>
          </a:p>
          <a:p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04ACC-106C-7887-BB7B-AD580CE38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6117A-CFB7-A97F-ECC9-1A084F273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4F801-7603-9C41-5EB2-CD4033188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DD3A32-48ED-7846-FD95-668E512C799C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25F7C3A-DF35-54F8-9420-76A825E83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825" y="2081002"/>
            <a:ext cx="5696575" cy="381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8834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04096-2D74-7E2F-6E65-DAE79BC8B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A58C1-A41C-CC0B-7007-2D3182D97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Types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F6D7B-9EA7-C5B0-37FF-A7494220824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181600"/>
          </a:xfrm>
        </p:spPr>
        <p:txBody>
          <a:bodyPr>
            <a:normAutofit/>
          </a:bodyPr>
          <a:lstStyle/>
          <a:p>
            <a:r>
              <a:rPr lang="en-US" sz="3200" dirty="0"/>
              <a:t>Hive supports </a:t>
            </a:r>
            <a:r>
              <a:rPr lang="en-US" sz="3200" b="1" dirty="0"/>
              <a:t>three categories</a:t>
            </a:r>
            <a:r>
              <a:rPr lang="en-US" sz="3200" dirty="0"/>
              <a:t> of data types: </a:t>
            </a:r>
            <a:r>
              <a:rPr lang="en-US" sz="3200" b="1" dirty="0"/>
              <a:t>Primitive, Complex, and Null</a:t>
            </a:r>
            <a:r>
              <a:rPr lang="en-US" sz="3200" dirty="0"/>
              <a:t>.</a:t>
            </a:r>
          </a:p>
          <a:p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43B2C-FDDE-E002-1FC8-FCE0854A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474BA-F423-751E-9A0D-C68A9BBE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BA4A1-7BF3-48F7-54D8-F5C1BDAC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733159-2534-897B-FD87-87D3FCB63CC0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B106CC8-7478-DB92-9CBE-1B3EFE0EB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87" y="2120696"/>
            <a:ext cx="7542226" cy="37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186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96906-6943-12A9-39FE-B3DC6BEE5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E3A5C-E3DF-F5DB-25B6-3D4754DC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Types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A412F-B26F-382E-C5C4-7EA0A8D9185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181600"/>
          </a:xfrm>
        </p:spPr>
        <p:txBody>
          <a:bodyPr>
            <a:normAutofit/>
          </a:bodyPr>
          <a:lstStyle/>
          <a:p>
            <a:r>
              <a:rPr lang="en-US" sz="3200" dirty="0"/>
              <a:t>Hive supports </a:t>
            </a:r>
            <a:r>
              <a:rPr lang="en-US" sz="3200" b="1" dirty="0"/>
              <a:t>three categories</a:t>
            </a:r>
            <a:r>
              <a:rPr lang="en-US" sz="3200" dirty="0"/>
              <a:t> of data types: </a:t>
            </a:r>
            <a:r>
              <a:rPr lang="en-US" sz="3200" b="1" dirty="0"/>
              <a:t>Primitive, Complex, and Null</a:t>
            </a:r>
            <a:r>
              <a:rPr lang="en-US" sz="3200" dirty="0"/>
              <a:t>.</a:t>
            </a:r>
          </a:p>
          <a:p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FAC86-5FF4-0ECB-9711-F442295E0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A95DA-402E-6CC9-F825-AFC476A3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128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868B5-0814-EEE0-1073-EB012303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A67D7E-CFE6-AF17-397E-4D1CD75D7277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5ADEA49-47E8-27F7-ADC6-594FFD738D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362200"/>
            <a:ext cx="512781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2505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31CFA-5825-6CD7-1FBA-96EFFB50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78FD5-3142-7C0B-35C8-A31537944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HIVE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Data Types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E64CC-77A9-96FB-C85F-4371644D2D1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990600"/>
            <a:ext cx="8001000" cy="5181600"/>
          </a:xfrm>
        </p:spPr>
        <p:txBody>
          <a:bodyPr>
            <a:normAutofit/>
          </a:bodyPr>
          <a:lstStyle/>
          <a:p>
            <a:r>
              <a:rPr lang="en-US" sz="3200" dirty="0"/>
              <a:t>Summary</a:t>
            </a:r>
          </a:p>
          <a:p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A6220-28E1-5E3D-BC36-F0627FFD5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5003D-57D1-7250-B2D8-1B5DE1F7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129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8268B-5FA9-9192-C24F-A69CABF3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EBE943-7C18-EFED-DD38-B13D29B314D7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39CFE6-2452-001D-50D7-9CC9A1A78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245574"/>
              </p:ext>
            </p:extLst>
          </p:nvPr>
        </p:nvGraphicFramePr>
        <p:xfrm>
          <a:off x="622242" y="1826302"/>
          <a:ext cx="7772400" cy="3202897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85894209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476921137"/>
                    </a:ext>
                  </a:extLst>
                </a:gridCol>
              </a:tblGrid>
              <a:tr h="413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938398"/>
                  </a:ext>
                </a:extLst>
              </a:tr>
              <a:tr h="723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Numeric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TINYINT, SMALLINT, INT, BIGINT, FLOAT, DOUBLE, DECIMAL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796753"/>
                  </a:ext>
                </a:extLst>
              </a:tr>
              <a:tr h="413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STRING, CHAR, VARCHAR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122835"/>
                  </a:ext>
                </a:extLst>
              </a:tr>
              <a:tr h="413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Date/Time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DATE, TIMESTAMP, INTERVAL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540221"/>
                  </a:ext>
                </a:extLst>
              </a:tr>
              <a:tr h="413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Other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BOOLEAN, BINARY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932123"/>
                  </a:ext>
                </a:extLst>
              </a:tr>
              <a:tr h="413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Complex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ARRAY, MAP, STRUCT, UNIONTYPE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57294"/>
                  </a:ext>
                </a:extLst>
              </a:tr>
              <a:tr h="413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Null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952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24950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/>
          </a:bodyPr>
          <a:lstStyle/>
          <a:p>
            <a:r>
              <a:rPr lang="en-US" sz="3200" dirty="0"/>
              <a:t>HQL is the </a:t>
            </a:r>
            <a:r>
              <a:rPr lang="en-US" sz="3200" b="1" dirty="0">
                <a:solidFill>
                  <a:srgbClr val="FF0000"/>
                </a:solidFill>
              </a:rPr>
              <a:t>SQL-like language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used in </a:t>
            </a:r>
            <a:r>
              <a:rPr lang="en-US" sz="3200" b="1" dirty="0">
                <a:solidFill>
                  <a:srgbClr val="FF0000"/>
                </a:solidFill>
              </a:rPr>
              <a:t>Apache Hive</a:t>
            </a:r>
            <a:r>
              <a:rPr lang="en-US" sz="3200" dirty="0"/>
              <a:t> to query and manage data stored in </a:t>
            </a:r>
            <a:r>
              <a:rPr lang="en-US" sz="3200" b="1" dirty="0">
                <a:solidFill>
                  <a:srgbClr val="FF0000"/>
                </a:solidFill>
              </a:rPr>
              <a:t>HDFS</a:t>
            </a:r>
            <a:r>
              <a:rPr lang="en-US" sz="3200" dirty="0"/>
              <a:t>.</a:t>
            </a:r>
          </a:p>
          <a:p>
            <a:r>
              <a:rPr lang="en-US" sz="3200" dirty="0"/>
              <a:t>It is very similar to SQL.</a:t>
            </a:r>
            <a:endParaRPr lang="en-US" sz="3200" dirty="0">
              <a:solidFill>
                <a:srgbClr val="FF0000"/>
              </a:solidFill>
            </a:endParaRPr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130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09080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DC50F-DB33-EEF1-1E12-2FC19B9F4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C2086-2CC4-E95A-83D7-4F23279F9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3C65F-3A11-D0FE-A4EE-1E32D8B53CC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3200" b="1" dirty="0">
                <a:solidFill>
                  <a:srgbClr val="FF0000"/>
                </a:solidFill>
              </a:rPr>
              <a:t>Main Features of HQL</a:t>
            </a:r>
          </a:p>
          <a:p>
            <a:r>
              <a:rPr lang="en-IN" sz="3200" dirty="0">
                <a:solidFill>
                  <a:srgbClr val="00B050"/>
                </a:solidFill>
              </a:rPr>
              <a:t>SQL-like syntax </a:t>
            </a:r>
            <a:r>
              <a:rPr lang="en-IN" sz="3200" dirty="0"/>
              <a:t>→ Easy for users familiar with RDBMS.</a:t>
            </a:r>
          </a:p>
          <a:p>
            <a:r>
              <a:rPr lang="en-IN" sz="3200" dirty="0"/>
              <a:t>Supports </a:t>
            </a:r>
            <a:r>
              <a:rPr lang="en-IN" sz="3200" dirty="0">
                <a:solidFill>
                  <a:srgbClr val="00B050"/>
                </a:solidFill>
              </a:rPr>
              <a:t>DDL</a:t>
            </a:r>
            <a:r>
              <a:rPr lang="en-IN" sz="3200" b="1" dirty="0">
                <a:solidFill>
                  <a:srgbClr val="00B050"/>
                </a:solidFill>
              </a:rPr>
              <a:t> </a:t>
            </a:r>
            <a:r>
              <a:rPr lang="en-IN" sz="3200" b="1" dirty="0"/>
              <a:t>(Data Definition Language)</a:t>
            </a:r>
            <a:r>
              <a:rPr lang="en-IN" sz="3200" dirty="0"/>
              <a:t>, </a:t>
            </a:r>
            <a:r>
              <a:rPr lang="en-IN" sz="3200" dirty="0">
                <a:solidFill>
                  <a:srgbClr val="00B050"/>
                </a:solidFill>
              </a:rPr>
              <a:t>DML</a:t>
            </a:r>
            <a:r>
              <a:rPr lang="en-IN" sz="3200" b="1" dirty="0"/>
              <a:t> (Data Manipulation Language)</a:t>
            </a:r>
            <a:r>
              <a:rPr lang="en-IN" sz="3200" dirty="0"/>
              <a:t>, and </a:t>
            </a:r>
            <a:r>
              <a:rPr lang="en-IN" sz="3200" dirty="0">
                <a:solidFill>
                  <a:srgbClr val="00B050"/>
                </a:solidFill>
              </a:rPr>
              <a:t>Query statements</a:t>
            </a:r>
            <a:r>
              <a:rPr lang="en-IN" sz="3200" dirty="0"/>
              <a:t>.</a:t>
            </a:r>
          </a:p>
          <a:p>
            <a:r>
              <a:rPr lang="en-IN" sz="3200" dirty="0"/>
              <a:t>Runs queries on top of Hadoop (MapReduce / Spark).</a:t>
            </a:r>
          </a:p>
          <a:p>
            <a:r>
              <a:rPr lang="en-IN" sz="3200" dirty="0"/>
              <a:t>Works with </a:t>
            </a:r>
            <a:r>
              <a:rPr lang="en-IN" sz="3200" dirty="0">
                <a:solidFill>
                  <a:srgbClr val="00B050"/>
                </a:solidFill>
              </a:rPr>
              <a:t>structured, semi-structured, and unstructured data.</a:t>
            </a:r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6053C-0181-8941-D8FC-80BB8A3A7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E38A8-035E-A72D-6151-110E53A0D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131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D6286-4767-ECC5-758F-AB023C18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77CB53-562F-DDD1-1567-7C237D8CC240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03957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F23C7-FBE6-AFCA-76F1-A6AD12B5E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E3F1-8B80-6AC3-CF24-DC31BF356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A7626-68FF-02B2-3517-3C67B9B0F7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Types of HQL Commands:</a:t>
            </a:r>
          </a:p>
          <a:p>
            <a:pPr marL="320040" lvl="1" indent="0">
              <a:buNone/>
            </a:pPr>
            <a:r>
              <a:rPr lang="en-US" sz="3000" b="1" dirty="0"/>
              <a:t>1. Data Definition Language (DDL)</a:t>
            </a:r>
          </a:p>
          <a:p>
            <a:pPr lvl="2"/>
            <a:r>
              <a:rPr lang="en-US" sz="2600" dirty="0"/>
              <a:t>Used to define database objects.</a:t>
            </a:r>
          </a:p>
          <a:p>
            <a:pPr lvl="2"/>
            <a:endParaRPr lang="en-US" sz="2600" dirty="0"/>
          </a:p>
          <a:p>
            <a:pPr marL="594360" lvl="2" indent="0">
              <a:buNone/>
            </a:pPr>
            <a:endParaRPr lang="en-US" sz="2600" dirty="0"/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D8746-5EA9-A443-69D5-E66611094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83B372-A525-2348-FE4B-52FB16A6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132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7F07F-94CF-967F-9E27-6E979482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C8BBE1-DC9C-BEE3-CB50-6A5B034420A2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545E4D3-F7E2-AF4B-C264-4A7E68CA7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550675"/>
            <a:ext cx="3826991" cy="331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74166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63C5E-9161-B9E3-933A-27C93B0CD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652F9-06A5-F855-FC23-EC0D5100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B0FA6-6287-28FC-CE81-76BF793EFBE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Types of HQL Commands:</a:t>
            </a:r>
          </a:p>
          <a:p>
            <a:pPr marL="320040" lvl="1" indent="0">
              <a:buNone/>
            </a:pPr>
            <a:r>
              <a:rPr lang="en-US" sz="3000" b="1" dirty="0"/>
              <a:t>1. Data Definition Language (DDL)</a:t>
            </a:r>
          </a:p>
          <a:p>
            <a:pPr lvl="2"/>
            <a:r>
              <a:rPr lang="en-US" sz="2600" dirty="0"/>
              <a:t>Used to define database objects.</a:t>
            </a:r>
          </a:p>
          <a:p>
            <a:pPr lvl="2"/>
            <a:endParaRPr lang="en-US" sz="2600" dirty="0"/>
          </a:p>
          <a:p>
            <a:pPr marL="594360" lvl="2" indent="0">
              <a:buNone/>
            </a:pPr>
            <a:endParaRPr lang="en-US" sz="2600" dirty="0"/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253C4-0689-CC5E-45A1-D14B55CB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1E334-73AE-3B57-FE7C-059620CD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133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AAD9A-C6B9-D61B-600A-FFA3CC43E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DE8630-1B4C-B30D-40C3-B1F7F93FC12F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2C08A04E-6E19-529E-359C-9A7B4E244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590800"/>
            <a:ext cx="4800600" cy="338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88013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E39BA-CCF8-46FE-0D59-090F9BEDC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786DA-E8AD-7BD7-761C-B6E2230D6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412B6-A4DF-D44D-92AF-EAF5EBEE847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Types of HQL Commands:</a:t>
            </a:r>
          </a:p>
          <a:p>
            <a:pPr marL="0" indent="0">
              <a:buNone/>
            </a:pPr>
            <a:r>
              <a:rPr lang="en-US" sz="3000" b="1" dirty="0"/>
              <a:t>     2. Data Manipulation Language (DML)</a:t>
            </a:r>
          </a:p>
          <a:p>
            <a:pPr lvl="3"/>
            <a:r>
              <a:rPr lang="en-US" sz="2600" dirty="0"/>
              <a:t>Used for inserting, loading, and querying data.</a:t>
            </a:r>
          </a:p>
          <a:p>
            <a:pPr lvl="2"/>
            <a:endParaRPr lang="en-US" sz="2600" dirty="0"/>
          </a:p>
          <a:p>
            <a:pPr marL="594360" lvl="2" indent="0">
              <a:buNone/>
            </a:pPr>
            <a:endParaRPr lang="en-US" sz="2600" dirty="0"/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842FE-894C-71A6-9121-B1F39592B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B9892-6E5A-D19E-AF5D-CC6EFBE7E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134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1B0FA-20E3-AA55-4F53-3D383F095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9A0E5D-53DC-5AE7-2FF2-41FAF6704E9A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FB73927-5D9F-8DDA-ED13-B9F0913B0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299" y="2718045"/>
            <a:ext cx="6191901" cy="3417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A68F65-E9AA-F731-FA2F-03ED97D00656}"/>
              </a:ext>
            </a:extLst>
          </p:cNvPr>
          <p:cNvSpPr txBox="1"/>
          <p:nvPr/>
        </p:nvSpPr>
        <p:spPr>
          <a:xfrm>
            <a:off x="6457950" y="3067010"/>
            <a:ext cx="1905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command is used in Hive to load bulk data from an external file (CSV, TXT, etc.) directly into the table.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669027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8F56-0D65-AD00-56DC-37524BF63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71542-8851-1A1C-C2B7-E070E1BE6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128E9-7CAC-74A2-9526-75395C9CBAE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Types of HQL Commands:</a:t>
            </a:r>
          </a:p>
          <a:p>
            <a:pPr marL="0" indent="0">
              <a:buNone/>
            </a:pPr>
            <a:r>
              <a:rPr lang="en-US" sz="3000" b="1" dirty="0"/>
              <a:t>     2. Data Manipulation Language (DML)</a:t>
            </a:r>
          </a:p>
          <a:p>
            <a:pPr lvl="3"/>
            <a:r>
              <a:rPr lang="en-US" sz="2600" dirty="0"/>
              <a:t>Used for inserting, loading, and querying data.</a:t>
            </a:r>
          </a:p>
          <a:p>
            <a:pPr lvl="2"/>
            <a:endParaRPr lang="en-US" sz="2600" dirty="0"/>
          </a:p>
          <a:p>
            <a:pPr marL="594360" lvl="2" indent="0">
              <a:buNone/>
            </a:pPr>
            <a:endParaRPr lang="en-US" sz="2600" dirty="0"/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0542A-A6A5-2DE1-0106-4D2299E8B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A4645-1AE3-8407-DD26-1E5911B7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135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28823-9B96-4AC9-39A1-37EC5698B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66C4E9-37EB-7813-AAC2-637846DDFCA5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FAE312B-869F-6AE3-0EC9-AF991B96DA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4" y="2767652"/>
            <a:ext cx="6406101" cy="22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50099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60EE-89D1-DC3C-B0B8-AECE64B29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A1C80-2478-F2C6-3A16-5C40DAF9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D0E1E-F8FC-EA97-BE42-DF09CDE454F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Types of HQL Commands:</a:t>
            </a:r>
          </a:p>
          <a:p>
            <a:pPr marL="0" indent="0">
              <a:buNone/>
            </a:pPr>
            <a:r>
              <a:rPr lang="en-US" sz="3000" b="1" dirty="0"/>
              <a:t>     3. </a:t>
            </a:r>
            <a:r>
              <a:rPr lang="en-IN" sz="3000" b="1" dirty="0"/>
              <a:t>Query statements:</a:t>
            </a:r>
          </a:p>
          <a:p>
            <a:pPr lvl="2"/>
            <a:endParaRPr lang="en-US" sz="2600" dirty="0"/>
          </a:p>
          <a:p>
            <a:pPr marL="594360" lvl="2" indent="0">
              <a:buNone/>
            </a:pPr>
            <a:endParaRPr lang="en-US" sz="2600" dirty="0"/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31B58-CC23-8A17-41F8-CE48130D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05A5B-B48A-5582-4029-90BA302D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136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540D6-5888-5F49-F721-8BC151A3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1187A4-11FC-10F5-4CCF-A1000FCBAE2B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CEEAEB5-3DAE-F86A-16C1-64B1BFB78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2123866"/>
            <a:ext cx="5811061" cy="14956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AD321B-1259-4D4F-95D5-4632660F7F54}"/>
              </a:ext>
            </a:extLst>
          </p:cNvPr>
          <p:cNvSpPr txBox="1"/>
          <p:nvPr/>
        </p:nvSpPr>
        <p:spPr>
          <a:xfrm>
            <a:off x="1592706" y="4321700"/>
            <a:ext cx="45794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id | name   | marks</a:t>
            </a:r>
          </a:p>
          <a:p>
            <a:r>
              <a:rPr lang="en-IN" dirty="0"/>
              <a:t>---+--------+-------</a:t>
            </a:r>
          </a:p>
          <a:p>
            <a:r>
              <a:rPr lang="en-IN" dirty="0"/>
              <a:t>1  | John   | 85.5</a:t>
            </a:r>
          </a:p>
          <a:p>
            <a:r>
              <a:rPr lang="en-IN" dirty="0"/>
              <a:t>2  | Alice  | 65.0</a:t>
            </a:r>
          </a:p>
          <a:p>
            <a:r>
              <a:rPr lang="en-IN" dirty="0"/>
              <a:t>3  | Bob    | 72.0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9E4F5F-92B5-7502-EF17-BC58378F35B0}"/>
              </a:ext>
            </a:extLst>
          </p:cNvPr>
          <p:cNvSpPr txBox="1"/>
          <p:nvPr/>
        </p:nvSpPr>
        <p:spPr>
          <a:xfrm>
            <a:off x="4876800" y="4362976"/>
            <a:ext cx="45794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name   | marks</a:t>
            </a:r>
          </a:p>
          <a:p>
            <a:r>
              <a:rPr lang="en-US" dirty="0"/>
              <a:t>-------+-------</a:t>
            </a:r>
          </a:p>
          <a:p>
            <a:r>
              <a:rPr lang="en-US" dirty="0"/>
              <a:t>John   | 85.5</a:t>
            </a:r>
          </a:p>
          <a:p>
            <a:r>
              <a:rPr lang="en-US" dirty="0"/>
              <a:t>Bob    | 72.0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547C03-C324-67D6-0668-44C18C5C938F}"/>
              </a:ext>
            </a:extLst>
          </p:cNvPr>
          <p:cNvSpPr txBox="1"/>
          <p:nvPr/>
        </p:nvSpPr>
        <p:spPr>
          <a:xfrm>
            <a:off x="2133600" y="389404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D516D4-EC0A-5088-54B1-4779341F04C1}"/>
              </a:ext>
            </a:extLst>
          </p:cNvPr>
          <p:cNvSpPr txBox="1"/>
          <p:nvPr/>
        </p:nvSpPr>
        <p:spPr>
          <a:xfrm>
            <a:off x="5105400" y="3845667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74624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EAE3D-B7DD-FF0B-46BA-9CFF36594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FFC18-107C-D8DB-2B54-024F3FB51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84AE7-0800-BEEF-03CC-20965FCEA5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Types of HQL Commands:</a:t>
            </a:r>
          </a:p>
          <a:p>
            <a:pPr marL="0" indent="0">
              <a:buNone/>
            </a:pPr>
            <a:r>
              <a:rPr lang="en-US" sz="3000" b="1" dirty="0"/>
              <a:t>     3. </a:t>
            </a:r>
            <a:r>
              <a:rPr lang="en-IN" sz="3000" b="1" dirty="0"/>
              <a:t>Query statements:</a:t>
            </a:r>
          </a:p>
          <a:p>
            <a:pPr lvl="2"/>
            <a:endParaRPr lang="en-US" sz="2600" dirty="0"/>
          </a:p>
          <a:p>
            <a:pPr marL="594360" lvl="2" indent="0">
              <a:buNone/>
            </a:pPr>
            <a:endParaRPr lang="en-US" sz="2600" dirty="0"/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8468-6992-B7DE-E4B4-78059C85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FFD17-3211-81ED-19DB-4F54309D1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137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C7725-3DA5-E269-BD26-39A5BA8FC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2C8B88-BC72-3D17-C36E-49472BD78A68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7634085-0AC4-D292-CC33-D3AF6C71AE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123866"/>
            <a:ext cx="5601482" cy="14956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E0145F-062A-002A-E8C0-84D5CA2F4E12}"/>
              </a:ext>
            </a:extLst>
          </p:cNvPr>
          <p:cNvSpPr txBox="1"/>
          <p:nvPr/>
        </p:nvSpPr>
        <p:spPr>
          <a:xfrm>
            <a:off x="787684" y="4218870"/>
            <a:ext cx="45794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id | name   | age | marks</a:t>
            </a:r>
          </a:p>
          <a:p>
            <a:r>
              <a:rPr lang="en-IN" dirty="0"/>
              <a:t>---+--------+-----+-------</a:t>
            </a:r>
          </a:p>
          <a:p>
            <a:r>
              <a:rPr lang="en-IN" dirty="0"/>
              <a:t>1  | John   | 20  | 85.5</a:t>
            </a:r>
          </a:p>
          <a:p>
            <a:r>
              <a:rPr lang="en-IN" dirty="0"/>
              <a:t>2  | Alice  | 21  | 65.0</a:t>
            </a:r>
          </a:p>
          <a:p>
            <a:r>
              <a:rPr lang="en-IN" dirty="0"/>
              <a:t>3  | Bob    | 20  | 72.0</a:t>
            </a:r>
          </a:p>
          <a:p>
            <a:r>
              <a:rPr lang="en-IN" dirty="0"/>
              <a:t>4  | Mary   | 21  | 90.0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B1FBD9-7B75-E2EA-5A52-5958467F0926}"/>
              </a:ext>
            </a:extLst>
          </p:cNvPr>
          <p:cNvSpPr txBox="1"/>
          <p:nvPr/>
        </p:nvSpPr>
        <p:spPr>
          <a:xfrm>
            <a:off x="5551358" y="4389963"/>
            <a:ext cx="45794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age | count</a:t>
            </a:r>
          </a:p>
          <a:p>
            <a:r>
              <a:rPr lang="en-US" dirty="0"/>
              <a:t>----+------</a:t>
            </a:r>
          </a:p>
          <a:p>
            <a:r>
              <a:rPr lang="en-US" dirty="0"/>
              <a:t>20  | 2</a:t>
            </a:r>
          </a:p>
          <a:p>
            <a:r>
              <a:rPr lang="en-US" dirty="0"/>
              <a:t>21  |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30A91E-B775-A18C-40AC-A2A6DEC0E87B}"/>
              </a:ext>
            </a:extLst>
          </p:cNvPr>
          <p:cNvSpPr txBox="1"/>
          <p:nvPr/>
        </p:nvSpPr>
        <p:spPr>
          <a:xfrm>
            <a:off x="1528296" y="384795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3B41C-8962-343D-4443-9B22FFDF86BC}"/>
              </a:ext>
            </a:extLst>
          </p:cNvPr>
          <p:cNvSpPr txBox="1"/>
          <p:nvPr/>
        </p:nvSpPr>
        <p:spPr>
          <a:xfrm>
            <a:off x="5703059" y="3911438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230056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D699A-BD50-A52F-12C1-3E2DEA097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608AC-0302-8E9B-02F4-B500A7EB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5E948-CBE9-E0E3-6490-B3B7DFD40A8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Types of HQL Commands:</a:t>
            </a:r>
          </a:p>
          <a:p>
            <a:pPr marL="0" indent="0">
              <a:buNone/>
            </a:pPr>
            <a:r>
              <a:rPr lang="en-US" sz="3000" b="1" dirty="0"/>
              <a:t>     3. </a:t>
            </a:r>
            <a:r>
              <a:rPr lang="en-IN" sz="3000" b="1" dirty="0"/>
              <a:t>Query statements:</a:t>
            </a:r>
          </a:p>
          <a:p>
            <a:pPr lvl="2"/>
            <a:endParaRPr lang="en-US" sz="2600" dirty="0"/>
          </a:p>
          <a:p>
            <a:pPr marL="594360" lvl="2" indent="0">
              <a:buNone/>
            </a:pPr>
            <a:endParaRPr lang="en-US" sz="2600" dirty="0"/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7DE6-CD22-4427-81C1-2BBD28338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B1FB-5148-D908-3BCE-6F2342E5B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138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EA87F-261C-63D8-5A56-78A120A3E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1F1EF3-A94E-CFDA-2452-03D1A6AD960E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8893E6F-018C-7F08-A114-9D60E5172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065" y="2057400"/>
            <a:ext cx="4115374" cy="2152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302DD4-6E76-BEB5-C4DB-E3E9EC0E6411}"/>
              </a:ext>
            </a:extLst>
          </p:cNvPr>
          <p:cNvSpPr txBox="1"/>
          <p:nvPr/>
        </p:nvSpPr>
        <p:spPr>
          <a:xfrm>
            <a:off x="429718" y="4641214"/>
            <a:ext cx="45794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id | name  </a:t>
            </a:r>
          </a:p>
          <a:p>
            <a:r>
              <a:rPr lang="en-IN"/>
              <a:t>---+-------</a:t>
            </a:r>
          </a:p>
          <a:p>
            <a:r>
              <a:rPr lang="en-IN"/>
              <a:t>1  | John  </a:t>
            </a:r>
          </a:p>
          <a:p>
            <a:r>
              <a:rPr lang="en-IN"/>
              <a:t>2  | Alice  </a:t>
            </a:r>
          </a:p>
          <a:p>
            <a:r>
              <a:rPr lang="en-IN"/>
              <a:t>3  | Bob 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9E4FFB-4D55-71A3-F5DD-04B4128024D2}"/>
              </a:ext>
            </a:extLst>
          </p:cNvPr>
          <p:cNvSpPr txBox="1"/>
          <p:nvPr/>
        </p:nvSpPr>
        <p:spPr>
          <a:xfrm>
            <a:off x="2282253" y="4649945"/>
            <a:ext cx="45794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id | subject | marks</a:t>
            </a:r>
          </a:p>
          <a:p>
            <a:r>
              <a:rPr lang="en-IN" dirty="0"/>
              <a:t>---+---------+------</a:t>
            </a:r>
          </a:p>
          <a:p>
            <a:r>
              <a:rPr lang="en-IN" dirty="0"/>
              <a:t>1  | Math    | 85</a:t>
            </a:r>
          </a:p>
          <a:p>
            <a:r>
              <a:rPr lang="en-IN" dirty="0"/>
              <a:t>2  | Science | 92</a:t>
            </a:r>
          </a:p>
          <a:p>
            <a:r>
              <a:rPr lang="en-IN" dirty="0"/>
              <a:t>3  | Math    | 76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467003-0F3B-4EE1-5586-FDE94CE0C3EF}"/>
              </a:ext>
            </a:extLst>
          </p:cNvPr>
          <p:cNvSpPr txBox="1"/>
          <p:nvPr/>
        </p:nvSpPr>
        <p:spPr>
          <a:xfrm>
            <a:off x="5168010" y="4695666"/>
            <a:ext cx="45794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name   | subject | marks</a:t>
            </a:r>
          </a:p>
          <a:p>
            <a:r>
              <a:rPr lang="en-IN" dirty="0"/>
              <a:t>-------+---------+------</a:t>
            </a:r>
          </a:p>
          <a:p>
            <a:r>
              <a:rPr lang="en-IN" dirty="0"/>
              <a:t>John   | Math    | 85</a:t>
            </a:r>
          </a:p>
          <a:p>
            <a:r>
              <a:rPr lang="en-IN" dirty="0"/>
              <a:t>Alice  | Science | 92</a:t>
            </a:r>
          </a:p>
          <a:p>
            <a:r>
              <a:rPr lang="en-IN" dirty="0"/>
              <a:t>Bob    | Math    | 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848687-1796-C31C-EA92-B9747D995548}"/>
              </a:ext>
            </a:extLst>
          </p:cNvPr>
          <p:cNvSpPr txBox="1"/>
          <p:nvPr/>
        </p:nvSpPr>
        <p:spPr>
          <a:xfrm>
            <a:off x="254411" y="4163432"/>
            <a:ext cx="136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Table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BBC5AC-F9DE-2A89-9BC6-B281DE649F6B}"/>
              </a:ext>
            </a:extLst>
          </p:cNvPr>
          <p:cNvSpPr txBox="1"/>
          <p:nvPr/>
        </p:nvSpPr>
        <p:spPr>
          <a:xfrm>
            <a:off x="2686986" y="4163432"/>
            <a:ext cx="1217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 Table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9971D8-4711-94AD-5660-36054DFD332E}"/>
              </a:ext>
            </a:extLst>
          </p:cNvPr>
          <p:cNvSpPr txBox="1"/>
          <p:nvPr/>
        </p:nvSpPr>
        <p:spPr>
          <a:xfrm>
            <a:off x="5799943" y="4289822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</a:t>
            </a:r>
            <a:endParaRPr lang="en-IN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367D7A73-FAD1-5A14-BB03-D2273A3EF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0945" y="1935733"/>
            <a:ext cx="55865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JOIN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Combines data from multiple tables using a condition.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04991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96FA-3F12-79D2-2DC2-979B29C4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DAEE9-E0B3-5259-777C-A056F3A9F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20391-E3F6-D584-5941-32EA7D69AD2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Types of HQL Commands:</a:t>
            </a:r>
          </a:p>
          <a:p>
            <a:pPr marL="0" indent="0">
              <a:buNone/>
            </a:pPr>
            <a:r>
              <a:rPr lang="en-US" sz="3000" b="1" dirty="0"/>
              <a:t>     3. </a:t>
            </a:r>
            <a:r>
              <a:rPr lang="en-IN" sz="3000" b="1" dirty="0"/>
              <a:t>Query statements:</a:t>
            </a:r>
          </a:p>
          <a:p>
            <a:pPr lvl="2"/>
            <a:endParaRPr lang="en-US" sz="2600" dirty="0"/>
          </a:p>
          <a:p>
            <a:pPr marL="594360" lvl="2" indent="0">
              <a:buNone/>
            </a:pPr>
            <a:endParaRPr lang="en-US" sz="2600" dirty="0"/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FD0ED-E5F7-0C00-9579-7E483D8C9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69D6F-6FD0-2311-2CFD-517218566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139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0275-7682-BCA6-2FCE-D8125778E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7A06CA-74C4-2A99-B5E5-3DDA66ACBE3D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CC1B61D-C823-ABF1-E317-B2BBD8A6A2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824" y="2209800"/>
            <a:ext cx="5020376" cy="15527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A0F475-3A64-A352-4276-A80DEDA23CDB}"/>
              </a:ext>
            </a:extLst>
          </p:cNvPr>
          <p:cNvSpPr txBox="1"/>
          <p:nvPr/>
        </p:nvSpPr>
        <p:spPr>
          <a:xfrm>
            <a:off x="914400" y="4373833"/>
            <a:ext cx="45794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id | name   | marks</a:t>
            </a:r>
          </a:p>
          <a:p>
            <a:r>
              <a:rPr lang="en-IN" dirty="0"/>
              <a:t>---+--------+------</a:t>
            </a:r>
          </a:p>
          <a:p>
            <a:r>
              <a:rPr lang="en-IN" dirty="0"/>
              <a:t>1  | John   | 85</a:t>
            </a:r>
          </a:p>
          <a:p>
            <a:r>
              <a:rPr lang="en-IN" dirty="0"/>
              <a:t>2  | Alice  | 92</a:t>
            </a:r>
          </a:p>
          <a:p>
            <a:r>
              <a:rPr lang="en-IN" dirty="0"/>
              <a:t>3  | Bob    | 76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A78762-49C0-5C97-7A2F-5EEBB25D96D7}"/>
              </a:ext>
            </a:extLst>
          </p:cNvPr>
          <p:cNvSpPr txBox="1"/>
          <p:nvPr/>
        </p:nvSpPr>
        <p:spPr>
          <a:xfrm>
            <a:off x="4800600" y="4422139"/>
            <a:ext cx="45794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id | name   | marks</a:t>
            </a:r>
          </a:p>
          <a:p>
            <a:r>
              <a:rPr lang="en-IN" dirty="0"/>
              <a:t>---+--------+------</a:t>
            </a:r>
          </a:p>
          <a:p>
            <a:r>
              <a:rPr lang="en-IN" dirty="0"/>
              <a:t>2  | Alice  | 92</a:t>
            </a:r>
          </a:p>
          <a:p>
            <a:r>
              <a:rPr lang="en-IN" dirty="0"/>
              <a:t>1  | John   | 85</a:t>
            </a:r>
          </a:p>
          <a:p>
            <a:r>
              <a:rPr lang="en-IN" dirty="0"/>
              <a:t>3  | Bob    | 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D3B92A-5D5E-49BD-4978-F0E2485E89BD}"/>
              </a:ext>
            </a:extLst>
          </p:cNvPr>
          <p:cNvSpPr txBox="1"/>
          <p:nvPr/>
        </p:nvSpPr>
        <p:spPr>
          <a:xfrm>
            <a:off x="5277161" y="4016295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A9E167-2B4C-9AE9-4EC4-B3FCB04AFA92}"/>
              </a:ext>
            </a:extLst>
          </p:cNvPr>
          <p:cNvSpPr txBox="1"/>
          <p:nvPr/>
        </p:nvSpPr>
        <p:spPr>
          <a:xfrm>
            <a:off x="1151824" y="3956195"/>
            <a:ext cx="1361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Table</a:t>
            </a:r>
            <a:endParaRPr lang="en-IN" dirty="0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0605C803-7E22-DC52-6072-00B385FF5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3278" y="2138571"/>
            <a:ext cx="68086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ORDER BY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Sorts query results (either ascending or descending).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83498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44A35-81FC-3BD2-EA25-419588C06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B748-8372-AE01-7C5F-93982AEDD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52AB8-811F-6744-7811-C25A2006A5D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Types of HQL Commands:</a:t>
            </a:r>
          </a:p>
          <a:p>
            <a:pPr marL="0" indent="0">
              <a:buNone/>
            </a:pPr>
            <a:r>
              <a:rPr lang="en-US" sz="3000" b="1" dirty="0"/>
              <a:t>     3. </a:t>
            </a:r>
            <a:r>
              <a:rPr lang="en-IN" sz="3000" b="1" dirty="0"/>
              <a:t>Other statements:</a:t>
            </a:r>
          </a:p>
          <a:p>
            <a:pPr lvl="2"/>
            <a:endParaRPr lang="en-US" sz="2600" dirty="0"/>
          </a:p>
          <a:p>
            <a:pPr marL="594360" lvl="2" indent="0">
              <a:buNone/>
            </a:pPr>
            <a:endParaRPr lang="en-US" sz="2600" dirty="0"/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02202-2865-FFCC-B47B-E6078CA2D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D9EEC-5CF2-776E-9EB3-51197476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140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DA207-A67E-27BD-771B-DF06C7353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42EBAB-B8BA-08F0-467D-9166D956469F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7FFE753-26E1-0831-C079-B16AF190A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179402"/>
            <a:ext cx="4553585" cy="14765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2D4FA3-5153-BE9B-3413-648C209C5FE8}"/>
              </a:ext>
            </a:extLst>
          </p:cNvPr>
          <p:cNvSpPr txBox="1"/>
          <p:nvPr/>
        </p:nvSpPr>
        <p:spPr>
          <a:xfrm>
            <a:off x="3581400" y="2083402"/>
            <a:ext cx="60997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VIEW</a:t>
            </a:r>
            <a:r>
              <a:rPr lang="en-US" sz="2400" dirty="0"/>
              <a:t> is like a </a:t>
            </a:r>
            <a:r>
              <a:rPr lang="en-US" sz="2400" b="1" dirty="0"/>
              <a:t>virtual table</a:t>
            </a:r>
            <a:r>
              <a:rPr lang="en-US" sz="2400" dirty="0"/>
              <a:t> created from the result of a query</a:t>
            </a:r>
            <a:endParaRPr lang="en-IN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3210AC-A860-684E-40F0-5B4E39C6D7B3}"/>
              </a:ext>
            </a:extLst>
          </p:cNvPr>
          <p:cNvSpPr txBox="1"/>
          <p:nvPr/>
        </p:nvSpPr>
        <p:spPr>
          <a:xfrm>
            <a:off x="762000" y="4351036"/>
            <a:ext cx="45794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id | name   | marks</a:t>
            </a:r>
          </a:p>
          <a:p>
            <a:r>
              <a:rPr lang="en-IN"/>
              <a:t>---+--------+------</a:t>
            </a:r>
          </a:p>
          <a:p>
            <a:r>
              <a:rPr lang="en-IN"/>
              <a:t>1  | John   | 85</a:t>
            </a:r>
          </a:p>
          <a:p>
            <a:r>
              <a:rPr lang="en-IN"/>
              <a:t>2  | Alice  | 92</a:t>
            </a:r>
          </a:p>
          <a:p>
            <a:r>
              <a:rPr lang="en-IN"/>
              <a:t>3  | Bob    | 76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26570E-F525-7512-F601-7DD1B9858A59}"/>
              </a:ext>
            </a:extLst>
          </p:cNvPr>
          <p:cNvSpPr txBox="1"/>
          <p:nvPr/>
        </p:nvSpPr>
        <p:spPr>
          <a:xfrm>
            <a:off x="5315585" y="4368498"/>
            <a:ext cx="45794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name   | marks</a:t>
            </a:r>
          </a:p>
          <a:p>
            <a:r>
              <a:rPr lang="en-IN" dirty="0"/>
              <a:t>-------+------</a:t>
            </a:r>
          </a:p>
          <a:p>
            <a:r>
              <a:rPr lang="en-IN" dirty="0"/>
              <a:t>John   | 85</a:t>
            </a:r>
          </a:p>
          <a:p>
            <a:r>
              <a:rPr lang="en-IN" dirty="0"/>
              <a:t>Alice  | 92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2922CF-0CDE-587D-3C68-1B4131B27BBE}"/>
              </a:ext>
            </a:extLst>
          </p:cNvPr>
          <p:cNvSpPr txBox="1"/>
          <p:nvPr/>
        </p:nvSpPr>
        <p:spPr>
          <a:xfrm>
            <a:off x="354464" y="4007200"/>
            <a:ext cx="4946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 * FROM </a:t>
            </a:r>
            <a:r>
              <a:rPr lang="en-IN" dirty="0" err="1"/>
              <a:t>high_scorers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3604123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B4340-6FBA-9310-9811-7F8157D84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13E0F-FD5E-9B59-CC31-FEDCB4E73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F437B-BBFF-BD5E-8800-E294D2FA46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Types of HQL Commands:</a:t>
            </a:r>
          </a:p>
          <a:p>
            <a:pPr marL="0" indent="0">
              <a:buNone/>
            </a:pPr>
            <a:r>
              <a:rPr lang="en-US" sz="3000" b="1" dirty="0"/>
              <a:t>     3. </a:t>
            </a:r>
            <a:r>
              <a:rPr lang="en-IN" sz="3000" b="1" dirty="0"/>
              <a:t>Other statements:</a:t>
            </a:r>
          </a:p>
          <a:p>
            <a:pPr lvl="2"/>
            <a:endParaRPr lang="en-US" sz="2600" dirty="0"/>
          </a:p>
          <a:p>
            <a:pPr marL="594360" lvl="2" indent="0">
              <a:buNone/>
            </a:pPr>
            <a:endParaRPr lang="en-US" sz="2600" dirty="0"/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B128A-42CA-DFCA-27C7-D2CABD3F2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23C61-8C18-F6C9-E95B-ABA570CCB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141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8554F-418C-3AD5-61CD-5C37601EB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DE6D76-79B1-CEF4-9FEE-F0097C814F90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52836CF-22C6-05BC-AA5D-94F44489D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133600"/>
            <a:ext cx="3762900" cy="21434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F3A2E3-E38F-30D7-0B29-B35A84BE40BD}"/>
              </a:ext>
            </a:extLst>
          </p:cNvPr>
          <p:cNvSpPr txBox="1"/>
          <p:nvPr/>
        </p:nvSpPr>
        <p:spPr>
          <a:xfrm>
            <a:off x="5257800" y="2026502"/>
            <a:ext cx="45794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splitting a single logical table into multiple physical sub-tables</a:t>
            </a:r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06D572-9EF1-0FA0-821C-F4133D306C2E}"/>
              </a:ext>
            </a:extLst>
          </p:cNvPr>
          <p:cNvSpPr txBox="1"/>
          <p:nvPr/>
        </p:nvSpPr>
        <p:spPr>
          <a:xfrm>
            <a:off x="914400" y="4648200"/>
            <a:ext cx="723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It tells the database to partition the sales table using the year and month columns</a:t>
            </a:r>
            <a:r>
              <a:rPr lang="en-US" dirty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802494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41888-3F81-23C2-7BE8-41FB3A708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E814-DC67-C86C-F163-AAF43B2EC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8CAB3-68F6-1157-0C7F-6C995C2546B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Summary:</a:t>
            </a:r>
          </a:p>
          <a:p>
            <a:r>
              <a:rPr lang="en-US" b="1" dirty="0"/>
              <a:t>HQL ≈ SQL</a:t>
            </a:r>
            <a:r>
              <a:rPr lang="en-US" dirty="0"/>
              <a:t> but for </a:t>
            </a:r>
            <a:r>
              <a:rPr lang="en-US" b="1" dirty="0"/>
              <a:t>Big Data</a:t>
            </a:r>
            <a:r>
              <a:rPr lang="en-US" dirty="0"/>
              <a:t> on Hadoop.</a:t>
            </a:r>
          </a:p>
          <a:p>
            <a:r>
              <a:rPr lang="en-US" dirty="0"/>
              <a:t>Supports </a:t>
            </a:r>
            <a:r>
              <a:rPr lang="en-US" b="1" dirty="0"/>
              <a:t>DDL, DML, Joins, Views, Partitions, Bucketing</a:t>
            </a:r>
            <a:r>
              <a:rPr lang="en-US" dirty="0"/>
              <a:t>.</a:t>
            </a:r>
          </a:p>
          <a:p>
            <a:r>
              <a:rPr lang="en-US" dirty="0"/>
              <a:t>Queries are internally converted to </a:t>
            </a:r>
            <a:r>
              <a:rPr lang="en-US" b="1" dirty="0"/>
              <a:t>MapReduce/Spark jobs</a:t>
            </a:r>
            <a:r>
              <a:rPr lang="en-US" dirty="0"/>
              <a:t>.</a:t>
            </a:r>
          </a:p>
          <a:p>
            <a:pPr lvl="2"/>
            <a:endParaRPr lang="en-US" sz="2600" dirty="0"/>
          </a:p>
          <a:p>
            <a:pPr marL="594360" lvl="2" indent="0">
              <a:buNone/>
            </a:pPr>
            <a:endParaRPr lang="en-US" sz="2600" dirty="0"/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83A7D-750B-6B8E-ECF8-185082E13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782DE-1526-E8B8-0163-24C73705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142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37B55-BB53-23D6-C9C8-017062FB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A46D7D-38B1-BE51-371F-EBC99EB6474D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57684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3488D-0506-FCD5-8401-5338C88E3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B5DA-CD06-EE40-F695-A66DC6284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IN" b="1" dirty="0">
                <a:solidFill>
                  <a:schemeClr val="accent1"/>
                </a:solidFill>
                <a:latin typeface="+mn-lt"/>
              </a:rPr>
              <a:t>Hive Query Language (HQL) </a:t>
            </a:r>
            <a:endParaRPr lang="en-US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2AC32-4C5D-62A7-5F58-C000C77C52C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3504" y="990600"/>
            <a:ext cx="8083296" cy="5181600"/>
          </a:xfrm>
        </p:spPr>
        <p:txBody>
          <a:bodyPr>
            <a:normAutofit/>
          </a:bodyPr>
          <a:lstStyle/>
          <a:p>
            <a:pPr lvl="2"/>
            <a:endParaRPr lang="en-US" sz="2600" dirty="0"/>
          </a:p>
          <a:p>
            <a:pPr marL="594360" lvl="2" indent="0" algn="ctr">
              <a:buNone/>
            </a:pPr>
            <a:r>
              <a:rPr lang="en-US" sz="2800" b="1" u="sng" dirty="0"/>
              <a:t>Difference Between HiveQL and SQL</a:t>
            </a:r>
            <a:endParaRPr lang="en-US" sz="2600" b="1" u="sng" dirty="0"/>
          </a:p>
          <a:p>
            <a:pPr algn="ctr">
              <a:buNone/>
            </a:pP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E33B2-0BDF-7BC0-B7A9-C4F23E55D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D2AF4-ADBE-2785-6C3E-D240857CC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143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FC6B2-C241-B360-E8F0-8806CC38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CEF426D-D3BA-62CC-5EA8-B1FDC86CA26B}"/>
              </a:ext>
            </a:extLst>
          </p:cNvPr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9A3F76-29A8-4534-DC0F-8D3F79248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931218"/>
              </p:ext>
            </p:extLst>
          </p:nvPr>
        </p:nvGraphicFramePr>
        <p:xfrm>
          <a:off x="768096" y="2377440"/>
          <a:ext cx="7772400" cy="210312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1661655334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456337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 (RDBMS)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HiveQL (Big Data)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179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Works on structured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Works on big structured/semi-structured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154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Executes immediately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Generates MapReduce/Tez/Spark jobs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066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Row-based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Mostly columnar/partitioned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033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Transactions supported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 transaction-oriented (batch-oriented)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541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9088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838200"/>
          </a:xfrm>
        </p:spPr>
        <p:txBody>
          <a:bodyPr>
            <a:noAutofit/>
          </a:bodyPr>
          <a:lstStyle/>
          <a:p>
            <a:pPr algn="ctr"/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br>
              <a:rPr lang="en-US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/>
              <a:t> 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990600"/>
            <a:ext cx="7848600" cy="50292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E219-13F0-48C9-BDFC-39AE7D72DE9D}" type="datetime1">
              <a:rPr lang="en-US" b="1" smtClean="0">
                <a:solidFill>
                  <a:srgbClr val="0070C0"/>
                </a:solidFill>
              </a:rPr>
              <a:pPr/>
              <a:t>9/24/2025</a:t>
            </a:fld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6CFB4-C37B-4B08-9195-C507F4348823}" type="slidenum">
              <a:rPr lang="en-US" smtClean="0"/>
              <a:pPr/>
              <a:t>144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Dr.A.GNANASEKAR</a:t>
            </a:r>
            <a:r>
              <a:rPr lang="en-US" b="1" dirty="0">
                <a:solidFill>
                  <a:srgbClr val="0070C0"/>
                </a:solidFill>
              </a:rPr>
              <a:t>, ASP/ CSE, RMDEC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172200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C:\Users\AGS-08-12-2023\Desktop\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1"/>
            <a:ext cx="9144000" cy="6096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7078</TotalTime>
  <Words>9840</Words>
  <Application>Microsoft Office PowerPoint</Application>
  <PresentationFormat>On-screen Show (4:3)</PresentationFormat>
  <Paragraphs>1534</Paragraphs>
  <Slides>144</Slides>
  <Notes>143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144</vt:i4>
      </vt:variant>
    </vt:vector>
  </HeadingPairs>
  <TitlesOfParts>
    <vt:vector size="156" baseType="lpstr">
      <vt:lpstr>Arial</vt:lpstr>
      <vt:lpstr>Arial Unicode MS</vt:lpstr>
      <vt:lpstr>Calibri</vt:lpstr>
      <vt:lpstr>Franklin Gothic Book</vt:lpstr>
      <vt:lpstr>Helvetica</vt:lpstr>
      <vt:lpstr>inherit</vt:lpstr>
      <vt:lpstr>Perpetua</vt:lpstr>
      <vt:lpstr>Roboto</vt:lpstr>
      <vt:lpstr>Times New Roman</vt:lpstr>
      <vt:lpstr>Wingdings</vt:lpstr>
      <vt:lpstr>Wingdings 2</vt:lpstr>
      <vt:lpstr>Equity</vt:lpstr>
      <vt:lpstr>21CS703   DATA ANALYTICS (Lab Integrated)</vt:lpstr>
      <vt:lpstr>          UNIT 3 -EXPLORATORY DATA ANALYSIS  </vt:lpstr>
      <vt:lpstr>          UNIT 3 -EXPLORATORY DATA ANALYSIS  </vt:lpstr>
      <vt:lpstr>          UNIT 3 -EXPLORATORY DATA ANALYSIS  </vt:lpstr>
      <vt:lpstr>          UNIT 3 -EXPLORATORY DATA ANALYSIS  </vt:lpstr>
      <vt:lpstr>          UNIT 3 -EXPLORATORY DATA ANALYSIS  </vt:lpstr>
      <vt:lpstr>          UNIT 3 – Types of EDA Techniques </vt:lpstr>
      <vt:lpstr>           Types of EDA Techniques  </vt:lpstr>
      <vt:lpstr>           Types of EDA Techniques  </vt:lpstr>
      <vt:lpstr>           Types of EDA Techniques  </vt:lpstr>
      <vt:lpstr>           Types of EDA Techniques  </vt:lpstr>
      <vt:lpstr>          UNIT 3 –Understanding data science </vt:lpstr>
      <vt:lpstr>          UNIT 3 –Understanding data science </vt:lpstr>
      <vt:lpstr>          UNIT 3 –Understanding data science </vt:lpstr>
      <vt:lpstr>          UNIT 3 –Understanding data science </vt:lpstr>
      <vt:lpstr>          UNIT 3 – Steps in EDA  </vt:lpstr>
      <vt:lpstr>          UNIT 3 – Steps in EDA  </vt:lpstr>
      <vt:lpstr>          UNIT 3 – Steps in EDA  </vt:lpstr>
      <vt:lpstr>          UNIT 3 – Steps in EDA  </vt:lpstr>
      <vt:lpstr>          UNIT 3 – Steps in EDA  </vt:lpstr>
      <vt:lpstr>          UNIT 3 – Steps in EDA  </vt:lpstr>
      <vt:lpstr>          UNIT 3 – Steps in EDA  </vt:lpstr>
      <vt:lpstr>          UNIT 3 – Steps in EDA  </vt:lpstr>
      <vt:lpstr>          UNIT 3 – Steps in EDA  </vt:lpstr>
      <vt:lpstr>          UNIT 3 – Making sense of data </vt:lpstr>
      <vt:lpstr>          UNIT 3 – Making sense of data </vt:lpstr>
      <vt:lpstr>          UNIT 3 – Making sense of data </vt:lpstr>
      <vt:lpstr>          UNIT 3 – Making sense of data </vt:lpstr>
      <vt:lpstr>          UNIT 3 – Making sense of data </vt:lpstr>
      <vt:lpstr>             Comparing EDA with classical and Bayesian analysis </vt:lpstr>
      <vt:lpstr>         Software tools for EDA  </vt:lpstr>
      <vt:lpstr>         Software tools for EDA  </vt:lpstr>
      <vt:lpstr>         Software tools for EDA  </vt:lpstr>
      <vt:lpstr>         Software tools for EDA  </vt:lpstr>
      <vt:lpstr>         Software tools for EDA  </vt:lpstr>
      <vt:lpstr>         Software tools for EDA  </vt:lpstr>
      <vt:lpstr>         Software tools for EDA  </vt:lpstr>
      <vt:lpstr>         Software tools for EDA 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  Data Transformation Techniques </vt:lpstr>
      <vt:lpstr>        UNIT 3 – NO SQL</vt:lpstr>
      <vt:lpstr>        UNIT 3 – Characteristics of NO SQL</vt:lpstr>
      <vt:lpstr>        UNIT 3 – Special Features of NO SQL</vt:lpstr>
      <vt:lpstr>        UNIT 3 – NO SQL  Types </vt:lpstr>
      <vt:lpstr>        UNIT 3 – NO SQL  Types </vt:lpstr>
      <vt:lpstr>        UNIT 3 – NO SQL  Types </vt:lpstr>
      <vt:lpstr>        UNIT 3 – NO SQL  Types </vt:lpstr>
      <vt:lpstr>         Advantages of NoSQL</vt:lpstr>
      <vt:lpstr>         NoSQL Vendors</vt:lpstr>
      <vt:lpstr>         SQL vs NoSQL</vt:lpstr>
      <vt:lpstr>         SQL vs NoSQL</vt:lpstr>
      <vt:lpstr>         SQL vs NoSQL</vt:lpstr>
      <vt:lpstr>         SQL vs NoSQL</vt:lpstr>
      <vt:lpstr>         SQL vs NoSQL</vt:lpstr>
      <vt:lpstr>         SQL vs NoSQL</vt:lpstr>
      <vt:lpstr>         SQL vs NoSQL</vt:lpstr>
      <vt:lpstr>         MongoDB</vt:lpstr>
      <vt:lpstr>         MongoDB</vt:lpstr>
      <vt:lpstr>         TERMS USED IN RDBMS AND MONGODB</vt:lpstr>
      <vt:lpstr>         RDBMS vs MONGODB</vt:lpstr>
      <vt:lpstr>         RDBMS vs MONGODB</vt:lpstr>
      <vt:lpstr>        MongoDB</vt:lpstr>
      <vt:lpstr>        MongoDB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MongoDB Query Language (CRUD)</vt:lpstr>
      <vt:lpstr>          HIVE</vt:lpstr>
      <vt:lpstr>          HIVE</vt:lpstr>
      <vt:lpstr>          HIVE</vt:lpstr>
      <vt:lpstr>          HIVE</vt:lpstr>
      <vt:lpstr>          HIVE ARCHITECTURE</vt:lpstr>
      <vt:lpstr>          HIVE ARCHITECTURE</vt:lpstr>
      <vt:lpstr>          HIVE ARCHITECTURE</vt:lpstr>
      <vt:lpstr>          HIVE ARCHITECTURE</vt:lpstr>
      <vt:lpstr>          HIVE ARCHITECTURE</vt:lpstr>
      <vt:lpstr>          HIVE ARCHITECTURE</vt:lpstr>
      <vt:lpstr>          HIVE Data Types</vt:lpstr>
      <vt:lpstr>          HIVE Data Types</vt:lpstr>
      <vt:lpstr>          HIVE Data Types</vt:lpstr>
      <vt:lpstr>          HIVE Data Types</vt:lpstr>
      <vt:lpstr>          HIVE Data Types</vt:lpstr>
      <vt:lpstr>         Hive Query Language (HQL) </vt:lpstr>
      <vt:lpstr>         Hive Query Language (HQL) </vt:lpstr>
      <vt:lpstr>         Hive Query Language (HQL) </vt:lpstr>
      <vt:lpstr>         Hive Query Language (HQL) </vt:lpstr>
      <vt:lpstr>         Hive Query Language (HQL) </vt:lpstr>
      <vt:lpstr>         Hive Query Language (HQL) </vt:lpstr>
      <vt:lpstr>         Hive Query Language (HQL) </vt:lpstr>
      <vt:lpstr>         Hive Query Language (HQL) </vt:lpstr>
      <vt:lpstr>         Hive Query Language (HQL) </vt:lpstr>
      <vt:lpstr>         Hive Query Language (HQL) </vt:lpstr>
      <vt:lpstr>         Hive Query Language (HQL) </vt:lpstr>
      <vt:lpstr>         Hive Query Language (HQL) </vt:lpstr>
      <vt:lpstr>         Hive Query Language (HQL) </vt:lpstr>
      <vt:lpstr>         Hive Query Language (HQL) </vt:lpstr>
      <vt:lpstr>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22CS402   WEB DEVELOPMENT FRAMEWORKS</dc:title>
  <dc:creator>AGS</dc:creator>
  <cp:lastModifiedBy>Gnanasekar A</cp:lastModifiedBy>
  <cp:revision>303</cp:revision>
  <cp:lastPrinted>2025-09-24T16:48:10Z</cp:lastPrinted>
  <dcterms:created xsi:type="dcterms:W3CDTF">2023-11-27T03:01:53Z</dcterms:created>
  <dcterms:modified xsi:type="dcterms:W3CDTF">2025-09-24T17:00:03Z</dcterms:modified>
</cp:coreProperties>
</file>