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notesMasterIdLst>
    <p:notesMasterId r:id="rId29"/>
  </p:notesMasterIdLst>
  <p:sldIdLst>
    <p:sldId id="256" r:id="rId2"/>
    <p:sldId id="257" r:id="rId3"/>
    <p:sldId id="377" r:id="rId4"/>
    <p:sldId id="404" r:id="rId5"/>
    <p:sldId id="383" r:id="rId6"/>
    <p:sldId id="403" r:id="rId7"/>
    <p:sldId id="378" r:id="rId8"/>
    <p:sldId id="379" r:id="rId9"/>
    <p:sldId id="389" r:id="rId10"/>
    <p:sldId id="390" r:id="rId11"/>
    <p:sldId id="391" r:id="rId12"/>
    <p:sldId id="392" r:id="rId13"/>
    <p:sldId id="393" r:id="rId14"/>
    <p:sldId id="394" r:id="rId15"/>
    <p:sldId id="397" r:id="rId16"/>
    <p:sldId id="410" r:id="rId17"/>
    <p:sldId id="395" r:id="rId18"/>
    <p:sldId id="396" r:id="rId19"/>
    <p:sldId id="405" r:id="rId20"/>
    <p:sldId id="408" r:id="rId21"/>
    <p:sldId id="406" r:id="rId22"/>
    <p:sldId id="409" r:id="rId23"/>
    <p:sldId id="407" r:id="rId24"/>
    <p:sldId id="398" r:id="rId25"/>
    <p:sldId id="399" r:id="rId26"/>
    <p:sldId id="401" r:id="rId27"/>
    <p:sldId id="376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2191A-46F2-4FF8-A7E3-8CFE9666AB61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A93FB-E771-4AAA-99D5-0D6664061F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DE9F-7E0C-ABAA-EE52-4BD0741A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28941-6F5F-AA33-AC79-4F2D30EB7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32201-0795-E0CE-F13F-231A0B9A4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BB3E8-E5D6-40D3-7FA9-AC822B658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50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60CB-3205-A02C-D14E-C3EE7619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5F102-715B-E009-0684-1A594708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2EDD9-4D96-8FC4-8016-DF9628C1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3137E-24FF-B2A7-AFD9-AA343E60F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19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3FB5-E277-2BED-1BC8-ECC12914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60B72-2C1F-7221-D3A8-8C398B2FF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40017-8E1A-B8AC-CA4E-3C8DC094B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591F5-9018-1BB7-6AB9-4636CEEB1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29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D2EF-E0CC-1476-29EA-273326E3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7D6DF-25FB-A1A8-3A9C-854D448A8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569B4-DB36-8A5D-946E-5B1492942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8D1C-091B-316D-79F9-A7825549A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3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05AA-5084-4F2C-C418-367B6A80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74FD9-0F13-CC98-F782-E8C71DA68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078DA-6843-CA63-8EE9-64BEA0208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0FEF2-1F43-2450-3C2D-5062EC0DA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5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5EA9-59F1-9F8E-230C-9EFAA8D2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4C6AE-8896-B545-1D94-8E9DABCC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897FB-DE0C-86AC-AEBF-4EC7FDE3E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DD859-FEE1-BBE1-18A7-01ED00871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21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53F-AB2D-094F-AB62-7924DFD2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BC823-12CA-E368-0822-86D809922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197F5-1986-3076-78A7-684EA0B03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1DB4C-A478-F962-CE05-7B1F34AFF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51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51D3-BF26-78CF-59B1-7DAF63A4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2F115-E949-0082-8C97-64909415B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F74C8-131B-599C-CE38-F513E9B06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C77F-49EC-6924-0DC3-75AF90750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68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3B21-13B4-4767-A2A9-0B00C52A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68FBF-8823-469D-2821-D36B46C22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980D4-030F-622A-3958-ADAD23576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5A925-B038-60AE-DC07-9AA9582C5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27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E810-5F09-263E-8CA1-C44EC734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F66B6-ADBD-EE49-20AC-0E9C2BB0D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DDB53-AE8F-0972-E9DC-8D4670CA6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7108A-D692-7E24-69A2-A0BED761C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73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7766-712E-4D63-E44A-5F5FF658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E70B5-231D-D499-061E-172DF3151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A3E06-BCAE-E57D-8E81-D7BF45634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432C3-45B5-06CF-B666-C45AD486D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5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587F-5F82-A99C-32B0-BC3DA127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4C06E-F533-3165-EE04-2DD21CB77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4C7F-643C-0A5F-2897-F9F1F3868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E8C25-1656-31A6-AEA0-E88E566B4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92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525B-C009-2A81-8196-32A4D339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79B51-C5DF-0E29-4192-D64D2F8FB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B5295-A0F7-34F1-A744-0C68ABE74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18285-5703-0D6A-C564-4F2620C8F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57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525B-C009-2A81-8196-32A4D339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79B51-C5DF-0E29-4192-D64D2F8FB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B5295-A0F7-34F1-A744-0C68ABE74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18285-5703-0D6A-C564-4F2620C8F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05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61A6-158A-6EED-CF9D-AC48E4D2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894A0-62D3-61E6-E38E-6D1E41847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37120-450A-E36D-70FA-EFC63F652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44C60-943E-332E-03FE-743C47791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50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61A6-158A-6EED-CF9D-AC48E4D2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894A0-62D3-61E6-E38E-6D1E41847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37120-450A-E36D-70FA-EFC63F652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44C60-943E-332E-03FE-743C47791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38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61A6-158A-6EED-CF9D-AC48E4D2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894A0-62D3-61E6-E38E-6D1E41847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37120-450A-E36D-70FA-EFC63F652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44C60-943E-332E-03FE-743C47791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22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8CF7-4094-31A8-09BE-9DF7198F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93692-BFCC-4D8F-22E6-F9DBD7643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E37C2-5E76-08A1-2B60-DB62A957A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3AE1-7816-447C-083E-15C32EC7F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72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73E4-C84E-2071-7519-13F57E6E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56AA4-824C-AAAF-0180-4EB666CEF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36D20-7037-D3DD-F54E-CD2F3B80E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A134-A252-7D8E-90B8-E7A736CF7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0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83E4-E21A-5151-4DFD-BED63FCB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1F3DD-5956-5277-D1FF-91B85A769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D570C-552B-7FA9-EC06-A32C65884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7889-A40A-E4F1-BE13-877F12A96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61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906E-E797-4FF6-89A4-B046BD785CEB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9B4C-785E-439D-B6E3-3ECA9A5AA34E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B49F-B7FC-467C-8025-2DB136E2C77D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326B9-C93C-4D85-98F6-5ABD02038897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8A0C-1689-4CCA-BE75-70CB3045278A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4F7B4-744E-44C2-BAD2-51E5EC43A004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8FD8-18F8-4CC3-BBF2-62976947AE76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CC87-58B2-4C25-B83B-B0FB0906B857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5FD5-198F-4F47-AB8A-F2582F0E0374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D6A9-E07E-4B35-8625-F7270D328226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E82E3-C253-49FD-900A-8B8022D9FCAD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8F07199-8A79-4C7B-A7EE-4E06BC79A5FD}" type="datetime1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Dr.A.GNANASEKAR, ASP/ CSE, RMDEC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895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    </a:t>
            </a:r>
          </a:p>
          <a:p>
            <a:r>
              <a:rPr lang="en-US" sz="3600" b="1" dirty="0"/>
              <a:t>Prepare by</a:t>
            </a:r>
          </a:p>
          <a:p>
            <a:r>
              <a:rPr lang="en-US" sz="3600" b="1" dirty="0">
                <a:solidFill>
                  <a:srgbClr val="0070C0"/>
                </a:solidFill>
              </a:rPr>
              <a:t>Dr. A. GNANASEKAR</a:t>
            </a:r>
          </a:p>
          <a:p>
            <a:r>
              <a:rPr lang="en-US" sz="3600" b="1" dirty="0"/>
              <a:t>  Associate Professor </a:t>
            </a:r>
          </a:p>
          <a:p>
            <a:r>
              <a:rPr lang="en-US" sz="3600" b="1" dirty="0"/>
              <a:t>Department of Computer Science &amp; Engineering</a:t>
            </a:r>
          </a:p>
          <a:p>
            <a:r>
              <a:rPr lang="en-US" sz="3600" b="1" dirty="0"/>
              <a:t>R.M.D. Engineering College 	</a:t>
            </a:r>
          </a:p>
          <a:p>
            <a:r>
              <a:rPr lang="en-US" b="1" dirty="0"/>
              <a:t>	</a:t>
            </a:r>
          </a:p>
          <a:p>
            <a:r>
              <a:rPr lang="en-US" b="1" dirty="0"/>
              <a:t>	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/>
              <a:t>21CS703</a:t>
            </a:r>
            <a:r>
              <a:rPr sz="4800" b="1" dirty="0"/>
              <a:t> 	</a:t>
            </a:r>
            <a:br>
              <a:rPr sz="4800" b="1" dirty="0"/>
            </a:br>
            <a:r>
              <a:rPr lang="en-US" b="1" dirty="0"/>
              <a:t>DATA ANALYTICS (Lab Integrated)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57A3-2FF7-4804-870A-42FF3D9B3EC0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–Mining data streams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88355-FDB3-0ACB-4752-85A3D3695A1D}"/>
              </a:ext>
            </a:extLst>
          </p:cNvPr>
          <p:cNvSpPr txBox="1"/>
          <p:nvPr/>
        </p:nvSpPr>
        <p:spPr>
          <a:xfrm>
            <a:off x="603504" y="917576"/>
            <a:ext cx="81594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 stream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Stream queries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Sampling data in a stream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General streaming problem filtering streams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Dealing with infinite streams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Counting Distance Elements in a Stream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Estimating Moments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Counting Ones in Window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Decaying Windows.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88355-FDB3-0ACB-4752-85A3D3695A1D}"/>
              </a:ext>
            </a:extLst>
          </p:cNvPr>
          <p:cNvSpPr txBox="1"/>
          <p:nvPr/>
        </p:nvSpPr>
        <p:spPr>
          <a:xfrm>
            <a:off x="603504" y="1219200"/>
            <a:ext cx="81594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Data stream refers to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 continuous flow </a:t>
            </a:r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of data generated by various sources in real-time.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BB91-E8CC-C469-FDB9-C4971871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89C6-5D25-4704-4B2F-DFB40DE5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 Model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C23C7-604E-A549-0D0A-15B4909A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81A87-8CE9-4106-EDBB-AC0334FC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3261B-76E3-CB89-87D2-139D5EB2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38BCE6-A9F8-C56B-A071-F65C67E8E9F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97AE5E-08DD-808C-B855-1FF4244101C6}"/>
              </a:ext>
            </a:extLst>
          </p:cNvPr>
          <p:cNvSpPr txBox="1"/>
          <p:nvPr/>
        </p:nvSpPr>
        <p:spPr>
          <a:xfrm>
            <a:off x="603504" y="1219200"/>
            <a:ext cx="81594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FF"/>
                </a:highlight>
              </a:rPr>
              <a:t>The </a:t>
            </a:r>
            <a:r>
              <a:rPr lang="en-US" sz="3200" b="1" dirty="0">
                <a:highlight>
                  <a:srgbClr val="FFFFFF"/>
                </a:highlight>
              </a:rPr>
              <a:t>data stream model</a:t>
            </a:r>
            <a:r>
              <a:rPr lang="en-US" sz="3200" dirty="0">
                <a:highlight>
                  <a:srgbClr val="FFFFFF"/>
                </a:highlight>
              </a:rPr>
              <a:t> is designed to handle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large</a:t>
            </a:r>
            <a:r>
              <a:rPr lang="en-US" sz="3200" dirty="0">
                <a:highlight>
                  <a:srgbClr val="FFFFFF"/>
                </a:highlight>
              </a:rPr>
              <a:t>,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continuous</a:t>
            </a:r>
            <a:r>
              <a:rPr lang="en-US" sz="3200" dirty="0">
                <a:highlight>
                  <a:srgbClr val="FFFFFF"/>
                </a:highlight>
              </a:rPr>
              <a:t>, and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rapidly arriving data</a:t>
            </a:r>
            <a:r>
              <a:rPr lang="en-US" sz="3200" dirty="0">
                <a:highlight>
                  <a:srgbClr val="FFFFFF"/>
                </a:highlight>
              </a:rPr>
              <a:t>,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focusing on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real-time</a:t>
            </a:r>
            <a:r>
              <a:rPr lang="en-US" sz="3200" i="1" dirty="0">
                <a:highlight>
                  <a:srgbClr val="FFFFFF"/>
                </a:highlight>
              </a:rPr>
              <a:t>,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memory-efficient</a:t>
            </a:r>
            <a:r>
              <a:rPr lang="en-US" sz="3200" i="1" dirty="0">
                <a:highlight>
                  <a:srgbClr val="FFFFFF"/>
                </a:highlight>
              </a:rPr>
              <a:t>, and </a:t>
            </a:r>
            <a:r>
              <a:rPr lang="en-US" sz="3200" i="1" dirty="0">
                <a:solidFill>
                  <a:srgbClr val="00B050"/>
                </a:solidFill>
                <a:highlight>
                  <a:srgbClr val="FFFFFF"/>
                </a:highlight>
              </a:rPr>
              <a:t>approximate</a:t>
            </a:r>
            <a:r>
              <a:rPr lang="en-US" sz="3200" dirty="0">
                <a:highlight>
                  <a:srgbClr val="FFFFFF"/>
                </a:highlight>
              </a:rPr>
              <a:t> computation.</a:t>
            </a:r>
            <a:endParaRPr lang="en-US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4 - Data stream Model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treamDataMode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" y="1084385"/>
            <a:ext cx="6553200" cy="45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81B3-FC33-7788-5F3A-29AE1C1A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75CE-6399-E73B-10C9-1CFE03B3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4 –</a:t>
            </a:r>
            <a:r>
              <a:rPr lang="en-US" sz="3600" b="1" dirty="0">
                <a:solidFill>
                  <a:schemeClr val="accent1"/>
                </a:solidFill>
              </a:rPr>
              <a:t>Data stream Model</a:t>
            </a:r>
            <a:r>
              <a:rPr lang="en-US" sz="3600" b="1" dirty="0"/>
              <a:t>	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11ED-42EB-9C3E-33B6-6FE953B9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883D7-FA20-7FBC-DD18-54DDE2F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C07B-8EF4-A393-D4B0-A70E943C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52F6F9-94F3-C596-C2AC-C3CEEB9AB06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67AFC1-0944-55DC-60B7-708D672C407A}"/>
              </a:ext>
            </a:extLst>
          </p:cNvPr>
          <p:cNvSpPr txBox="1"/>
          <p:nvPr/>
        </p:nvSpPr>
        <p:spPr>
          <a:xfrm>
            <a:off x="530352" y="1066800"/>
            <a:ext cx="8159496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Multiple input streams arrive continuously </a:t>
            </a:r>
            <a:r>
              <a:rPr lang="en-US" sz="2400" dirty="0">
                <a:solidFill>
                  <a:srgbClr val="273239"/>
                </a:solidFill>
              </a:rPr>
              <a:t>(numbers, text, bits).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Each incoming event is accepted by the </a:t>
            </a:r>
            <a:r>
              <a:rPr lang="en-US" sz="2400" b="1" dirty="0"/>
              <a:t>Stream Processor</a:t>
            </a:r>
            <a:r>
              <a:rPr lang="en-US" sz="2400" dirty="0"/>
              <a:t> as soon as it arrives. The processor reads the event metadata.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processor determines the time model it will use: </a:t>
            </a:r>
            <a:r>
              <a:rPr lang="en-US" sz="2400" i="1" dirty="0"/>
              <a:t>processing-time</a:t>
            </a:r>
            <a:r>
              <a:rPr lang="en-US" sz="2400" dirty="0"/>
              <a:t> (when it was seen) or </a:t>
            </a:r>
            <a:r>
              <a:rPr lang="en-US" sz="2400" i="1" dirty="0"/>
              <a:t>event-time</a:t>
            </a:r>
            <a:r>
              <a:rPr lang="en-US" sz="2400" dirty="0"/>
              <a:t> (the event’s own timestamp).</a:t>
            </a:r>
            <a:endParaRPr lang="en-US" sz="2400" dirty="0">
              <a:solidFill>
                <a:srgbClr val="273239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 Stream Processor handles them in real time using: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Limited Working Storage → small in-memory state (windows, counters, sketches).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Standing Queries → continuous queries running all the time.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Ad-hoc Queries → one-time user queries.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Archival Storage → long-term data history for batch/offline analysis.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Processor updates state, applies queries, and produces output streams.</a:t>
            </a:r>
          </a:p>
          <a:p>
            <a:pPr algn="just"/>
            <a:endParaRPr lang="en-US" sz="2000" dirty="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359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Stream Sources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88355-FDB3-0ACB-4752-85A3D3695A1D}"/>
              </a:ext>
            </a:extLst>
          </p:cNvPr>
          <p:cNvSpPr txBox="1"/>
          <p:nvPr/>
        </p:nvSpPr>
        <p:spPr>
          <a:xfrm>
            <a:off x="603504" y="917576"/>
            <a:ext cx="81594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/>
              <a:t>Sensor data</a:t>
            </a:r>
            <a:r>
              <a:rPr lang="en-US" sz="3200" dirty="0"/>
              <a:t> used in navigation systems.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Image data</a:t>
            </a:r>
            <a:r>
              <a:rPr lang="en-US" sz="3200" dirty="0"/>
              <a:t> sent down from satellites.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Internet and web traffic</a:t>
            </a:r>
            <a:r>
              <a:rPr lang="en-US" sz="3200" dirty="0"/>
              <a:t> received by a bobbing node in the center of the internet.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Server Logs</a:t>
            </a:r>
          </a:p>
          <a:p>
            <a:endParaRPr lang="en-US" sz="3200" dirty="0"/>
          </a:p>
          <a:p>
            <a:pPr>
              <a:buFont typeface="Arial" pitchFamily="34" charset="0"/>
              <a:buChar char="•"/>
            </a:pP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pic>
        <p:nvPicPr>
          <p:cNvPr id="10" name="Picture 9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3657600"/>
            <a:ext cx="5439535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What are the tools for data streaming?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88355-FDB3-0ACB-4752-85A3D3695A1D}"/>
              </a:ext>
            </a:extLst>
          </p:cNvPr>
          <p:cNvSpPr txBox="1"/>
          <p:nvPr/>
        </p:nvSpPr>
        <p:spPr>
          <a:xfrm>
            <a:off x="603504" y="917576"/>
            <a:ext cx="81594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Key tools for data streaming include: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Message Brokers</a:t>
            </a:r>
            <a:r>
              <a:rPr lang="en-US" sz="3200" dirty="0"/>
              <a:t>: Apache Kafka, Amazon Kinesis.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 ETL Tools</a:t>
            </a:r>
            <a:r>
              <a:rPr lang="en-US" sz="3200" dirty="0"/>
              <a:t>: Apache </a:t>
            </a:r>
            <a:r>
              <a:rPr lang="en-US" sz="3200" dirty="0" err="1"/>
              <a:t>Flink</a:t>
            </a:r>
            <a:r>
              <a:rPr lang="en-US" sz="3200" dirty="0"/>
              <a:t>, Apache Storm, Spark Streaming.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Data</a:t>
            </a:r>
            <a:r>
              <a:rPr lang="en-US" sz="3200" dirty="0"/>
              <a:t> </a:t>
            </a:r>
            <a:r>
              <a:rPr lang="en-US" sz="3200" b="1" dirty="0"/>
              <a:t>Storage</a:t>
            </a:r>
            <a:r>
              <a:rPr lang="en-US" sz="3200" dirty="0"/>
              <a:t>: Amazon S3, Google </a:t>
            </a:r>
            <a:r>
              <a:rPr lang="en-US" sz="3200" dirty="0" err="1"/>
              <a:t>BigQuery</a:t>
            </a:r>
            <a:r>
              <a:rPr lang="en-US" sz="3200" dirty="0"/>
              <a:t>, Apache Hadoop.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/>
              <a:t>Analytics Engines</a:t>
            </a:r>
            <a:r>
              <a:rPr lang="en-US" sz="3200" dirty="0"/>
              <a:t>: </a:t>
            </a:r>
            <a:r>
              <a:rPr lang="en-US" sz="3200" dirty="0" err="1"/>
              <a:t>Elasticsearch</a:t>
            </a:r>
            <a:r>
              <a:rPr lang="en-US" sz="3200" dirty="0"/>
              <a:t>, Apache Druid.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4539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4E23-41E5-C0DB-4791-904FE32D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6B08-ED5F-76C6-DB80-87010D74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Stream queries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8BE0F-C0EE-79A2-C961-D4A9C33A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EC831-8490-6EE4-6E05-838E08CB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534FE-9134-F41F-5D02-93AD17B2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09FA49-2226-8F65-3D4A-90CBEC3040F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4B7E45-1269-DFC2-E0E4-D235AED8C51E}"/>
              </a:ext>
            </a:extLst>
          </p:cNvPr>
          <p:cNvSpPr txBox="1"/>
          <p:nvPr/>
        </p:nvSpPr>
        <p:spPr>
          <a:xfrm>
            <a:off x="603504" y="917576"/>
            <a:ext cx="81594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Stream queries are queries that </a:t>
            </a:r>
            <a:r>
              <a:rPr lang="en-US" sz="3200" dirty="0">
                <a:solidFill>
                  <a:srgbClr val="FF0000"/>
                </a:solidFill>
              </a:rPr>
              <a:t>run on </a:t>
            </a:r>
            <a:r>
              <a:rPr lang="en-IN" sz="3200" dirty="0">
                <a:solidFill>
                  <a:srgbClr val="FF0000"/>
                </a:solidFill>
              </a:rPr>
              <a:t>continuously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IN" sz="3200" dirty="0"/>
              <a:t>over a data stream</a:t>
            </a:r>
            <a:r>
              <a:rPr lang="en-US" sz="3200" dirty="0"/>
              <a:t>, producing instant results, instead of waiting for all data to be stored first.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01210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DDC2-465F-CB87-915C-30457407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82E3-D7C1-DC2E-73C8-1B068421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Stream queries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4F1AF-53AA-E713-D2CF-761CB696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2B887-4122-B6AD-2BD3-E159E795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DFF73-786E-EDE6-E301-BB5C2847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CB3D0C-C2F4-50D7-DDC5-15AEEEEFB61C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700A00-FFE9-DFE8-42DB-A73D2C0A86B4}"/>
              </a:ext>
            </a:extLst>
          </p:cNvPr>
          <p:cNvSpPr txBox="1"/>
          <p:nvPr/>
        </p:nvSpPr>
        <p:spPr>
          <a:xfrm>
            <a:off x="603504" y="917576"/>
            <a:ext cx="815949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</a:rPr>
              <a:t>Types of Stream Queries:</a:t>
            </a:r>
          </a:p>
          <a:p>
            <a:pPr marL="514350" indent="-514350">
              <a:buAutoNum type="arabicPeriod"/>
            </a:pPr>
            <a:r>
              <a:rPr lang="en-US" sz="2600" b="1" dirty="0"/>
              <a:t>Standing (Continuous) Queries</a:t>
            </a:r>
            <a:r>
              <a:rPr lang="en-US" sz="26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Registered once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FF0000"/>
                </a:solidFill>
              </a:rPr>
              <a:t>run all the time</a:t>
            </a:r>
            <a:r>
              <a:rPr lang="en-US" sz="2600" dirty="0"/>
              <a:t>, updating results as new data arrives.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 </a:t>
            </a:r>
            <a:r>
              <a:rPr lang="en-US" sz="2600" i="1" dirty="0"/>
              <a:t>(e.g., average temperature in the last 10 minutes)</a:t>
            </a:r>
            <a:endParaRPr lang="en-US" sz="2600" dirty="0"/>
          </a:p>
          <a:p>
            <a:r>
              <a:rPr lang="en-US" sz="2600" b="1" dirty="0"/>
              <a:t>2. Ad-hoc Queries</a:t>
            </a:r>
            <a:r>
              <a:rPr lang="en-US" sz="26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Run on demand</a:t>
            </a:r>
            <a:r>
              <a:rPr lang="en-US" sz="2600" dirty="0"/>
              <a:t>, usually over archived or snapshot data.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i="1" dirty="0"/>
              <a:t>(e.g., max temperature recorded yesterday)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r>
              <a:rPr lang="en-US" sz="2600" dirty="0"/>
              <a:t>👉 In short: </a:t>
            </a:r>
          </a:p>
          <a:p>
            <a:r>
              <a:rPr lang="en-US" sz="2600" b="1" dirty="0"/>
              <a:t> Standing queries = continuous &amp; live</a:t>
            </a:r>
          </a:p>
          <a:p>
            <a:r>
              <a:rPr lang="en-US" sz="2600" dirty="0"/>
              <a:t> </a:t>
            </a:r>
            <a:r>
              <a:rPr lang="en-US" sz="2600" b="1" dirty="0"/>
              <a:t>Ad-hoc queries = one-time &amp; on-demand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859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5A85-3FDA-62AB-2F23-D35B374D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1D1F-1A86-A258-95B6-D4C865FF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Stream queries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C1BA1-9E0C-9313-35AB-DEE7A500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30E2E-5395-FDDD-03E4-C666EC1B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DBC86-DF77-CB4D-D717-8D4157B3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AB3AFD-27A1-A0A4-F378-73108DBEE604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E6D6F-9212-8178-36A9-13AE36F41FD3}"/>
              </a:ext>
            </a:extLst>
          </p:cNvPr>
          <p:cNvSpPr txBox="1"/>
          <p:nvPr/>
        </p:nvSpPr>
        <p:spPr>
          <a:xfrm>
            <a:off x="603504" y="917576"/>
            <a:ext cx="81594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Common Operations in Stream Queries: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Filtering</a:t>
            </a:r>
            <a:r>
              <a:rPr lang="en-US" sz="2800" dirty="0"/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select specific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Aggregation</a:t>
            </a:r>
            <a:r>
              <a:rPr lang="en-US" sz="2800" dirty="0"/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count, sum, average over sliding windows.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Join</a:t>
            </a:r>
            <a:r>
              <a:rPr lang="en-US" sz="2800" dirty="0"/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multiple streams (e.g., sensor + user log).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Pattern Detection</a:t>
            </a:r>
            <a:r>
              <a:rPr lang="en-US" sz="2800" dirty="0">
                <a:solidFill>
                  <a:srgbClr val="00B0F0"/>
                </a:solidFill>
              </a:rPr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find trends or anomalies in the stream.</a:t>
            </a:r>
          </a:p>
        </p:txBody>
      </p:sp>
    </p:spTree>
    <p:extLst>
      <p:ext uri="{BB962C8B-B14F-4D97-AF65-F5344CB8AC3E}">
        <p14:creationId xmlns:p14="http://schemas.microsoft.com/office/powerpoint/2010/main" val="363251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A400-F6E9-CE81-D0C9-C7C6F152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E852-4969-23B5-2E86-AF297971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16344-CACA-7802-F5B5-32AC114C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6941F-6243-B4D2-21D3-A46CD695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0A165-D0B4-600C-738D-EEAF0C07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5C2FD4-9CEC-7970-2754-25BD5943652A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6EC73C-BB55-AEE5-B446-55038CE32F60}"/>
              </a:ext>
            </a:extLst>
          </p:cNvPr>
          <p:cNvSpPr txBox="1"/>
          <p:nvPr/>
        </p:nvSpPr>
        <p:spPr>
          <a:xfrm>
            <a:off x="578520" y="1084262"/>
            <a:ext cx="81594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Sampling in data streams</a:t>
            </a:r>
            <a:r>
              <a:rPr lang="en-US" sz="2800" dirty="0"/>
              <a:t> is the </a:t>
            </a:r>
            <a:r>
              <a:rPr lang="en-US" sz="2800" dirty="0">
                <a:solidFill>
                  <a:srgbClr val="FF0000"/>
                </a:solidFill>
              </a:rPr>
              <a:t>process of selecting a small representative subset of elements </a:t>
            </a:r>
            <a:r>
              <a:rPr lang="en-US" sz="2800" dirty="0"/>
              <a:t>from </a:t>
            </a:r>
            <a:r>
              <a:rPr lang="en-US" sz="2800" dirty="0">
                <a:solidFill>
                  <a:srgbClr val="FF0000"/>
                </a:solidFill>
              </a:rPr>
              <a:t>a continuous stream</a:t>
            </a:r>
            <a:r>
              <a:rPr lang="en-US" sz="2800" dirty="0"/>
              <a:t>, since storing all data is impossible.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00B050"/>
                </a:solidFill>
              </a:rPr>
              <a:t>Why Sampling is Needed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Streams are </a:t>
            </a:r>
            <a:r>
              <a:rPr lang="en-US" sz="2800" b="1" dirty="0"/>
              <a:t>infinite / high-speed</a:t>
            </a:r>
            <a:r>
              <a:rPr lang="en-US" sz="2800" dirty="0"/>
              <a:t>, so full storage is not feasible.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Sampling reduces </a:t>
            </a:r>
            <a:r>
              <a:rPr lang="en-US" sz="2800" b="1" dirty="0"/>
              <a:t>memory, computation, and storage</a:t>
            </a:r>
            <a:r>
              <a:rPr lang="en-US" sz="2800" dirty="0"/>
              <a:t> needs.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Helps in building </a:t>
            </a:r>
            <a:r>
              <a:rPr lang="en-US" sz="2800" b="1" dirty="0"/>
              <a:t>approximate models</a:t>
            </a:r>
            <a:r>
              <a:rPr lang="en-US" sz="2800" dirty="0"/>
              <a:t> or quick summaries.</a:t>
            </a:r>
          </a:p>
          <a:p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8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A1E7-99A1-A5DB-2642-47F6A474F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015B-FC79-11CE-C261-AE252351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0246E-C795-3F66-73DC-80FBDEE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E505D-AF95-A203-6B67-0BFE2955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2F683-BB65-A7B8-5874-881DAB26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78968A-2F01-F0F3-E2CC-33847926B70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B56715-931A-2B1E-4557-9858EE2B9DE2}"/>
              </a:ext>
            </a:extLst>
          </p:cNvPr>
          <p:cNvSpPr txBox="1"/>
          <p:nvPr/>
        </p:nvSpPr>
        <p:spPr>
          <a:xfrm>
            <a:off x="578520" y="1084262"/>
            <a:ext cx="81594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Sampling in data streams</a:t>
            </a:r>
            <a:r>
              <a:rPr lang="en-US" sz="2800" dirty="0"/>
              <a:t> is the </a:t>
            </a:r>
            <a:r>
              <a:rPr lang="en-US" sz="2800" dirty="0">
                <a:solidFill>
                  <a:srgbClr val="FF0000"/>
                </a:solidFill>
              </a:rPr>
              <a:t>process of selecting a small representative subset of elements </a:t>
            </a:r>
            <a:r>
              <a:rPr lang="en-US" sz="2800" dirty="0"/>
              <a:t>from </a:t>
            </a:r>
            <a:r>
              <a:rPr lang="en-US" sz="2800" dirty="0">
                <a:solidFill>
                  <a:srgbClr val="FF0000"/>
                </a:solidFill>
              </a:rPr>
              <a:t>a continuous stream</a:t>
            </a:r>
            <a:r>
              <a:rPr lang="en-US" sz="2800" dirty="0"/>
              <a:t>, since storing all data is impossible.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00B050"/>
                </a:solidFill>
              </a:rPr>
              <a:t>Common Sampling Techniques: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Reservoir Sampling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Systematic Sampling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Random Sampling with Probability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Sliding Window</a:t>
            </a:r>
          </a:p>
          <a:p>
            <a:pPr lvl="1"/>
            <a:endParaRPr lang="en-US" sz="2800" b="1" dirty="0"/>
          </a:p>
          <a:p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80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1482-778F-749D-6968-BED2CFB0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46A8-AC81-EA90-9A27-7ABAB6B5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21BD5-2D53-986A-B08F-10889B98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F84AE-3B91-6665-E844-24DE5358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819AE-0009-2E60-FD68-F14574AC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878EAD-A62E-2D5A-1D00-52D0B9A8D70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1F248B-F797-9430-6874-E2C83F40A02A}"/>
              </a:ext>
            </a:extLst>
          </p:cNvPr>
          <p:cNvSpPr txBox="1"/>
          <p:nvPr/>
        </p:nvSpPr>
        <p:spPr>
          <a:xfrm>
            <a:off x="578520" y="1084262"/>
            <a:ext cx="81594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Reservoir Sampling: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Reservoir Sampling is a </a:t>
            </a:r>
            <a:r>
              <a:rPr lang="en-US" sz="2800" b="1" dirty="0"/>
              <a:t>randomized algorithm</a:t>
            </a:r>
            <a:r>
              <a:rPr lang="en-US" sz="2800" dirty="0"/>
              <a:t> used to select a sample of </a:t>
            </a:r>
            <a:r>
              <a:rPr lang="en-US" sz="2800" b="1" dirty="0"/>
              <a:t>k items from a stream (or list) of unknown or very large size N</a:t>
            </a:r>
            <a:r>
              <a:rPr lang="en-US" sz="2800" dirty="0"/>
              <a:t>,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06DDAE-45D2-A8C9-8A5D-4708989A9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600193"/>
            <a:ext cx="7792165" cy="147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62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A16A-A2CB-3B54-F703-BFFBA295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7ECD-9504-D395-BE8A-CB263774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AA049-41E0-726E-09EF-027B0006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D2C56-9E5E-1E9B-EF23-45AA0F0B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5FFBF-A845-3C97-3CD4-3C90F096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93BB27-FB68-3CE1-4F4A-0D3EB63B0D2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9E68FFE-3F20-BE60-E00E-BF8857479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84" y="1295400"/>
            <a:ext cx="879201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36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307C-61FD-C367-16AC-E8910518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AC68-4DF4-261E-F164-7FD84022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7CF3-6210-E89D-0A75-19479DB36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FD58D-CD3E-971C-903C-2F95D93D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5793D-608C-A802-FB92-6D3D4FBA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81219D-1155-4CA8-5176-B9C6D6DABFF3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EE9D52-CBF5-8189-25D0-0A2D04F03EFB}"/>
              </a:ext>
            </a:extLst>
          </p:cNvPr>
          <p:cNvSpPr txBox="1"/>
          <p:nvPr/>
        </p:nvSpPr>
        <p:spPr>
          <a:xfrm>
            <a:off x="578520" y="1084262"/>
            <a:ext cx="81594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Reservoir Sampling: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purpose of Reservoir Sampling</a:t>
            </a:r>
            <a:r>
              <a:rPr lang="en-US" sz="2800" dirty="0"/>
              <a:t> is to enable </a:t>
            </a:r>
            <a:r>
              <a:rPr lang="en-US" sz="2800" b="1" dirty="0"/>
              <a:t>fair random sampling from very large or unknown-sized datasets/streams</a:t>
            </a:r>
            <a:r>
              <a:rPr lang="en-US" sz="2800" dirty="0"/>
              <a:t> without needing to store the entire dataset in memory.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7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F217-601D-E818-5CE8-A9F35EB3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3CA4-6D8D-FD0D-7DBB-12C465E6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42249-4CC8-2DA5-006D-2D4E2389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1B958-D0FF-289E-1AE2-E8C7BC5A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D6356-0E57-434D-1002-6BAA2CC1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799CE0-49E0-0C80-9CD8-7E3F0AD7DF2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3742F2-6621-0748-4214-882E0C9630E9}"/>
              </a:ext>
            </a:extLst>
          </p:cNvPr>
          <p:cNvSpPr txBox="1"/>
          <p:nvPr/>
        </p:nvSpPr>
        <p:spPr>
          <a:xfrm>
            <a:off x="578520" y="1084262"/>
            <a:ext cx="8159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Systematic Sampling: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Selects every </a:t>
            </a:r>
            <a:r>
              <a:rPr lang="en-US" sz="2800" i="1" dirty="0"/>
              <a:t>n-</a:t>
            </a:r>
            <a:r>
              <a:rPr lang="en-US" sz="2800" i="1" dirty="0" err="1"/>
              <a:t>th</a:t>
            </a:r>
            <a:r>
              <a:rPr lang="en-US" sz="2800" dirty="0"/>
              <a:t> element from the stream.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29466-E64C-5ED1-6B9D-35AAF4864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53" y="2055831"/>
            <a:ext cx="5420247" cy="40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7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BB3CA-9CF4-372A-ABAE-570C9D46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94B2-9B12-A02C-9721-701372111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Sampling in data streams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7D13-038C-4FF3-4BCA-CEAEC031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FCCB4-4ADE-0556-284D-ED4271C8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92B8F-B782-AF09-D500-03C334C9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15E50C-D063-0B5D-6ABA-052AD6973E2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796994-7D78-4C92-ACBE-C15E1FC4BAB7}"/>
              </a:ext>
            </a:extLst>
          </p:cNvPr>
          <p:cNvSpPr txBox="1"/>
          <p:nvPr/>
        </p:nvSpPr>
        <p:spPr>
          <a:xfrm>
            <a:off x="578520" y="1084262"/>
            <a:ext cx="81594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Random Sampling with Probability: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Each element is included with probability </a:t>
            </a:r>
            <a:r>
              <a:rPr lang="en-US" sz="2800" i="1" dirty="0"/>
              <a:t>p</a:t>
            </a:r>
            <a:r>
              <a:rPr lang="en-US" sz="2800" dirty="0"/>
              <a:t>.</a:t>
            </a:r>
            <a:endParaRPr lang="en-US" sz="2800" b="1" dirty="0"/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D5F06-1A2A-39DE-2006-061DF76A2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09" y="2314311"/>
            <a:ext cx="7239691" cy="382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7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3CC55-4B23-976E-9706-8C4D6FBC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845-B20E-6C06-2E7E-14D18F62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Sliding Windows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6255-49ED-2B62-889D-439BD7CC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0F5E0-0FF7-0435-0B36-9779E2FA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ED51E-E2D4-63D7-6909-ADCEDEB4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C80BE5-E089-200A-5897-C6B16D95F9D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C168A6-8BF6-2260-344F-7E6DFA8B972B}"/>
              </a:ext>
            </a:extLst>
          </p:cNvPr>
          <p:cNvSpPr txBox="1"/>
          <p:nvPr/>
        </p:nvSpPr>
        <p:spPr>
          <a:xfrm>
            <a:off x="304800" y="1084262"/>
            <a:ext cx="843321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FF0000"/>
                </a:solidFill>
              </a:rPr>
              <a:t>Example: </a:t>
            </a:r>
            <a:r>
              <a:rPr lang="en-US" sz="2400" b="1" dirty="0"/>
              <a:t>Maximum Sum Subarray of Size K</a:t>
            </a:r>
          </a:p>
          <a:p>
            <a:pPr lvl="1"/>
            <a:r>
              <a:rPr lang="en-US" sz="2400" b="1" dirty="0"/>
              <a:t>Consider an array </a:t>
            </a:r>
            <a:r>
              <a:rPr lang="en-US" sz="2400" b="1" dirty="0" err="1"/>
              <a:t>arr</a:t>
            </a:r>
            <a:r>
              <a:rPr lang="en-US" sz="2400" b="1" dirty="0"/>
              <a:t> = {16, 12, 9, 19, 11, 8 } and a window size K = 3. </a:t>
            </a:r>
          </a:p>
          <a:p>
            <a:pPr lvl="1"/>
            <a:r>
              <a:rPr lang="en-US" sz="2400" b="1" dirty="0"/>
              <a:t>The goal is to find the maximum sum of any contiguous subarray of size K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Algorithm:</a:t>
            </a:r>
          </a:p>
          <a:p>
            <a:pPr marL="971550" lvl="1" indent="-514350">
              <a:buAutoNum type="arabicPeriod"/>
            </a:pPr>
            <a:r>
              <a:rPr lang="en-US" sz="2000" b="1" dirty="0"/>
              <a:t>Select first window /sub array from index </a:t>
            </a:r>
            <a:r>
              <a:rPr lang="en-US" sz="2000" b="1" dirty="0" err="1"/>
              <a:t>i</a:t>
            </a:r>
            <a:r>
              <a:rPr lang="en-US" sz="2000" b="1" dirty="0"/>
              <a:t> to k-1 and find Maximum_sum.</a:t>
            </a:r>
          </a:p>
          <a:p>
            <a:pPr marL="971550" lvl="1" indent="-514350">
              <a:buFontTx/>
              <a:buAutoNum type="arabicPeriod"/>
            </a:pPr>
            <a:r>
              <a:rPr lang="en-US" sz="2000" b="1" dirty="0"/>
              <a:t>Slide window by 1</a:t>
            </a:r>
          </a:p>
          <a:p>
            <a:pPr marL="971550" lvl="1" indent="-514350">
              <a:buFontTx/>
              <a:buAutoNum type="arabicPeriod"/>
            </a:pPr>
            <a:r>
              <a:rPr lang="en-US" sz="2000" b="1" dirty="0"/>
              <a:t>Find current_sum = previous_sum + added Element – Removed element</a:t>
            </a:r>
          </a:p>
          <a:p>
            <a:pPr marL="971550" lvl="1" indent="-514350">
              <a:buFontTx/>
              <a:buAutoNum type="arabicPeriod"/>
            </a:pPr>
            <a:r>
              <a:rPr lang="en-US" sz="2000" b="1" dirty="0"/>
              <a:t>Then check</a:t>
            </a:r>
          </a:p>
          <a:p>
            <a:pPr lvl="3"/>
            <a:r>
              <a:rPr lang="en-US" sz="2000" b="1" dirty="0"/>
              <a:t>if Current_sum&gt;Maximum_sum</a:t>
            </a:r>
          </a:p>
          <a:p>
            <a:pPr lvl="3"/>
            <a:r>
              <a:rPr lang="en-US" sz="2000" b="1" dirty="0"/>
              <a:t>	Maximum_sum=Current_sum</a:t>
            </a:r>
          </a:p>
          <a:p>
            <a:pPr marL="971550" lvl="1" indent="-514350">
              <a:buFontTx/>
              <a:buAutoNum type="arabicPeriod"/>
            </a:pPr>
            <a:r>
              <a:rPr lang="en-US" sz="2000" b="1" dirty="0"/>
              <a:t>Then continue sliding up to final window.</a:t>
            </a:r>
          </a:p>
          <a:p>
            <a:pPr marL="971550" lvl="1" indent="-514350">
              <a:buAutoNum type="arabicPeriod"/>
            </a:pPr>
            <a:endParaRPr lang="en-US" sz="2800" b="1" dirty="0"/>
          </a:p>
          <a:p>
            <a:pPr marL="971550" lvl="1" indent="-514350">
              <a:buAutoNum type="arabicPeriod"/>
            </a:pPr>
            <a:endParaRPr lang="en-US" sz="2800" b="1" dirty="0"/>
          </a:p>
          <a:p>
            <a:pPr lvl="1"/>
            <a:endParaRPr lang="en-US" sz="2800" b="1" dirty="0">
              <a:solidFill>
                <a:srgbClr val="00B050"/>
              </a:solidFill>
            </a:endParaRPr>
          </a:p>
          <a:p>
            <a:pPr lvl="1"/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34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3CC55-4B23-976E-9706-8C4D6FBC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845-B20E-6C06-2E7E-14D18F62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Sliding Windows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6255-49ED-2B62-889D-439BD7CC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0F5E0-0FF7-0435-0B36-9779E2FA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ED51E-E2D4-63D7-6909-ADCEDEB4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C80BE5-E089-200A-5897-C6B16D95F9D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C168A6-8BF6-2260-344F-7E6DFA8B972B}"/>
              </a:ext>
            </a:extLst>
          </p:cNvPr>
          <p:cNvSpPr txBox="1"/>
          <p:nvPr/>
        </p:nvSpPr>
        <p:spPr>
          <a:xfrm>
            <a:off x="578520" y="1084262"/>
            <a:ext cx="8159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Sliding Windows (Maximum Sum):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73B400-B9F7-869E-27C9-BE1EA41F6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208" y="1902931"/>
            <a:ext cx="9144000" cy="2047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63EAE1-27B2-30D9-57F3-C295023CF4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3978201"/>
            <a:ext cx="9144000" cy="22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11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5CBB-AB87-242C-EB9D-973C2EC9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3307-9ADE-24C5-60FB-C57A9895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Sliding Windows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3378-8419-EA73-1DC4-46608BFA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05A83-9171-52B9-6947-84E02EB7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1E376-0C55-A054-60AD-6399DAF6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94922D-D6FE-6036-D2A6-3C2AD9EF0DC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669E99-4952-5C08-6ED1-9E1C81617B25}"/>
              </a:ext>
            </a:extLst>
          </p:cNvPr>
          <p:cNvSpPr txBox="1"/>
          <p:nvPr/>
        </p:nvSpPr>
        <p:spPr>
          <a:xfrm>
            <a:off x="578520" y="1084262"/>
            <a:ext cx="8159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800" b="1" dirty="0"/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E4F31-5A08-3797-1DE0-5CDA5DCAB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386" y="1066800"/>
            <a:ext cx="9144000" cy="1995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7ABC11-CF45-1D33-7E96-AEA389CB24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3121178"/>
            <a:ext cx="9144000" cy="2021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200" y="54864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Finally Maxmium_sum = 40</a:t>
            </a:r>
          </a:p>
        </p:txBody>
      </p:sp>
    </p:spTree>
    <p:extLst>
      <p:ext uri="{BB962C8B-B14F-4D97-AF65-F5344CB8AC3E}">
        <p14:creationId xmlns:p14="http://schemas.microsoft.com/office/powerpoint/2010/main" val="1505987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5CBB-AB87-242C-EB9D-973C2EC9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3307-9ADE-24C5-60FB-C57A9895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Sliding Windows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3378-8419-EA73-1DC4-46608BFA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05A83-9171-52B9-6947-84E02EB7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1E376-0C55-A054-60AD-6399DAF6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94922D-D6FE-6036-D2A6-3C2AD9EF0DC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669E99-4952-5C08-6ED1-9E1C81617B25}"/>
              </a:ext>
            </a:extLst>
          </p:cNvPr>
          <p:cNvSpPr txBox="1"/>
          <p:nvPr/>
        </p:nvSpPr>
        <p:spPr>
          <a:xfrm>
            <a:off x="578520" y="1084262"/>
            <a:ext cx="8159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800" b="1" dirty="0"/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16" y="1297442"/>
            <a:ext cx="5213269" cy="44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52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5CBB-AB87-242C-EB9D-973C2EC9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3307-9ADE-24C5-60FB-C57A9895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</a:rPr>
              <a:t>Sliding Windows</a:t>
            </a:r>
            <a:endParaRPr lang="en-US" sz="3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3378-8419-EA73-1DC4-46608BFA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05A83-9171-52B9-6947-84E02EB7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1E376-0C55-A054-60AD-6399DAF6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94922D-D6FE-6036-D2A6-3C2AD9EF0DC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669E99-4952-5C08-6ED1-9E1C81617B25}"/>
              </a:ext>
            </a:extLst>
          </p:cNvPr>
          <p:cNvSpPr txBox="1"/>
          <p:nvPr/>
        </p:nvSpPr>
        <p:spPr>
          <a:xfrm>
            <a:off x="578520" y="1084262"/>
            <a:ext cx="8159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>
                <a:solidFill>
                  <a:srgbClr val="00B050"/>
                </a:solidFill>
              </a:rPr>
              <a:t>Sliding Windows Maximum: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871" y="2618879"/>
            <a:ext cx="3229426" cy="35533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8" y="1983948"/>
            <a:ext cx="5446076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4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BEC8-7B7B-F756-8C08-B36BBE89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BBDE-2D88-E81E-ECF4-38738DE0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545806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General streaming problem filtering streams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C95A2-9F25-F941-B215-1620C5B0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D5620-BCD8-1970-3D82-782C2372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1C9BF-4423-FA8E-5F3B-05DFB311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8C01BA-F989-1107-8DE8-6209F9CF3D7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451DD6-4CB5-9AF6-0A8F-D944C979F0E2}"/>
              </a:ext>
            </a:extLst>
          </p:cNvPr>
          <p:cNvSpPr txBox="1"/>
          <p:nvPr/>
        </p:nvSpPr>
        <p:spPr>
          <a:xfrm>
            <a:off x="631639" y="1592676"/>
            <a:ext cx="76765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Filtering in data streams </a:t>
            </a:r>
            <a:r>
              <a:rPr lang="en-US" sz="2800" dirty="0"/>
              <a:t>means </a:t>
            </a:r>
            <a:r>
              <a:rPr lang="en-US" sz="2800" dirty="0">
                <a:solidFill>
                  <a:srgbClr val="FF0000"/>
                </a:solidFill>
              </a:rPr>
              <a:t>selecting only those elements from a continuous stream </a:t>
            </a:r>
            <a:r>
              <a:rPr lang="en-US" sz="2800" dirty="0"/>
              <a:t>that </a:t>
            </a:r>
            <a:r>
              <a:rPr lang="en-US" sz="2800" dirty="0">
                <a:solidFill>
                  <a:srgbClr val="FF0000"/>
                </a:solidFill>
              </a:rPr>
              <a:t>satisfy a given condition </a:t>
            </a:r>
            <a:r>
              <a:rPr lang="en-US" sz="2800" dirty="0"/>
              <a:t>(predicate), </a:t>
            </a:r>
            <a:r>
              <a:rPr lang="en-US" sz="2800" dirty="0">
                <a:solidFill>
                  <a:srgbClr val="FF0000"/>
                </a:solidFill>
              </a:rPr>
              <a:t>while ignoring the rest.</a:t>
            </a:r>
          </a:p>
          <a:p>
            <a:pPr lvl="1"/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How It Works: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Input stream → apply filter condition → output stream (only matching items).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Since data arrives continuously, the filter is applied </a:t>
            </a:r>
            <a:r>
              <a:rPr lang="en-US" sz="2800" b="1" dirty="0"/>
              <a:t>in real time</a:t>
            </a:r>
            <a:r>
              <a:rPr lang="en-US" sz="2800" dirty="0"/>
              <a:t> without storing the full stream</a:t>
            </a:r>
            <a:r>
              <a:rPr lang="en-US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0975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E93D-89AA-45B1-2D2C-DE6E87C0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1E53-7CAE-4A87-7E82-A7F343CB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571045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General streaming problem filtering streams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FE122-5AE7-7E94-4AF7-DDDAF79B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A9695-B2E1-C0E1-C803-68612E91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3491F-6A2F-0A08-51D4-DBE28189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ECDA8-1355-22AC-D5CD-1A6A8FB0103C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F7C364C-C689-B404-8FD4-B89A7A8D0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57187"/>
            <a:ext cx="6294073" cy="348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31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FB44-4FC6-49A0-6C3B-5F51EB2C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4AEC-BB37-70B9-883F-78FA523C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571045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General streaming problem filtering streams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AA39-49E8-CBC3-3565-5252B2ED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38E53-A416-C242-7243-5511B8B3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53670-08DB-55BA-83D0-51534D42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5DE960-C40F-8116-1281-ACFD73FD164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8F597F-9BD9-1823-15BF-09CA9F873118}"/>
              </a:ext>
            </a:extLst>
          </p:cNvPr>
          <p:cNvSpPr txBox="1"/>
          <p:nvPr/>
        </p:nvSpPr>
        <p:spPr>
          <a:xfrm>
            <a:off x="685800" y="1301752"/>
            <a:ext cx="7772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Applications: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Fraud detection → filter transactions above a threshold.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IoT monitoring → filter sensor values outside safe range.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Network security → filter suspicious packets.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Social media analytics → filter posts with certain keywords.</a:t>
            </a:r>
          </a:p>
        </p:txBody>
      </p:sp>
    </p:spTree>
    <p:extLst>
      <p:ext uri="{BB962C8B-B14F-4D97-AF65-F5344CB8AC3E}">
        <p14:creationId xmlns:p14="http://schemas.microsoft.com/office/powerpoint/2010/main" val="2668269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990600"/>
            <a:ext cx="7848600" cy="50292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9/12/2025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C:\Users\AGS-08-12-2023\Desktop\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9144000" cy="6096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1613</TotalTime>
  <Words>1657</Words>
  <Application>Microsoft Office PowerPoint</Application>
  <PresentationFormat>On-screen Show (4:3)</PresentationFormat>
  <Paragraphs>241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Franklin Gothic Book</vt:lpstr>
      <vt:lpstr>Nunito</vt:lpstr>
      <vt:lpstr>Perpetua</vt:lpstr>
      <vt:lpstr>Wingdings 2</vt:lpstr>
      <vt:lpstr>Equity</vt:lpstr>
      <vt:lpstr>21CS703   DATA ANALYTICS (Lab Integrated)</vt:lpstr>
      <vt:lpstr>          UNIT 4 –Mining data streams </vt:lpstr>
      <vt:lpstr>          UNIT 4 –Data stream  </vt:lpstr>
      <vt:lpstr>          UNIT 4 –Data stream Model  </vt:lpstr>
      <vt:lpstr>          UNIT 4 - Data stream Model </vt:lpstr>
      <vt:lpstr>          UNIT 4 –Data stream Model  </vt:lpstr>
      <vt:lpstr>          Stream Sources </vt:lpstr>
      <vt:lpstr>          What are the tools for data streaming? </vt:lpstr>
      <vt:lpstr>          Stream queries </vt:lpstr>
      <vt:lpstr>          Stream queries </vt:lpstr>
      <vt:lpstr>          Stream queries </vt:lpstr>
      <vt:lpstr>          Sampling in data streams  </vt:lpstr>
      <vt:lpstr>          Sampling in data streams  </vt:lpstr>
      <vt:lpstr>          Sampling in data streams  </vt:lpstr>
      <vt:lpstr>          Sampling in data streams  </vt:lpstr>
      <vt:lpstr>          Sampling in data streams  </vt:lpstr>
      <vt:lpstr>          Sampling in data streams  </vt:lpstr>
      <vt:lpstr>          Sampling in data streams  </vt:lpstr>
      <vt:lpstr>          Sliding Windows  </vt:lpstr>
      <vt:lpstr>          Sliding Windows</vt:lpstr>
      <vt:lpstr>          Sliding Windows</vt:lpstr>
      <vt:lpstr>          Sliding Windows</vt:lpstr>
      <vt:lpstr>          Sliding Windows</vt:lpstr>
      <vt:lpstr>          General streaming problem filtering streams </vt:lpstr>
      <vt:lpstr>          General streaming problem filtering streams</vt:lpstr>
      <vt:lpstr>          General streaming problem filtering streams</vt:lpstr>
      <vt:lpstr>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22CS402   WEB DEVELOPMENT FRAMEWORKS</dc:title>
  <dc:creator>AGS</dc:creator>
  <cp:lastModifiedBy>Administrator</cp:lastModifiedBy>
  <cp:revision>224</cp:revision>
  <dcterms:created xsi:type="dcterms:W3CDTF">2023-11-27T03:01:53Z</dcterms:created>
  <dcterms:modified xsi:type="dcterms:W3CDTF">2025-09-12T09:03:54Z</dcterms:modified>
</cp:coreProperties>
</file>